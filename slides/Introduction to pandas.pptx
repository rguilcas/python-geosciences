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312" r:id="rId10"/>
    <p:sldId id="313" r:id="rId11"/>
    <p:sldId id="271" r:id="rId12"/>
    <p:sldId id="266" r:id="rId13"/>
    <p:sldId id="267" r:id="rId14"/>
    <p:sldId id="272" r:id="rId15"/>
    <p:sldId id="273" r:id="rId16"/>
    <p:sldId id="274" r:id="rId17"/>
    <p:sldId id="275" r:id="rId18"/>
    <p:sldId id="260" r:id="rId19"/>
    <p:sldId id="269" r:id="rId20"/>
    <p:sldId id="270" r:id="rId21"/>
    <p:sldId id="276" r:id="rId22"/>
    <p:sldId id="277" r:id="rId23"/>
    <p:sldId id="278" r:id="rId24"/>
    <p:sldId id="314" r:id="rId25"/>
    <p:sldId id="281" r:id="rId26"/>
    <p:sldId id="315" r:id="rId27"/>
    <p:sldId id="279" r:id="rId28"/>
    <p:sldId id="280" r:id="rId29"/>
    <p:sldId id="282" r:id="rId30"/>
    <p:sldId id="283" r:id="rId31"/>
    <p:sldId id="284" r:id="rId32"/>
    <p:sldId id="285" r:id="rId33"/>
    <p:sldId id="286" r:id="rId34"/>
    <p:sldId id="290" r:id="rId35"/>
    <p:sldId id="287" r:id="rId36"/>
    <p:sldId id="289" r:id="rId37"/>
    <p:sldId id="288" r:id="rId38"/>
    <p:sldId id="291" r:id="rId39"/>
    <p:sldId id="292" r:id="rId40"/>
    <p:sldId id="294" r:id="rId41"/>
    <p:sldId id="293" r:id="rId42"/>
    <p:sldId id="295" r:id="rId43"/>
    <p:sldId id="296" r:id="rId44"/>
    <p:sldId id="297" r:id="rId45"/>
    <p:sldId id="300" r:id="rId46"/>
    <p:sldId id="298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887A567A-4BF8-4143-9AE0-8B6E992D438A}">
          <p14:sldIdLst>
            <p14:sldId id="256"/>
            <p14:sldId id="257"/>
          </p14:sldIdLst>
        </p14:section>
        <p14:section name="Part I: Objects" id="{3042426F-1172-478B-8A55-8F8BFCD033EA}">
          <p14:sldIdLst>
            <p14:sldId id="258"/>
            <p14:sldId id="259"/>
            <p14:sldId id="261"/>
            <p14:sldId id="262"/>
            <p14:sldId id="263"/>
            <p14:sldId id="264"/>
            <p14:sldId id="312"/>
            <p14:sldId id="313"/>
            <p14:sldId id="271"/>
            <p14:sldId id="266"/>
            <p14:sldId id="267"/>
            <p14:sldId id="272"/>
            <p14:sldId id="273"/>
            <p14:sldId id="274"/>
            <p14:sldId id="275"/>
            <p14:sldId id="260"/>
            <p14:sldId id="269"/>
          </p14:sldIdLst>
        </p14:section>
        <p14:section name="Part II:" id="{18E4BAA3-8B48-44B2-A16B-804F32B3336E}">
          <p14:sldIdLst>
            <p14:sldId id="270"/>
            <p14:sldId id="276"/>
            <p14:sldId id="277"/>
            <p14:sldId id="278"/>
            <p14:sldId id="314"/>
            <p14:sldId id="281"/>
            <p14:sldId id="315"/>
            <p14:sldId id="279"/>
            <p14:sldId id="280"/>
            <p14:sldId id="282"/>
            <p14:sldId id="283"/>
            <p14:sldId id="284"/>
            <p14:sldId id="285"/>
            <p14:sldId id="286"/>
            <p14:sldId id="290"/>
            <p14:sldId id="287"/>
          </p14:sldIdLst>
        </p14:section>
        <p14:section name="Part III" id="{9D794A13-3C98-497A-A1DE-C8B29020C20A}">
          <p14:sldIdLst>
            <p14:sldId id="289"/>
            <p14:sldId id="288"/>
            <p14:sldId id="291"/>
            <p14:sldId id="292"/>
            <p14:sldId id="294"/>
            <p14:sldId id="293"/>
            <p14:sldId id="295"/>
            <p14:sldId id="296"/>
            <p14:sldId id="297"/>
          </p14:sldIdLst>
        </p14:section>
        <p14:section name="Timeseries" id="{4F4D199A-4FA8-4B0A-A42B-2E5EB106DB32}">
          <p14:sldIdLst>
            <p14:sldId id="300"/>
            <p14:sldId id="298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1283AD-A1E9-174B-9AAF-B793BAB85431}" v="14" dt="2025-11-20T08:35:30.3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8" autoAdjust="0"/>
    <p:restoredTop sz="96301" autoAdjust="0"/>
  </p:normalViewPr>
  <p:slideViewPr>
    <p:cSldViewPr snapToGrid="0">
      <p:cViewPr varScale="1">
        <p:scale>
          <a:sx n="118" d="100"/>
          <a:sy n="118" d="100"/>
        </p:scale>
        <p:origin x="224" y="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Guillaume-Castel" userId="d00fb1e9-a1ad-4e14-9c90-8ac9508e8689" providerId="ADAL" clId="{9694768D-AE80-5C96-BE9F-2F4CFE4E5900}"/>
    <pc:docChg chg="modMainMaster">
      <pc:chgData name="Robin Guillaume-Castel" userId="d00fb1e9-a1ad-4e14-9c90-8ac9508e8689" providerId="ADAL" clId="{9694768D-AE80-5C96-BE9F-2F4CFE4E5900}" dt="2025-11-20T08:35:30.380" v="13"/>
      <pc:docMkLst>
        <pc:docMk/>
      </pc:docMkLst>
      <pc:sldMasterChg chg="addSp delSp modSp">
        <pc:chgData name="Robin Guillaume-Castel" userId="d00fb1e9-a1ad-4e14-9c90-8ac9508e8689" providerId="ADAL" clId="{9694768D-AE80-5C96-BE9F-2F4CFE4E5900}" dt="2025-11-20T08:35:30.380" v="13"/>
        <pc:sldMasterMkLst>
          <pc:docMk/>
          <pc:sldMasterMk cId="1765427073" sldId="2147483648"/>
        </pc:sldMasterMkLst>
        <pc:picChg chg="add del mod">
          <ac:chgData name="Robin Guillaume-Castel" userId="d00fb1e9-a1ad-4e14-9c90-8ac9508e8689" providerId="ADAL" clId="{9694768D-AE80-5C96-BE9F-2F4CFE4E5900}" dt="2025-11-20T08:35:30.017" v="12" actId="478"/>
          <ac:picMkLst>
            <pc:docMk/>
            <pc:sldMasterMk cId="1765427073" sldId="2147483648"/>
            <ac:picMk id="10" creationId="{B7625A09-E229-5D23-E473-FE496F982204}"/>
          </ac:picMkLst>
        </pc:picChg>
        <pc:picChg chg="add mod">
          <ac:chgData name="Robin Guillaume-Castel" userId="d00fb1e9-a1ad-4e14-9c90-8ac9508e8689" providerId="ADAL" clId="{9694768D-AE80-5C96-BE9F-2F4CFE4E5900}" dt="2025-11-20T08:35:30.380" v="13"/>
          <ac:picMkLst>
            <pc:docMk/>
            <pc:sldMasterMk cId="1765427073" sldId="2147483648"/>
            <ac:picMk id="11" creationId="{ADACCBBA-8B45-E175-6D15-8E88285B5990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DC86C1-B24B-41D3-BB9D-3E904495D85B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92BAA7-6BA6-41AC-8BA9-85AA7795B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1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CF6682-B7A5-484B-BA4F-A3B821A58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3885" y="1122363"/>
            <a:ext cx="7608815" cy="2387600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accent5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22A88F-EBD5-4450-A303-A74445F46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3885" y="3602038"/>
            <a:ext cx="7608815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786370-5239-4653-9781-F3347789D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DA206D-7CED-497F-B66A-5128724B7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1BA628-4203-440E-944F-4483FC915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6B84FC-0BAF-4844-8636-C8CE0488CC05}"/>
              </a:ext>
            </a:extLst>
          </p:cNvPr>
          <p:cNvSpPr/>
          <p:nvPr userDrawn="1"/>
        </p:nvSpPr>
        <p:spPr>
          <a:xfrm>
            <a:off x="0" y="0"/>
            <a:ext cx="4038600" cy="6203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3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6AD083-91B4-4CC9-A334-F2CE314A1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222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EC88CD-D080-4CA6-9603-7BB3849DE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850"/>
            <a:ext cx="10515600" cy="484311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487B9D-197A-4B42-8CEF-708FF60FD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70DB6F-6611-4F7A-8BBB-E39CD0B5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E12619-A6D2-4C5C-8A4A-04C49434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93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B63C30-95A1-475F-8851-B2BDA0A2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solidFill>
                  <a:schemeClr val="accent5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A9E993-7B3F-4F3E-BB6D-7615198E3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FA7D45-A8BE-4F9C-AAD2-7814A034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B393E4-7A7B-404C-8AD2-648FB56BA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0B0C31-DCB8-4D08-9ACB-1D73A334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8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DF11C9-FC93-47F5-8548-3623C3E63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E51998-6528-45E5-A2C5-731E1E740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8C3A12B-51E6-41B6-B366-5F6E3A202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CDC879-1B84-4791-A7C2-BA9B2B0CA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C91D37-74D2-4E54-AF80-EF9D0BDF0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E242BC-623D-4978-B9D4-B4E5BE21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17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D0BF0-F364-49A3-991C-34CB12D35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2A9F6A-2C46-45FA-8DCD-BFE5A2CF9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1F31FFD-54CE-4FF4-990F-E55B99355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2C91CA3-CE2B-4A2E-8C9E-A021D9473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7EE74AC-95E1-4B1C-95C5-E1FBD0C0D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3CDFE34-6A37-4C77-B878-D06E9052F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7502617-735C-4416-BA43-5C0CA167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1AB7EEA-AEB5-4B48-B013-255FF8C76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01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462139-7195-4E88-B757-3B07947C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5E330A6-0507-4851-A841-56AFFF76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5C88B3-E392-4EB5-B31B-64946BE1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6D0493-DE4C-49CC-8C1F-2281202A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68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7F06192-BB26-4894-A26E-D82A5A1F0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3EA3B2B-92C2-4A75-A94A-E6EF0A068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F1785C-C313-4288-8C63-74F4C603A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4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CB81DB-40BB-437B-B982-473ECD95E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6799C2-7609-48AA-999E-0641626DE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4F20D2-F834-40D6-ADD5-396EAD97D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473E4B-6B21-49CE-8648-48B8C4B63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974C1C-E394-4E03-A171-7B93044A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68E121B-9358-4612-80B8-4DC372E60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5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B6FAB3-9F2B-4C66-B195-0E0DFA40A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4C07A02-AB38-4F6C-93E8-5A3F972C3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21A9B3-E7F3-4AFA-ADF2-C17D53D47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C98E8E-71B1-488B-875D-8253B5351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3FB54E-BCE4-4ACA-A514-0DBF8E44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948766-94C6-4F60-87BB-8C04519E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98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B7537-47D0-45CA-B4E8-2855C3C79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26030B-74AA-47A0-A3F4-73A30ABB0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BFB816-727A-42D9-A59F-D9D6028C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33E112-9BA1-4451-94A1-2F58634B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E54784-29CD-45D4-BD61-CF02C9FE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C90DAFD-66EA-46E4-BA67-774A0EFA1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E474AA-D733-42F9-AE29-F31B42F87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E3C5A2-EA21-4431-B71E-406C412B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A12F79-DCE2-4C69-BB69-4535B04B1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9C2E81-C536-43A8-8EFD-024E00D5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86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5B93A2-1C1B-4B85-9E76-1D846A343E2C}"/>
              </a:ext>
            </a:extLst>
          </p:cNvPr>
          <p:cNvSpPr/>
          <p:nvPr userDrawn="1"/>
        </p:nvSpPr>
        <p:spPr>
          <a:xfrm>
            <a:off x="0" y="6196806"/>
            <a:ext cx="12192000" cy="45719"/>
          </a:xfrm>
          <a:prstGeom prst="rect">
            <a:avLst/>
          </a:prstGeom>
          <a:gradFill flip="none" rotWithShape="1">
            <a:gsLst>
              <a:gs pos="0">
                <a:srgbClr val="366D9B">
                  <a:tint val="66000"/>
                  <a:satMod val="160000"/>
                </a:srgbClr>
              </a:gs>
              <a:gs pos="50000">
                <a:srgbClr val="366D9B">
                  <a:tint val="44500"/>
                  <a:satMod val="160000"/>
                </a:srgbClr>
              </a:gs>
              <a:gs pos="100000">
                <a:srgbClr val="366D9B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1ACA714D-FB2E-4664-A02C-B24C3ED6E50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3915" y="6281418"/>
            <a:ext cx="536452" cy="5296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48D7CB7-87F1-471A-B25A-C46A3C1094D8}"/>
              </a:ext>
            </a:extLst>
          </p:cNvPr>
          <p:cNvSpPr/>
          <p:nvPr userDrawn="1"/>
        </p:nvSpPr>
        <p:spPr>
          <a:xfrm>
            <a:off x="0" y="0"/>
            <a:ext cx="12192000" cy="6196806"/>
          </a:xfrm>
          <a:prstGeom prst="rect">
            <a:avLst/>
          </a:prstGeom>
          <a:solidFill>
            <a:srgbClr val="F1F8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3356DD7-74EA-4E39-AB1E-B36F1E80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1ACA0E-6B33-4203-BA7A-05452CA56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B4BF38-BCA5-43BC-9682-246AF3237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0FBCD1-240E-4547-A495-9E640CCFF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0DA093-E4A1-4F02-896A-838653565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ADACCBBA-8B45-E175-6D15-8E88285B59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4688" y="6408248"/>
            <a:ext cx="895254" cy="313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42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sv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C77E39-8BDD-478F-A454-6ADBFE30CB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Introduction to Pandas</a:t>
            </a: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76A38AD-0880-402D-9076-787FA6E8CD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i="1" dirty="0" err="1"/>
              <a:t>Tabular</a:t>
            </a:r>
            <a:r>
              <a:rPr lang="fr-FR" i="1" dirty="0"/>
              <a:t> data and more</a:t>
            </a:r>
            <a:endParaRPr lang="en-US" i="1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9F71B7-DF82-4515-ADA2-E2DC0943E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CD05F1-2428-4B63-8CC5-04E8FFC14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107ED4-97F7-44D9-8E53-F2B69E0E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7678FA3-AF93-4B0A-A6F0-D21A4B859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44" y="2734409"/>
            <a:ext cx="3436048" cy="138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90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49713B-FFA2-4DAF-9A30-F5530BCF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Programme: four blocks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C36FB-0807-42A7-BF94-BAB4211CE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88DFC0-1DA1-4570-A8BD-021480B30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49014E-76C9-4AC3-AEB5-CB616DEDA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</a:t>
            </a:fld>
            <a:endParaRPr lang="en-US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9807267-901B-43DB-BD4F-D82810133D1E}"/>
              </a:ext>
            </a:extLst>
          </p:cNvPr>
          <p:cNvSpPr/>
          <p:nvPr/>
        </p:nvSpPr>
        <p:spPr>
          <a:xfrm>
            <a:off x="662355" y="2351457"/>
            <a:ext cx="2584938" cy="1380392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Introduction to </a:t>
            </a:r>
            <a:r>
              <a:rPr lang="fr-FR" dirty="0" err="1"/>
              <a:t>Series</a:t>
            </a:r>
            <a:r>
              <a:rPr lang="fr-FR" dirty="0"/>
              <a:t> and </a:t>
            </a:r>
            <a:r>
              <a:rPr lang="fr-FR" dirty="0" err="1"/>
              <a:t>DataFrames</a:t>
            </a:r>
            <a:endParaRPr lang="en-US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E709675-C109-434F-9715-C9DB16E81339}"/>
              </a:ext>
            </a:extLst>
          </p:cNvPr>
          <p:cNvSpPr/>
          <p:nvPr/>
        </p:nvSpPr>
        <p:spPr>
          <a:xfrm>
            <a:off x="3364524" y="2351457"/>
            <a:ext cx="2584938" cy="13803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First </a:t>
            </a:r>
            <a:r>
              <a:rPr lang="fr-FR" dirty="0" err="1"/>
              <a:t>operations</a:t>
            </a:r>
            <a:r>
              <a:rPr lang="fr-FR" dirty="0"/>
              <a:t>, </a:t>
            </a:r>
            <a:r>
              <a:rPr lang="fr-FR" dirty="0" err="1"/>
              <a:t>reading</a:t>
            </a:r>
            <a:r>
              <a:rPr lang="fr-FR" dirty="0"/>
              <a:t>/</a:t>
            </a:r>
            <a:r>
              <a:rPr lang="fr-FR" dirty="0" err="1"/>
              <a:t>writing</a:t>
            </a:r>
            <a:endParaRPr lang="en-US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6F649FA-F1F0-4DEE-853C-B6AF53E465D0}"/>
              </a:ext>
            </a:extLst>
          </p:cNvPr>
          <p:cNvSpPr/>
          <p:nvPr/>
        </p:nvSpPr>
        <p:spPr>
          <a:xfrm>
            <a:off x="6066693" y="2351457"/>
            <a:ext cx="2584938" cy="138039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Plotting</a:t>
            </a:r>
            <a:r>
              <a:rPr lang="fr-FR" dirty="0"/>
              <a:t> </a:t>
            </a:r>
            <a:r>
              <a:rPr lang="fr-FR" dirty="0" err="1"/>
              <a:t>capacities</a:t>
            </a:r>
            <a:endParaRPr lang="en-US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8C42E70-C3A8-44AE-AB3F-9EA520670D71}"/>
              </a:ext>
            </a:extLst>
          </p:cNvPr>
          <p:cNvSpPr/>
          <p:nvPr/>
        </p:nvSpPr>
        <p:spPr>
          <a:xfrm>
            <a:off x="8768862" y="2351457"/>
            <a:ext cx="2584938" cy="138039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Timeseries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analysis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B253F1C-8942-436B-BB15-87952D4F5BF7}"/>
              </a:ext>
            </a:extLst>
          </p:cNvPr>
          <p:cNvGrpSpPr/>
          <p:nvPr/>
        </p:nvGrpSpPr>
        <p:grpSpPr>
          <a:xfrm>
            <a:off x="3581400" y="4766494"/>
            <a:ext cx="1127464" cy="1114387"/>
            <a:chOff x="7776839" y="2778711"/>
            <a:chExt cx="1127464" cy="1114387"/>
          </a:xfrm>
          <a:solidFill>
            <a:schemeClr val="bg1"/>
          </a:solidFill>
        </p:grpSpPr>
        <p:sp>
          <p:nvSpPr>
            <p:cNvPr id="12" name="Triangle isocèle 11">
              <a:extLst>
                <a:ext uri="{FF2B5EF4-FFF2-40B4-BE49-F238E27FC236}">
                  <a16:creationId xmlns:a16="http://schemas.microsoft.com/office/drawing/2014/main" id="{C6E6446A-0ED3-47B7-8AD3-77D2FE78FA06}"/>
                </a:ext>
              </a:extLst>
            </p:cNvPr>
            <p:cNvSpPr/>
            <p:nvPr/>
          </p:nvSpPr>
          <p:spPr>
            <a:xfrm>
              <a:off x="7776839" y="2778711"/>
              <a:ext cx="1127464" cy="958788"/>
            </a:xfrm>
            <a:prstGeom prst="triangle">
              <a:avLst/>
            </a:prstGeom>
            <a:grp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Espace réservé du contenu 2">
              <a:extLst>
                <a:ext uri="{FF2B5EF4-FFF2-40B4-BE49-F238E27FC236}">
                  <a16:creationId xmlns:a16="http://schemas.microsoft.com/office/drawing/2014/main" id="{3017C377-1E4E-4DE4-BB69-EF2D623A102F}"/>
                </a:ext>
              </a:extLst>
            </p:cNvPr>
            <p:cNvSpPr txBox="1">
              <a:spLocks/>
            </p:cNvSpPr>
            <p:nvPr/>
          </p:nvSpPr>
          <p:spPr>
            <a:xfrm>
              <a:off x="8141241" y="2778711"/>
              <a:ext cx="427238" cy="1114387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fr-FR" sz="6600" dirty="0"/>
                <a:t>!</a:t>
              </a:r>
              <a:endParaRPr lang="fr-FR" sz="8000" dirty="0"/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D5252905-22CF-4FD8-AB7D-EC86FFB15E1E}"/>
              </a:ext>
            </a:extLst>
          </p:cNvPr>
          <p:cNvGrpSpPr/>
          <p:nvPr/>
        </p:nvGrpSpPr>
        <p:grpSpPr>
          <a:xfrm>
            <a:off x="4814740" y="4981722"/>
            <a:ext cx="3305722" cy="579120"/>
            <a:chOff x="8412480" y="2773680"/>
            <a:chExt cx="3305722" cy="579120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E3DEBF-668E-48FB-8B56-5A62485A7ECC}"/>
                </a:ext>
              </a:extLst>
            </p:cNvPr>
            <p:cNvSpPr/>
            <p:nvPr/>
          </p:nvSpPr>
          <p:spPr>
            <a:xfrm>
              <a:off x="8412480" y="2773680"/>
              <a:ext cx="3305722" cy="579120"/>
            </a:xfrm>
            <a:prstGeom prst="roundRect">
              <a:avLst/>
            </a:prstGeom>
            <a:solidFill>
              <a:srgbClr val="F7F7F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5C19D533-1F57-4534-9CBE-7A2DB8444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72501" y="2894786"/>
              <a:ext cx="3040729" cy="3708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979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AD71FCF-E0B8-41C5-9385-E74F0413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I: pandas </a:t>
            </a:r>
            <a:r>
              <a:rPr lang="fr-FR" dirty="0" err="1"/>
              <a:t>objects</a:t>
            </a:r>
            <a:endParaRPr lang="en-US" dirty="0"/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8E1E3114-CD12-46E8-822F-E9443D58F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Series</a:t>
            </a:r>
            <a:r>
              <a:rPr lang="fr-FR" dirty="0"/>
              <a:t> and </a:t>
            </a:r>
            <a:r>
              <a:rPr lang="fr-FR" dirty="0" err="1"/>
              <a:t>Dataframes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E22A4E-DF78-4BCD-8A71-7426C570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6503AF-CEBF-4D80-82C0-EA3A5848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8C7CE6-EEAA-4B97-80E2-EB5644FC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1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pd.Series</a:t>
            </a:r>
            <a:r>
              <a:rPr lang="fr-FR" dirty="0"/>
              <a:t>: </a:t>
            </a:r>
            <a:r>
              <a:rPr lang="fr-FR" sz="2400" dirty="0"/>
              <a:t>introduction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73AFCE-54C1-42B9-A690-74ED29251BD8}"/>
              </a:ext>
            </a:extLst>
          </p:cNvPr>
          <p:cNvSpPr/>
          <p:nvPr/>
        </p:nvSpPr>
        <p:spPr>
          <a:xfrm>
            <a:off x="4726152" y="3560122"/>
            <a:ext cx="2011680" cy="33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120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36527C-5148-4DB6-BBD9-770C2376F802}"/>
              </a:ext>
            </a:extLst>
          </p:cNvPr>
          <p:cNvSpPr/>
          <p:nvPr/>
        </p:nvSpPr>
        <p:spPr>
          <a:xfrm>
            <a:off x="4726152" y="3999583"/>
            <a:ext cx="2011680" cy="33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54F302-5FA0-4531-9BD2-9DB959ACE59C}"/>
              </a:ext>
            </a:extLst>
          </p:cNvPr>
          <p:cNvSpPr/>
          <p:nvPr/>
        </p:nvSpPr>
        <p:spPr>
          <a:xfrm>
            <a:off x="4726152" y="3100382"/>
            <a:ext cx="2011680" cy="33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68DD70-0428-4BE3-83E8-CF47CB51069F}"/>
              </a:ext>
            </a:extLst>
          </p:cNvPr>
          <p:cNvSpPr/>
          <p:nvPr/>
        </p:nvSpPr>
        <p:spPr>
          <a:xfrm>
            <a:off x="1911976" y="3096114"/>
            <a:ext cx="1615440" cy="3337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Elf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A1976F-66D5-46D7-B50A-6625C5A4E31C}"/>
              </a:ext>
            </a:extLst>
          </p:cNvPr>
          <p:cNvSpPr/>
          <p:nvPr/>
        </p:nvSpPr>
        <p:spPr>
          <a:xfrm>
            <a:off x="1911976" y="3555853"/>
            <a:ext cx="1615440" cy="3337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Dwarf</a:t>
            </a:r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8933F3-9233-4BB5-BB56-C8BC1506A986}"/>
              </a:ext>
            </a:extLst>
          </p:cNvPr>
          <p:cNvSpPr/>
          <p:nvPr/>
        </p:nvSpPr>
        <p:spPr>
          <a:xfrm>
            <a:off x="1911976" y="3995314"/>
            <a:ext cx="1615440" cy="3337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Hobbit</a:t>
            </a:r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C78AD97F-3C13-4548-94B7-50EE0B1B60C6}"/>
              </a:ext>
            </a:extLst>
          </p:cNvPr>
          <p:cNvSpPr txBox="1">
            <a:spLocks/>
          </p:cNvSpPr>
          <p:nvPr/>
        </p:nvSpPr>
        <p:spPr>
          <a:xfrm>
            <a:off x="1552978" y="2657466"/>
            <a:ext cx="2320290" cy="39576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200" b="1" dirty="0">
                <a:solidFill>
                  <a:schemeClr val="accent2"/>
                </a:solidFill>
              </a:rPr>
              <a:t>Indices of the values</a:t>
            </a:r>
          </a:p>
          <a:p>
            <a:pPr marL="914400" lvl="2" indent="0"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B06A0647-35DC-4696-92F8-C9727B6D447B}"/>
              </a:ext>
            </a:extLst>
          </p:cNvPr>
          <p:cNvSpPr txBox="1">
            <a:spLocks/>
          </p:cNvSpPr>
          <p:nvPr/>
        </p:nvSpPr>
        <p:spPr>
          <a:xfrm>
            <a:off x="4179277" y="2660534"/>
            <a:ext cx="3488458" cy="39576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200" b="1" dirty="0">
                <a:solidFill>
                  <a:schemeClr val="accent1"/>
                </a:solidFill>
              </a:rPr>
              <a:t>List of values for a </a:t>
            </a:r>
            <a:r>
              <a:rPr lang="fr-FR" sz="2200" b="1" dirty="0" err="1">
                <a:solidFill>
                  <a:schemeClr val="accent1"/>
                </a:solidFill>
              </a:rPr>
              <a:t>given</a:t>
            </a:r>
            <a:r>
              <a:rPr lang="fr-FR" sz="2200" b="1" dirty="0">
                <a:solidFill>
                  <a:schemeClr val="accent1"/>
                </a:solidFill>
              </a:rPr>
              <a:t> variable</a:t>
            </a:r>
          </a:p>
          <a:p>
            <a:pPr marL="914400" lvl="2" indent="0"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B935B0FF-BB05-4593-A1FC-902542141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056" y="1470230"/>
            <a:ext cx="10515600" cy="525143"/>
          </a:xfrm>
        </p:spPr>
        <p:txBody>
          <a:bodyPr/>
          <a:lstStyle/>
          <a:p>
            <a:r>
              <a:rPr lang="fr-FR" dirty="0"/>
              <a:t>List of values </a:t>
            </a:r>
            <a:r>
              <a:rPr lang="fr-FR" dirty="0" err="1"/>
              <a:t>with</a:t>
            </a:r>
            <a:r>
              <a:rPr lang="fr-FR" dirty="0"/>
              <a:t> indices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857FFEF-9B4E-4198-AABC-244DB2537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077" y="2996523"/>
            <a:ext cx="2333951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11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pd.Series</a:t>
            </a:r>
            <a:r>
              <a:rPr lang="fr-FR" dirty="0"/>
              <a:t>: </a:t>
            </a:r>
            <a:r>
              <a:rPr lang="fr-FR" sz="2400" dirty="0"/>
              <a:t>index and data types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</a:t>
            </a:fld>
            <a:endParaRPr lang="en-US"/>
          </a:p>
        </p:txBody>
      </p:sp>
      <p:sp>
        <p:nvSpPr>
          <p:cNvPr id="28" name="Espace réservé du contenu 2">
            <a:extLst>
              <a:ext uri="{FF2B5EF4-FFF2-40B4-BE49-F238E27FC236}">
                <a16:creationId xmlns:a16="http://schemas.microsoft.com/office/drawing/2014/main" id="{11766311-4348-427B-BC8A-265D4B835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056" y="1116817"/>
            <a:ext cx="10515600" cy="525143"/>
          </a:xfrm>
        </p:spPr>
        <p:txBody>
          <a:bodyPr>
            <a:normAutofit/>
          </a:bodyPr>
          <a:lstStyle/>
          <a:p>
            <a:r>
              <a:rPr lang="fr-FR" dirty="0"/>
              <a:t>Variables can have a </a:t>
            </a:r>
            <a:r>
              <a:rPr lang="fr-FR" b="1" dirty="0">
                <a:solidFill>
                  <a:srgbClr val="FF0000"/>
                </a:solidFill>
              </a:rPr>
              <a:t>type</a:t>
            </a:r>
            <a:r>
              <a:rPr lang="fr-FR" dirty="0"/>
              <a:t> or not</a:t>
            </a:r>
          </a:p>
        </p:txBody>
      </p:sp>
      <p:sp>
        <p:nvSpPr>
          <p:cNvPr id="29" name="Espace réservé du contenu 2">
            <a:extLst>
              <a:ext uri="{FF2B5EF4-FFF2-40B4-BE49-F238E27FC236}">
                <a16:creationId xmlns:a16="http://schemas.microsoft.com/office/drawing/2014/main" id="{ED71DC03-0B46-4CA1-9A05-89A6328D10D7}"/>
              </a:ext>
            </a:extLst>
          </p:cNvPr>
          <p:cNvSpPr txBox="1">
            <a:spLocks/>
          </p:cNvSpPr>
          <p:nvPr/>
        </p:nvSpPr>
        <p:spPr>
          <a:xfrm>
            <a:off x="776056" y="3712007"/>
            <a:ext cx="10515600" cy="525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Indices can </a:t>
            </a:r>
            <a:r>
              <a:rPr lang="fr-FR" dirty="0" err="1"/>
              <a:t>also</a:t>
            </a:r>
            <a:r>
              <a:rPr lang="fr-FR" dirty="0"/>
              <a:t> have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b="1" dirty="0">
                <a:solidFill>
                  <a:srgbClr val="FF0000"/>
                </a:solidFill>
              </a:rPr>
              <a:t>types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E3AA55F-B5C8-4C14-83E4-C0CD1671E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83" y="1716351"/>
            <a:ext cx="1523390" cy="158994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B262DDA-7660-4E8C-BC74-F96034CA4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35" y="1690469"/>
            <a:ext cx="2307270" cy="164171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5701248-7952-466F-94B7-96DAD02E7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667" y="1723746"/>
            <a:ext cx="2262901" cy="157515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56ACF56-698E-4E7D-A059-30D5783A5E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6530" y="1697864"/>
            <a:ext cx="2307270" cy="162692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2E1CC2F-DD73-4D83-85FA-6A5D7A800A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2887" y="4315921"/>
            <a:ext cx="1707727" cy="166801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2C12C02-1ABB-41F4-AD81-1749497E44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6389" y="4319100"/>
            <a:ext cx="1540926" cy="166007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B6DC3BD1-1B73-4268-B0A5-41305DB671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839" y="4296842"/>
            <a:ext cx="3121566" cy="171567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16FA158F-1629-44EE-9B80-82273B14B2DB}"/>
              </a:ext>
            </a:extLst>
          </p:cNvPr>
          <p:cNvSpPr/>
          <p:nvPr/>
        </p:nvSpPr>
        <p:spPr>
          <a:xfrm>
            <a:off x="942514" y="2986177"/>
            <a:ext cx="1631959" cy="34600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D39B183-57A0-4DBA-A44A-638658144F2B}"/>
              </a:ext>
            </a:extLst>
          </p:cNvPr>
          <p:cNvSpPr/>
          <p:nvPr/>
        </p:nvSpPr>
        <p:spPr>
          <a:xfrm>
            <a:off x="3056022" y="2936231"/>
            <a:ext cx="1780572" cy="34600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5A13DDC1-2701-4A35-9B7A-A35389823B64}"/>
              </a:ext>
            </a:extLst>
          </p:cNvPr>
          <p:cNvSpPr/>
          <p:nvPr/>
        </p:nvSpPr>
        <p:spPr>
          <a:xfrm>
            <a:off x="6105298" y="3013674"/>
            <a:ext cx="1631959" cy="34600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5123750F-7FB8-426D-A376-7C4AC7C37FE0}"/>
              </a:ext>
            </a:extLst>
          </p:cNvPr>
          <p:cNvSpPr/>
          <p:nvPr/>
        </p:nvSpPr>
        <p:spPr>
          <a:xfrm>
            <a:off x="8905861" y="2982745"/>
            <a:ext cx="1754118" cy="34600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74D9496-E94C-4808-92FA-69E2F7C67DE6}"/>
              </a:ext>
            </a:extLst>
          </p:cNvPr>
          <p:cNvSpPr/>
          <p:nvPr/>
        </p:nvSpPr>
        <p:spPr>
          <a:xfrm>
            <a:off x="2240042" y="5658017"/>
            <a:ext cx="1780572" cy="34600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20D622D-2B9B-4D79-8567-BA68F17674FC}"/>
              </a:ext>
            </a:extLst>
          </p:cNvPr>
          <p:cNvSpPr/>
          <p:nvPr/>
        </p:nvSpPr>
        <p:spPr>
          <a:xfrm>
            <a:off x="4739940" y="5708657"/>
            <a:ext cx="1780572" cy="34600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251515C3-C0AB-4FFE-8D0E-BF9F787E8CBF}"/>
              </a:ext>
            </a:extLst>
          </p:cNvPr>
          <p:cNvSpPr/>
          <p:nvPr/>
        </p:nvSpPr>
        <p:spPr>
          <a:xfrm>
            <a:off x="7046179" y="5631383"/>
            <a:ext cx="3613800" cy="44082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40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EEEDCF20-8BFD-4789-9C59-8B4D7093A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11006"/>
          </a:xfrm>
        </p:spPr>
        <p:txBody>
          <a:bodyPr/>
          <a:lstStyle/>
          <a:p>
            <a:r>
              <a:rPr lang="fr-FR" dirty="0" err="1"/>
              <a:t>Required</a:t>
            </a:r>
            <a:r>
              <a:rPr lang="fr-FR" dirty="0"/>
              <a:t>: a </a:t>
            </a:r>
            <a:r>
              <a:rPr lang="fr-FR" dirty="0" err="1"/>
              <a:t>list</a:t>
            </a:r>
            <a:r>
              <a:rPr lang="fr-FR" dirty="0"/>
              <a:t> of values + a </a:t>
            </a:r>
            <a:r>
              <a:rPr lang="fr-FR" dirty="0" err="1"/>
              <a:t>list</a:t>
            </a:r>
            <a:r>
              <a:rPr lang="fr-FR" dirty="0"/>
              <a:t> of indices</a:t>
            </a:r>
          </a:p>
          <a:p>
            <a:r>
              <a:rPr lang="fr-FR" dirty="0"/>
              <a:t>Use </a:t>
            </a:r>
            <a:r>
              <a:rPr lang="fr-FR" b="1" dirty="0" err="1">
                <a:solidFill>
                  <a:schemeClr val="accent3"/>
                </a:solidFill>
              </a:rPr>
              <a:t>pd.Series</a:t>
            </a:r>
            <a:r>
              <a:rPr lang="fr-FR" b="1" dirty="0">
                <a:solidFill>
                  <a:schemeClr val="accent3"/>
                </a:solidFill>
              </a:rPr>
              <a:t>()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pd.Series</a:t>
            </a:r>
            <a:r>
              <a:rPr lang="fr-FR" dirty="0"/>
              <a:t>: </a:t>
            </a:r>
            <a:r>
              <a:rPr lang="fr-FR" sz="2400" dirty="0" err="1"/>
              <a:t>creating</a:t>
            </a:r>
            <a:r>
              <a:rPr lang="fr-FR" sz="2400" dirty="0"/>
              <a:t> an </a:t>
            </a:r>
            <a:r>
              <a:rPr lang="fr-FR" sz="2400" dirty="0" err="1"/>
              <a:t>object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6</a:t>
            </a:fld>
            <a:endParaRPr lang="en-US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285CD9A-D2ED-46ED-9E20-83668B007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733" y="2964842"/>
            <a:ext cx="6416231" cy="1998720"/>
          </a:xfrm>
          <a:prstGeom prst="rect">
            <a:avLst/>
          </a:prstGeom>
        </p:spPr>
      </p:pic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655549A1-3935-4D11-9B22-5AD7E71DADF6}"/>
              </a:ext>
            </a:extLst>
          </p:cNvPr>
          <p:cNvCxnSpPr/>
          <p:nvPr/>
        </p:nvCxnSpPr>
        <p:spPr>
          <a:xfrm flipV="1">
            <a:off x="7826067" y="3770616"/>
            <a:ext cx="0" cy="528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EE50AA98-33AE-4F0D-8B09-F25B23F58B33}"/>
              </a:ext>
            </a:extLst>
          </p:cNvPr>
          <p:cNvSpPr txBox="1"/>
          <p:nvPr/>
        </p:nvSpPr>
        <p:spPr>
          <a:xfrm>
            <a:off x="7211465" y="4299254"/>
            <a:ext cx="1737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3"/>
                </a:solidFill>
              </a:rPr>
              <a:t>Not </a:t>
            </a:r>
            <a:r>
              <a:rPr lang="fr-FR" dirty="0" err="1">
                <a:solidFill>
                  <a:schemeClr val="accent3"/>
                </a:solidFill>
              </a:rPr>
              <a:t>required</a:t>
            </a:r>
            <a:endParaRPr lang="fr-FR" dirty="0">
              <a:solidFill>
                <a:schemeClr val="accent3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89F8B7D-439A-4A56-9DE6-7AAD3F96F644}"/>
              </a:ext>
            </a:extLst>
          </p:cNvPr>
          <p:cNvSpPr txBox="1"/>
          <p:nvPr/>
        </p:nvSpPr>
        <p:spPr>
          <a:xfrm>
            <a:off x="4281417" y="4252694"/>
            <a:ext cx="1380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accent3"/>
                </a:solidFill>
              </a:rPr>
              <a:t>Required</a:t>
            </a:r>
            <a:endParaRPr lang="fr-FR" b="1" dirty="0">
              <a:solidFill>
                <a:schemeClr val="accent3"/>
              </a:solidFill>
            </a:endParaRP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D74FC6F-ED38-46E9-B1EB-15DEFFB84CE6}"/>
              </a:ext>
            </a:extLst>
          </p:cNvPr>
          <p:cNvCxnSpPr/>
          <p:nvPr/>
        </p:nvCxnSpPr>
        <p:spPr>
          <a:xfrm flipV="1">
            <a:off x="4523646" y="3792292"/>
            <a:ext cx="0" cy="528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3677F667-7924-4623-8AED-12E0AEA07C02}"/>
              </a:ext>
            </a:extLst>
          </p:cNvPr>
          <p:cNvSpPr txBox="1"/>
          <p:nvPr/>
        </p:nvSpPr>
        <p:spPr>
          <a:xfrm>
            <a:off x="5460772" y="4272238"/>
            <a:ext cx="1770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3"/>
                </a:solidFill>
              </a:rPr>
              <a:t>If not </a:t>
            </a:r>
            <a:r>
              <a:rPr lang="fr-FR" dirty="0" err="1">
                <a:solidFill>
                  <a:schemeClr val="accent3"/>
                </a:solidFill>
              </a:rPr>
              <a:t>specified</a:t>
            </a:r>
            <a:r>
              <a:rPr lang="fr-FR" dirty="0">
                <a:solidFill>
                  <a:schemeClr val="accent3"/>
                </a:solidFill>
              </a:rPr>
              <a:t>: 0,1,2 ,…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A1BAED23-1EE1-45AC-A473-0B92033C43A0}"/>
              </a:ext>
            </a:extLst>
          </p:cNvPr>
          <p:cNvCxnSpPr/>
          <p:nvPr/>
        </p:nvCxnSpPr>
        <p:spPr>
          <a:xfrm flipV="1">
            <a:off x="5902264" y="3792292"/>
            <a:ext cx="0" cy="528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44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uiExpand="1" build="p"/>
      <p:bldP spid="20" grpId="0"/>
      <p:bldP spid="21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pd.Series</a:t>
            </a:r>
            <a:r>
              <a:rPr lang="fr-FR" dirty="0"/>
              <a:t>: </a:t>
            </a:r>
            <a:r>
              <a:rPr lang="fr-FR" sz="2400" dirty="0" err="1"/>
              <a:t>access</a:t>
            </a:r>
            <a:r>
              <a:rPr lang="fr-FR" sz="2400" dirty="0"/>
              <a:t>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7</a:t>
            </a:fld>
            <a:endParaRPr lang="en-US"/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ADB7885C-1BFA-4593-87E3-317504F4D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37" y="3937914"/>
            <a:ext cx="5359400" cy="425231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Access data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b="1" dirty="0">
                <a:solidFill>
                  <a:srgbClr val="FF0000"/>
                </a:solidFill>
              </a:rPr>
              <a:t>indices</a:t>
            </a:r>
            <a:r>
              <a:rPr lang="fr-FR" dirty="0"/>
              <a:t> </a:t>
            </a:r>
          </a:p>
        </p:txBody>
      </p:sp>
      <p:sp>
        <p:nvSpPr>
          <p:cNvPr id="30" name="Espace réservé du contenu 2">
            <a:extLst>
              <a:ext uri="{FF2B5EF4-FFF2-40B4-BE49-F238E27FC236}">
                <a16:creationId xmlns:a16="http://schemas.microsoft.com/office/drawing/2014/main" id="{3F7D96A3-46BB-4D8D-97BD-EC7ED883DB41}"/>
              </a:ext>
            </a:extLst>
          </p:cNvPr>
          <p:cNvSpPr txBox="1">
            <a:spLocks/>
          </p:cNvSpPr>
          <p:nvPr/>
        </p:nvSpPr>
        <p:spPr>
          <a:xfrm>
            <a:off x="6267818" y="3950118"/>
            <a:ext cx="5562600" cy="4560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Access data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b="1" dirty="0">
                <a:solidFill>
                  <a:schemeClr val="accent3"/>
                </a:solidFill>
              </a:rPr>
              <a:t>position</a:t>
            </a:r>
            <a:r>
              <a:rPr lang="fr-FR" b="1" dirty="0"/>
              <a:t> </a:t>
            </a:r>
          </a:p>
        </p:txBody>
      </p:sp>
      <p:sp>
        <p:nvSpPr>
          <p:cNvPr id="32" name="Espace réservé du contenu 2">
            <a:extLst>
              <a:ext uri="{FF2B5EF4-FFF2-40B4-BE49-F238E27FC236}">
                <a16:creationId xmlns:a16="http://schemas.microsoft.com/office/drawing/2014/main" id="{27D104D3-7D23-42C4-86EB-EFE6956B52CC}"/>
              </a:ext>
            </a:extLst>
          </p:cNvPr>
          <p:cNvSpPr txBox="1">
            <a:spLocks/>
          </p:cNvSpPr>
          <p:nvPr/>
        </p:nvSpPr>
        <p:spPr>
          <a:xfrm>
            <a:off x="838200" y="5129016"/>
            <a:ext cx="7439526" cy="884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Access the data as a </a:t>
            </a:r>
            <a:r>
              <a:rPr lang="fr-FR" dirty="0" err="1"/>
              <a:t>numpy</a:t>
            </a:r>
            <a:r>
              <a:rPr lang="fr-FR" dirty="0"/>
              <a:t> </a:t>
            </a:r>
            <a:r>
              <a:rPr lang="fr-FR" dirty="0" err="1"/>
              <a:t>array</a:t>
            </a:r>
            <a:r>
              <a:rPr lang="fr-FR" dirty="0"/>
              <a:t>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B0FAFB7-4387-49D3-8992-9B1E23301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2" y="707011"/>
            <a:ext cx="3667637" cy="136226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8F77901-7620-473D-A9FF-F7E3C745C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081" y="2588850"/>
            <a:ext cx="3381847" cy="120984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96D85BD-8FC6-49FC-8AC5-F923E690A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571" y="2574562"/>
            <a:ext cx="3096057" cy="121937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4DD0612-438F-4025-99AC-5675745DF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345" y="4781153"/>
            <a:ext cx="3324689" cy="1276528"/>
          </a:xfrm>
          <a:prstGeom prst="rect">
            <a:avLst/>
          </a:prstGeom>
        </p:spPr>
      </p:pic>
      <p:cxnSp>
        <p:nvCxnSpPr>
          <p:cNvPr id="9" name="Connecteur : en arc 8">
            <a:extLst>
              <a:ext uri="{FF2B5EF4-FFF2-40B4-BE49-F238E27FC236}">
                <a16:creationId xmlns:a16="http://schemas.microsoft.com/office/drawing/2014/main" id="{9F5D36D4-10FF-4CAD-8308-59606C5AF60F}"/>
              </a:ext>
            </a:extLst>
          </p:cNvPr>
          <p:cNvCxnSpPr>
            <a:cxnSpLocks/>
            <a:stCxn id="11" idx="0"/>
          </p:cNvCxnSpPr>
          <p:nvPr/>
        </p:nvCxnSpPr>
        <p:spPr>
          <a:xfrm rot="5400000" flipH="1" flipV="1">
            <a:off x="3930210" y="-100813"/>
            <a:ext cx="1611459" cy="3767869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 : en arc 15">
            <a:extLst>
              <a:ext uri="{FF2B5EF4-FFF2-40B4-BE49-F238E27FC236}">
                <a16:creationId xmlns:a16="http://schemas.microsoft.com/office/drawing/2014/main" id="{3C01A54E-8660-4082-AD18-C05E3BF59A11}"/>
              </a:ext>
            </a:extLst>
          </p:cNvPr>
          <p:cNvCxnSpPr>
            <a:cxnSpLocks/>
            <a:stCxn id="12" idx="3"/>
          </p:cNvCxnSpPr>
          <p:nvPr/>
        </p:nvCxnSpPr>
        <p:spPr>
          <a:xfrm flipH="1" flipV="1">
            <a:off x="8494295" y="1263534"/>
            <a:ext cx="1664333" cy="1920713"/>
          </a:xfrm>
          <a:prstGeom prst="curvedConnector4">
            <a:avLst>
              <a:gd name="adj1" fmla="val -13735"/>
              <a:gd name="adj2" fmla="val 99697"/>
            </a:avLst>
          </a:prstGeom>
          <a:ln w="3810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53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  <p:bldP spid="30" grpId="0"/>
      <p:bldP spid="3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6CEBEF76-01F8-4790-9E99-8F118EBBC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114" y="4165338"/>
            <a:ext cx="4455357" cy="1659839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pd.DataFrame</a:t>
            </a:r>
            <a:r>
              <a:rPr lang="fr-FR" dirty="0"/>
              <a:t>: </a:t>
            </a:r>
            <a:r>
              <a:rPr lang="fr-FR" sz="2400" dirty="0"/>
              <a:t>introduction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8</a:t>
            </a:fld>
            <a:endParaRPr lang="en-US"/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4C70891C-6112-4BFB-919A-B60C7A65ABC3}"/>
              </a:ext>
            </a:extLst>
          </p:cNvPr>
          <p:cNvSpPr txBox="1">
            <a:spLocks/>
          </p:cNvSpPr>
          <p:nvPr/>
        </p:nvSpPr>
        <p:spPr>
          <a:xfrm>
            <a:off x="776056" y="1470230"/>
            <a:ext cx="10515600" cy="1002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Multiple </a:t>
            </a:r>
            <a:r>
              <a:rPr lang="fr-FR" dirty="0" err="1"/>
              <a:t>pd.Series</a:t>
            </a:r>
            <a:r>
              <a:rPr lang="fr-FR" dirty="0"/>
              <a:t> </a:t>
            </a:r>
            <a:r>
              <a:rPr lang="fr-FR" b="1" dirty="0" err="1">
                <a:solidFill>
                  <a:schemeClr val="accent3"/>
                </a:solidFill>
              </a:rPr>
              <a:t>aligned</a:t>
            </a:r>
            <a:r>
              <a:rPr lang="fr-FR" dirty="0"/>
              <a:t> on the </a:t>
            </a:r>
            <a:r>
              <a:rPr lang="fr-FR" dirty="0" err="1"/>
              <a:t>same</a:t>
            </a:r>
            <a:r>
              <a:rPr lang="fr-FR" dirty="0"/>
              <a:t> indices</a:t>
            </a:r>
          </a:p>
          <a:p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Series</a:t>
            </a:r>
            <a:r>
              <a:rPr lang="fr-FR" dirty="0"/>
              <a:t> has a </a:t>
            </a:r>
            <a:r>
              <a:rPr lang="fr-FR" dirty="0" err="1"/>
              <a:t>name</a:t>
            </a:r>
            <a:endParaRPr lang="fr-FR" dirty="0"/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1D9A0ED0-AB16-4D03-925C-0A1CAC07F488}"/>
              </a:ext>
            </a:extLst>
          </p:cNvPr>
          <p:cNvSpPr txBox="1">
            <a:spLocks/>
          </p:cNvSpPr>
          <p:nvPr/>
        </p:nvSpPr>
        <p:spPr>
          <a:xfrm>
            <a:off x="2762370" y="3716665"/>
            <a:ext cx="1088744" cy="395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200" b="1" dirty="0">
                <a:solidFill>
                  <a:schemeClr val="accent2"/>
                </a:solidFill>
              </a:rPr>
              <a:t>Index</a:t>
            </a:r>
          </a:p>
          <a:p>
            <a:pPr marL="914400" lvl="2" indent="0"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CF002782-0431-4C0C-AD7E-D798B6EC0327}"/>
              </a:ext>
            </a:extLst>
          </p:cNvPr>
          <p:cNvSpPr txBox="1">
            <a:spLocks/>
          </p:cNvSpPr>
          <p:nvPr/>
        </p:nvSpPr>
        <p:spPr>
          <a:xfrm>
            <a:off x="5414639" y="2902595"/>
            <a:ext cx="2320290" cy="395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200" b="1" dirty="0" err="1">
                <a:solidFill>
                  <a:schemeClr val="accent1"/>
                </a:solidFill>
              </a:rPr>
              <a:t>pd.Series</a:t>
            </a:r>
            <a:endParaRPr lang="fr-FR" sz="2200" b="1" dirty="0">
              <a:solidFill>
                <a:schemeClr val="accent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fr-FR" dirty="0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1E9A43A3-B4D2-433F-ACBF-93907758E7F6}"/>
              </a:ext>
            </a:extLst>
          </p:cNvPr>
          <p:cNvCxnSpPr>
            <a:cxnSpLocks/>
          </p:cNvCxnSpPr>
          <p:nvPr/>
        </p:nvCxnSpPr>
        <p:spPr>
          <a:xfrm flipH="1">
            <a:off x="4984662" y="3398891"/>
            <a:ext cx="563883" cy="748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9A7D5A01-0248-4A25-80BE-2C05CC3927A4}"/>
              </a:ext>
            </a:extLst>
          </p:cNvPr>
          <p:cNvCxnSpPr>
            <a:cxnSpLocks/>
          </p:cNvCxnSpPr>
          <p:nvPr/>
        </p:nvCxnSpPr>
        <p:spPr>
          <a:xfrm flipH="1">
            <a:off x="5548545" y="3408268"/>
            <a:ext cx="421263" cy="666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AA3EB396-421C-4C9F-B30C-61F6CC12A107}"/>
              </a:ext>
            </a:extLst>
          </p:cNvPr>
          <p:cNvCxnSpPr>
            <a:cxnSpLocks/>
          </p:cNvCxnSpPr>
          <p:nvPr/>
        </p:nvCxnSpPr>
        <p:spPr>
          <a:xfrm>
            <a:off x="6251212" y="3386374"/>
            <a:ext cx="192914" cy="688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D22D35C5-4E1C-4448-AB37-BDC24D679C90}"/>
              </a:ext>
            </a:extLst>
          </p:cNvPr>
          <p:cNvCxnSpPr>
            <a:cxnSpLocks/>
          </p:cNvCxnSpPr>
          <p:nvPr/>
        </p:nvCxnSpPr>
        <p:spPr>
          <a:xfrm>
            <a:off x="6672476" y="3358876"/>
            <a:ext cx="704868" cy="715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328EC7DC-C22B-4513-9706-B910B8D493B8}"/>
              </a:ext>
            </a:extLst>
          </p:cNvPr>
          <p:cNvCxnSpPr>
            <a:cxnSpLocks/>
          </p:cNvCxnSpPr>
          <p:nvPr/>
        </p:nvCxnSpPr>
        <p:spPr>
          <a:xfrm>
            <a:off x="3709877" y="4036130"/>
            <a:ext cx="572118" cy="384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05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pd.DataFrame</a:t>
            </a:r>
            <a:r>
              <a:rPr lang="fr-FR" dirty="0"/>
              <a:t>: </a:t>
            </a:r>
            <a:r>
              <a:rPr lang="fr-FR" sz="2400" dirty="0" err="1"/>
              <a:t>creating</a:t>
            </a:r>
            <a:r>
              <a:rPr lang="fr-FR" sz="2400" dirty="0"/>
              <a:t> an </a:t>
            </a:r>
            <a:r>
              <a:rPr lang="fr-FR" sz="2400" dirty="0" err="1"/>
              <a:t>object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9</a:t>
            </a:fld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B50B8D4-B06A-40DB-8E67-6B06ADB59B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181" r="23651" b="66073"/>
          <a:stretch/>
        </p:blipFill>
        <p:spPr>
          <a:xfrm>
            <a:off x="729337" y="3646365"/>
            <a:ext cx="4626611" cy="99420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0A4B55F-11A6-463A-ABBF-A40227667A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462" r="14055"/>
          <a:stretch/>
        </p:blipFill>
        <p:spPr>
          <a:xfrm>
            <a:off x="6074904" y="2493707"/>
            <a:ext cx="5983318" cy="3337330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CEE3CB1E-0151-4810-A17E-4203FE206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37" y="1365082"/>
            <a:ext cx="5359400" cy="42523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fr-FR" b="1" dirty="0"/>
              <a:t>Input</a:t>
            </a:r>
            <a:r>
              <a:rPr lang="fr-FR" dirty="0"/>
              <a:t> data: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573F259-351B-46A7-A9EE-1B42FDB1D6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651" b="92014"/>
          <a:stretch/>
        </p:blipFill>
        <p:spPr>
          <a:xfrm>
            <a:off x="729336" y="2555428"/>
            <a:ext cx="4626611" cy="365125"/>
          </a:xfrm>
          <a:prstGeom prst="rect">
            <a:avLst/>
          </a:prstGeom>
        </p:spPr>
      </p:pic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A498D8D7-87EB-4E06-B67F-66EB0B7BB8B1}"/>
              </a:ext>
            </a:extLst>
          </p:cNvPr>
          <p:cNvSpPr txBox="1">
            <a:spLocks/>
          </p:cNvSpPr>
          <p:nvPr/>
        </p:nvSpPr>
        <p:spPr>
          <a:xfrm>
            <a:off x="6509605" y="1422847"/>
            <a:ext cx="5359400" cy="425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b="1" dirty="0"/>
              <a:t>Object</a:t>
            </a:r>
            <a:r>
              <a:rPr lang="fr-FR" dirty="0"/>
              <a:t> </a:t>
            </a:r>
            <a:r>
              <a:rPr lang="fr-FR" dirty="0" err="1"/>
              <a:t>creation</a:t>
            </a:r>
            <a:r>
              <a:rPr lang="fr-F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3349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pd.DataFrame</a:t>
            </a:r>
            <a:r>
              <a:rPr lang="fr-FR" dirty="0"/>
              <a:t>: </a:t>
            </a:r>
            <a:r>
              <a:rPr lang="fr-FR" sz="2400" dirty="0" err="1"/>
              <a:t>creating</a:t>
            </a:r>
            <a:r>
              <a:rPr lang="fr-FR" sz="2400" dirty="0"/>
              <a:t> an </a:t>
            </a:r>
            <a:r>
              <a:rPr lang="fr-FR" sz="2400" dirty="0" err="1"/>
              <a:t>object</a:t>
            </a:r>
            <a:r>
              <a:rPr lang="fr-FR" sz="2400" dirty="0"/>
              <a:t>, option 2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10</a:t>
            </a:fld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B8E34C8-7539-42AD-AB6D-24491DE9B1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545"/>
          <a:stretch/>
        </p:blipFill>
        <p:spPr>
          <a:xfrm>
            <a:off x="5423675" y="1985212"/>
            <a:ext cx="6636887" cy="3284620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CEE3CB1E-0151-4810-A17E-4203FE206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95" y="1365082"/>
            <a:ext cx="5359400" cy="42523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fr-FR" b="1" dirty="0"/>
              <a:t>Input</a:t>
            </a:r>
            <a:r>
              <a:rPr lang="fr-FR" dirty="0"/>
              <a:t> data: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A498D8D7-87EB-4E06-B67F-66EB0B7BB8B1}"/>
              </a:ext>
            </a:extLst>
          </p:cNvPr>
          <p:cNvSpPr txBox="1">
            <a:spLocks/>
          </p:cNvSpPr>
          <p:nvPr/>
        </p:nvSpPr>
        <p:spPr>
          <a:xfrm>
            <a:off x="6096000" y="1422847"/>
            <a:ext cx="5359400" cy="425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b="1" dirty="0"/>
              <a:t>Object</a:t>
            </a:r>
            <a:r>
              <a:rPr lang="fr-FR" dirty="0"/>
              <a:t> </a:t>
            </a:r>
            <a:r>
              <a:rPr lang="fr-FR" dirty="0" err="1"/>
              <a:t>creation</a:t>
            </a:r>
            <a:r>
              <a:rPr lang="fr-FR" dirty="0"/>
              <a:t>: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9A63270-5E7D-4B40-97CD-6D7A93A024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74" t="15880" r="23662" b="64967"/>
          <a:stretch/>
        </p:blipFill>
        <p:spPr>
          <a:xfrm>
            <a:off x="211219" y="3141368"/>
            <a:ext cx="4949379" cy="99521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2AF9877-6EB3-40DB-84B0-2FF5288813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275" b="86952"/>
          <a:stretch/>
        </p:blipFill>
        <p:spPr>
          <a:xfrm>
            <a:off x="211221" y="2234822"/>
            <a:ext cx="4899998" cy="59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08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B57A97DA-FEA5-4515-BC9B-A628B96FE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340" y="1968010"/>
            <a:ext cx="4629660" cy="1799514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pd.DataFrame</a:t>
            </a:r>
            <a:r>
              <a:rPr lang="fr-FR" dirty="0"/>
              <a:t>: </a:t>
            </a:r>
            <a:r>
              <a:rPr lang="fr-FR" sz="2400" dirty="0" err="1"/>
              <a:t>access</a:t>
            </a:r>
            <a:r>
              <a:rPr lang="fr-FR" sz="2400" dirty="0"/>
              <a:t> the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11</a:t>
            </a:fld>
            <a:endParaRPr lang="en-US"/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C5CB0227-858D-436C-B5C5-67EDAB006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81" y="1126410"/>
            <a:ext cx="8322819" cy="402510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fr-FR" b="1" dirty="0"/>
              <a:t>Select data </a:t>
            </a:r>
            <a:r>
              <a:rPr lang="fr-FR" b="1" dirty="0" err="1"/>
              <a:t>from</a:t>
            </a:r>
            <a:r>
              <a:rPr lang="fr-FR" b="1" dirty="0"/>
              <a:t> index/</a:t>
            </a:r>
            <a:r>
              <a:rPr lang="fr-FR" b="1" dirty="0" err="1"/>
              <a:t>columns</a:t>
            </a:r>
            <a:r>
              <a:rPr lang="fr-FR" b="1" dirty="0"/>
              <a:t> or positions</a:t>
            </a:r>
          </a:p>
          <a:p>
            <a:pPr lvl="1">
              <a:lnSpc>
                <a:spcPct val="110000"/>
              </a:lnSpc>
            </a:pP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b="1" dirty="0"/>
              <a:t>positions</a:t>
            </a:r>
            <a:r>
              <a:rPr lang="fr-FR" dirty="0"/>
              <a:t>: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fr-FR" dirty="0"/>
          </a:p>
          <a:p>
            <a:pPr marL="457200" lvl="1" indent="0">
              <a:lnSpc>
                <a:spcPct val="110000"/>
              </a:lnSpc>
              <a:buNone/>
            </a:pPr>
            <a:endParaRPr lang="fr-FR" dirty="0"/>
          </a:p>
          <a:p>
            <a:pPr lvl="1">
              <a:lnSpc>
                <a:spcPct val="110000"/>
              </a:lnSpc>
            </a:pP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b="1" dirty="0"/>
              <a:t>index/</a:t>
            </a:r>
            <a:r>
              <a:rPr lang="fr-FR" b="1" dirty="0" err="1"/>
              <a:t>column</a:t>
            </a:r>
            <a:endParaRPr lang="fr-FR" b="1" dirty="0"/>
          </a:p>
          <a:p>
            <a:pPr lvl="1">
              <a:lnSpc>
                <a:spcPct val="110000"/>
              </a:lnSpc>
            </a:pPr>
            <a:endParaRPr lang="fr-FR" dirty="0"/>
          </a:p>
          <a:p>
            <a:pPr lvl="1">
              <a:lnSpc>
                <a:spcPct val="110000"/>
              </a:lnSpc>
            </a:pPr>
            <a:endParaRPr lang="fr-FR" dirty="0"/>
          </a:p>
          <a:p>
            <a:pPr lvl="1">
              <a:lnSpc>
                <a:spcPct val="110000"/>
              </a:lnSpc>
            </a:pPr>
            <a:r>
              <a:rPr lang="fr-FR" dirty="0"/>
              <a:t>Multiple </a:t>
            </a:r>
            <a:r>
              <a:rPr lang="fr-FR" dirty="0" err="1"/>
              <a:t>selection</a:t>
            </a:r>
            <a:endParaRPr lang="fr-FR" dirty="0"/>
          </a:p>
          <a:p>
            <a:pPr lvl="1">
              <a:lnSpc>
                <a:spcPct val="110000"/>
              </a:lnSpc>
            </a:pPr>
            <a:endParaRPr lang="fr-FR" dirty="0"/>
          </a:p>
          <a:p>
            <a:pPr lvl="1">
              <a:lnSpc>
                <a:spcPct val="110000"/>
              </a:lnSpc>
            </a:pPr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00924E-69B2-43FA-988D-846F713DB6BA}"/>
              </a:ext>
            </a:extLst>
          </p:cNvPr>
          <p:cNvSpPr/>
          <p:nvPr/>
        </p:nvSpPr>
        <p:spPr>
          <a:xfrm>
            <a:off x="7642294" y="2862983"/>
            <a:ext cx="4513283" cy="348042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844FEA-F404-442B-88A1-CFF367C4FD1F}"/>
              </a:ext>
            </a:extLst>
          </p:cNvPr>
          <p:cNvSpPr/>
          <p:nvPr/>
        </p:nvSpPr>
        <p:spPr>
          <a:xfrm>
            <a:off x="11214917" y="2014342"/>
            <a:ext cx="940661" cy="1753182"/>
          </a:xfrm>
          <a:prstGeom prst="rect">
            <a:avLst/>
          </a:prstGeom>
          <a:noFill/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A13F65-1801-4F23-BD4E-8AF47992C2B7}"/>
              </a:ext>
            </a:extLst>
          </p:cNvPr>
          <p:cNvSpPr/>
          <p:nvPr/>
        </p:nvSpPr>
        <p:spPr>
          <a:xfrm>
            <a:off x="11198902" y="2862982"/>
            <a:ext cx="956676" cy="3480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0ADABCE1-FF69-422B-9DC2-E072F2CCA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715081"/>
            <a:ext cx="1790950" cy="1152686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47CC3E30-92CF-4BF5-8640-B04EB7CC9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8005" y="3138963"/>
            <a:ext cx="2753109" cy="1133633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CE3F6D65-4CA0-4070-AB54-4744B27898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4064" y="4507019"/>
            <a:ext cx="3790973" cy="154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5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/>
      <p:bldP spid="20" grpId="0" animBg="1"/>
      <p:bldP spid="21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pd.DataFrame</a:t>
            </a:r>
            <a:r>
              <a:rPr lang="fr-FR" dirty="0"/>
              <a:t>: </a:t>
            </a:r>
            <a:r>
              <a:rPr lang="fr-FR" sz="2400" dirty="0" err="1"/>
              <a:t>access</a:t>
            </a:r>
            <a:r>
              <a:rPr lang="fr-FR" sz="2400" dirty="0"/>
              <a:t> the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12</a:t>
            </a:fld>
            <a:endParaRPr lang="en-US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B1B87093-52F1-41F8-9BD9-22CC47584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029" y="1266396"/>
            <a:ext cx="5669132" cy="881254"/>
          </a:xfrm>
        </p:spPr>
        <p:txBody>
          <a:bodyPr/>
          <a:lstStyle/>
          <a:p>
            <a:r>
              <a:rPr lang="fr-FR" b="1" dirty="0"/>
              <a:t>Access data at one index</a:t>
            </a:r>
          </a:p>
          <a:p>
            <a:pPr lvl="1"/>
            <a:r>
              <a:rPr lang="fr-FR" dirty="0" err="1"/>
              <a:t>Returns</a:t>
            </a:r>
            <a:r>
              <a:rPr lang="fr-FR" dirty="0"/>
              <a:t> a </a:t>
            </a:r>
            <a:r>
              <a:rPr lang="fr-FR" dirty="0" err="1"/>
              <a:t>pd.Series</a:t>
            </a:r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6D544D-B807-4E39-9924-8C66855C814B}"/>
              </a:ext>
            </a:extLst>
          </p:cNvPr>
          <p:cNvSpPr/>
          <p:nvPr/>
        </p:nvSpPr>
        <p:spPr>
          <a:xfrm>
            <a:off x="6096000" y="1828800"/>
            <a:ext cx="45719" cy="434118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01C01C67-A391-4C72-85D4-BC05BC132DD4}"/>
              </a:ext>
            </a:extLst>
          </p:cNvPr>
          <p:cNvSpPr txBox="1">
            <a:spLocks/>
          </p:cNvSpPr>
          <p:nvPr/>
        </p:nvSpPr>
        <p:spPr>
          <a:xfrm>
            <a:off x="6298558" y="1249402"/>
            <a:ext cx="5893442" cy="4359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Access data </a:t>
            </a:r>
            <a:r>
              <a:rPr lang="fr-FR" b="1" dirty="0" err="1"/>
              <a:t>from</a:t>
            </a:r>
            <a:r>
              <a:rPr lang="fr-FR" b="1" dirty="0"/>
              <a:t> one </a:t>
            </a:r>
            <a:r>
              <a:rPr lang="fr-FR" b="1" dirty="0" err="1"/>
              <a:t>pd.Series</a:t>
            </a:r>
            <a:endParaRPr lang="fr-FR" b="1" dirty="0"/>
          </a:p>
          <a:p>
            <a:pPr lvl="1"/>
            <a:r>
              <a:rPr lang="fr-FR" dirty="0" err="1"/>
              <a:t>Returns</a:t>
            </a:r>
            <a:r>
              <a:rPr lang="fr-FR" dirty="0"/>
              <a:t> a </a:t>
            </a:r>
            <a:r>
              <a:rPr lang="fr-FR" dirty="0" err="1"/>
              <a:t>pd.Series</a:t>
            </a: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2AE9146-92F1-47F8-B42E-711B2D8F3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85" y="2147650"/>
            <a:ext cx="3010958" cy="187489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CDF598E-C99D-40F8-A8C2-973B2C446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85" y="4194307"/>
            <a:ext cx="3024834" cy="187489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7598C82-640C-45F4-BBFA-3E90E24EE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652" y="2318188"/>
            <a:ext cx="2711496" cy="151373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74F5677-22EC-4C25-8F7E-AE58E3042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740" y="2380231"/>
            <a:ext cx="1278149" cy="43843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5B264F7-4D1E-4095-A4D1-31A1E5E7D4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7652" y="4194307"/>
            <a:ext cx="3287800" cy="191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1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  <p:bldP spid="18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pd.DataFrame</a:t>
            </a:r>
            <a:r>
              <a:rPr lang="fr-FR" dirty="0"/>
              <a:t>: </a:t>
            </a:r>
            <a:r>
              <a:rPr lang="fr-FR" sz="2400" dirty="0"/>
              <a:t>append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13</a:t>
            </a:fld>
            <a:endParaRPr lang="en-US"/>
          </a:p>
        </p:txBody>
      </p:sp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10B8253D-1629-4B19-B14F-B9A4B7F7C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1339"/>
            <a:ext cx="10515600" cy="4598987"/>
          </a:xfrm>
        </p:spPr>
        <p:txBody>
          <a:bodyPr>
            <a:normAutofit/>
          </a:bodyPr>
          <a:lstStyle/>
          <a:p>
            <a:r>
              <a:rPr lang="fr-FR" b="1" dirty="0" err="1"/>
              <a:t>Add</a:t>
            </a:r>
            <a:r>
              <a:rPr lang="fr-FR" b="1" dirty="0"/>
              <a:t> a </a:t>
            </a:r>
            <a:r>
              <a:rPr lang="fr-FR" b="1" dirty="0" err="1"/>
              <a:t>column</a:t>
            </a:r>
            <a:r>
              <a:rPr lang="fr-FR" b="1" dirty="0"/>
              <a:t> - </a:t>
            </a:r>
            <a:r>
              <a:rPr lang="fr-FR" b="1" dirty="0" err="1"/>
              <a:t>pd.Series</a:t>
            </a:r>
            <a:endParaRPr lang="fr-FR" b="1" dirty="0"/>
          </a:p>
          <a:p>
            <a:pPr lvl="1"/>
            <a:r>
              <a:rPr lang="fr-FR" dirty="0" err="1"/>
              <a:t>Add</a:t>
            </a:r>
            <a:r>
              <a:rPr lang="fr-FR" dirty="0"/>
              <a:t> the </a:t>
            </a:r>
            <a:r>
              <a:rPr lang="fr-FR" dirty="0" err="1"/>
              <a:t>Series</a:t>
            </a:r>
            <a:r>
              <a:rPr lang="fr-FR" dirty="0"/>
              <a:t> as if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access</a:t>
            </a:r>
            <a:r>
              <a:rPr lang="fr-FR" dirty="0"/>
              <a:t> the data of a </a:t>
            </a:r>
            <a:r>
              <a:rPr lang="fr-FR" dirty="0" err="1"/>
              <a:t>column</a:t>
            </a: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sz="1200" dirty="0"/>
          </a:p>
          <a:p>
            <a:pPr lvl="1"/>
            <a:endParaRPr lang="fr-FR" sz="1200" dirty="0"/>
          </a:p>
          <a:p>
            <a:pPr lvl="1"/>
            <a:endParaRPr lang="fr-FR" sz="1200" dirty="0"/>
          </a:p>
          <a:p>
            <a:pPr lvl="1"/>
            <a:endParaRPr lang="fr-FR" sz="1200" dirty="0"/>
          </a:p>
          <a:p>
            <a:r>
              <a:rPr lang="fr-FR" dirty="0"/>
              <a:t>The values of the </a:t>
            </a:r>
            <a:r>
              <a:rPr lang="fr-FR" dirty="0" err="1"/>
              <a:t>series</a:t>
            </a:r>
            <a:r>
              <a:rPr lang="fr-FR" dirty="0"/>
              <a:t> can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b="1" dirty="0" err="1"/>
              <a:t>updated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way</a:t>
            </a:r>
            <a:r>
              <a:rPr lang="fr-FR" dirty="0"/>
              <a:t>.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4DFFB4E-2CC1-4F0A-A830-B4BFD4780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351" y="2183147"/>
            <a:ext cx="6597297" cy="270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7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pd.DataFrame</a:t>
            </a:r>
            <a:r>
              <a:rPr lang="fr-FR" dirty="0"/>
              <a:t>: </a:t>
            </a:r>
            <a:r>
              <a:rPr lang="fr-FR" sz="2400" dirty="0"/>
              <a:t>append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14</a:t>
            </a:fld>
            <a:endParaRPr lang="en-US"/>
          </a:p>
        </p:txBody>
      </p:sp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10B8253D-1629-4B19-B14F-B9A4B7F7C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1339"/>
            <a:ext cx="10515600" cy="4889315"/>
          </a:xfrm>
        </p:spPr>
        <p:txBody>
          <a:bodyPr>
            <a:normAutofit/>
          </a:bodyPr>
          <a:lstStyle/>
          <a:p>
            <a:r>
              <a:rPr lang="fr-FR" b="1" dirty="0" err="1"/>
              <a:t>Add</a:t>
            </a:r>
            <a:r>
              <a:rPr lang="fr-FR" b="1" dirty="0"/>
              <a:t> a </a:t>
            </a:r>
            <a:r>
              <a:rPr lang="fr-FR" b="1" dirty="0" err="1"/>
              <a:t>row</a:t>
            </a:r>
            <a:endParaRPr lang="fr-FR" b="1" dirty="0"/>
          </a:p>
          <a:p>
            <a:pPr lvl="1"/>
            <a:r>
              <a:rPr lang="fr-FR" dirty="0" err="1"/>
              <a:t>Add</a:t>
            </a:r>
            <a:r>
              <a:rPr lang="fr-FR" dirty="0"/>
              <a:t> the </a:t>
            </a:r>
            <a:r>
              <a:rPr lang="fr-FR" dirty="0" err="1"/>
              <a:t>row</a:t>
            </a:r>
            <a:r>
              <a:rPr lang="fr-FR" dirty="0"/>
              <a:t> as if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access</a:t>
            </a:r>
            <a:r>
              <a:rPr lang="fr-FR" dirty="0"/>
              <a:t> the data of a line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sz="1200" dirty="0"/>
          </a:p>
          <a:p>
            <a:pPr lvl="1"/>
            <a:endParaRPr lang="fr-FR" sz="1200" dirty="0"/>
          </a:p>
          <a:p>
            <a:pPr lvl="1"/>
            <a:endParaRPr lang="fr-FR" sz="1200" dirty="0"/>
          </a:p>
          <a:p>
            <a:pPr lvl="1"/>
            <a:endParaRPr lang="fr-FR" sz="1200" dirty="0"/>
          </a:p>
          <a:p>
            <a:pPr lvl="1"/>
            <a:endParaRPr lang="fr-FR" sz="1200" dirty="0"/>
          </a:p>
          <a:p>
            <a:pPr lvl="1"/>
            <a:endParaRPr lang="fr-FR" sz="1200" dirty="0"/>
          </a:p>
          <a:p>
            <a:r>
              <a:rPr lang="fr-FR" dirty="0"/>
              <a:t>The values of a line can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updated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way</a:t>
            </a:r>
            <a:r>
              <a:rPr lang="fr-FR" dirty="0"/>
              <a:t>.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34EC658-D12A-4F5B-9B4A-ED148B3F7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216" y="2252902"/>
            <a:ext cx="6677568" cy="297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7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68F13B-5765-44DC-B6FD-8BD2F0E4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Reading/</a:t>
            </a:r>
            <a:r>
              <a:rPr lang="fr-FR" dirty="0" err="1"/>
              <a:t>writing</a:t>
            </a:r>
            <a:r>
              <a:rPr lang="fr-FR" dirty="0"/>
              <a:t> files: </a:t>
            </a:r>
            <a:r>
              <a:rPr lang="fr-FR" dirty="0" err="1"/>
              <a:t>supported</a:t>
            </a:r>
            <a:r>
              <a:rPr lang="fr-FR" dirty="0"/>
              <a:t> formats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8F73EB-D8B3-4309-BEA6-EC9917320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Pandas supports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b="1" dirty="0" err="1"/>
              <a:t>tabular</a:t>
            </a:r>
            <a:r>
              <a:rPr lang="fr-FR" b="1" dirty="0"/>
              <a:t>-like</a:t>
            </a:r>
            <a:r>
              <a:rPr lang="fr-FR" dirty="0"/>
              <a:t> data formats</a:t>
            </a:r>
          </a:p>
          <a:p>
            <a:pPr lvl="1"/>
            <a:r>
              <a:rPr lang="fr-FR" dirty="0"/>
              <a:t>csv</a:t>
            </a:r>
          </a:p>
          <a:p>
            <a:pPr lvl="1"/>
            <a:r>
              <a:rPr lang="fr-FR" dirty="0" err="1"/>
              <a:t>excel</a:t>
            </a:r>
            <a:r>
              <a:rPr lang="fr-FR" dirty="0"/>
              <a:t> (</a:t>
            </a:r>
            <a:r>
              <a:rPr lang="fr-FR" dirty="0" err="1"/>
              <a:t>xls</a:t>
            </a:r>
            <a:r>
              <a:rPr lang="fr-FR" dirty="0"/>
              <a:t>, xlsx) : </a:t>
            </a:r>
            <a:r>
              <a:rPr lang="fr-FR" i="1" dirty="0"/>
              <a:t>requiert </a:t>
            </a:r>
            <a:r>
              <a:rPr lang="fr-FR" i="1" dirty="0" err="1"/>
              <a:t>openpyxl</a:t>
            </a:r>
            <a:endParaRPr lang="fr-FR" i="1" dirty="0"/>
          </a:p>
          <a:p>
            <a:pPr lvl="1"/>
            <a:r>
              <a:rPr lang="fr-FR" dirty="0"/>
              <a:t>txt</a:t>
            </a:r>
          </a:p>
          <a:p>
            <a:pPr lvl="1"/>
            <a:r>
              <a:rPr lang="fr-FR" dirty="0" err="1"/>
              <a:t>json</a:t>
            </a:r>
            <a:endParaRPr lang="fr-FR" dirty="0"/>
          </a:p>
          <a:p>
            <a:pPr lvl="1"/>
            <a:r>
              <a:rPr lang="fr-FR" dirty="0"/>
              <a:t>…</a:t>
            </a:r>
          </a:p>
          <a:p>
            <a:r>
              <a:rPr lang="fr-FR" dirty="0" err="1"/>
              <a:t>Everything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looks like </a:t>
            </a:r>
            <a:r>
              <a:rPr lang="fr-FR" dirty="0" err="1"/>
              <a:t>tabular</a:t>
            </a:r>
            <a:r>
              <a:rPr lang="fr-FR" dirty="0"/>
              <a:t> data </a:t>
            </a:r>
          </a:p>
          <a:p>
            <a:r>
              <a:rPr lang="fr-FR" dirty="0"/>
              <a:t>Can open </a:t>
            </a:r>
            <a:r>
              <a:rPr lang="fr-FR" dirty="0" err="1"/>
              <a:t>directly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internet </a:t>
            </a:r>
            <a:r>
              <a:rPr lang="fr-FR" dirty="0" err="1"/>
              <a:t>using</a:t>
            </a:r>
            <a:r>
              <a:rPr lang="fr-FR" dirty="0"/>
              <a:t> url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DCFE2F-AD8A-4043-AC55-AE0335BFD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5F4DDE-563B-422B-9B95-ED6CF155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9C64A0-A6F0-4BDA-928D-F578827B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55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68F13B-5765-44DC-B6FD-8BD2F0E4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Reading/</a:t>
            </a:r>
            <a:r>
              <a:rPr lang="fr-FR" dirty="0" err="1"/>
              <a:t>writing</a:t>
            </a:r>
            <a:r>
              <a:rPr lang="fr-FR" dirty="0"/>
              <a:t> files: </a:t>
            </a:r>
            <a:r>
              <a:rPr lang="fr-FR" dirty="0" err="1"/>
              <a:t>reading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8F73EB-D8B3-4309-BEA6-EC9917320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798"/>
            <a:ext cx="10515600" cy="3915533"/>
          </a:xfrm>
        </p:spPr>
        <p:txBody>
          <a:bodyPr>
            <a:normAutofit lnSpcReduction="10000"/>
          </a:bodyPr>
          <a:lstStyle/>
          <a:p>
            <a:r>
              <a:rPr lang="fr-FR" dirty="0"/>
              <a:t>To </a:t>
            </a:r>
            <a:r>
              <a:rPr lang="fr-FR" b="1" dirty="0">
                <a:solidFill>
                  <a:schemeClr val="accent3"/>
                </a:solidFill>
              </a:rPr>
              <a:t>open</a:t>
            </a:r>
            <a:r>
              <a:rPr lang="fr-FR" dirty="0"/>
              <a:t> a file, use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pd.read_format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dirty="0" err="1"/>
              <a:t>Some</a:t>
            </a:r>
            <a:r>
              <a:rPr lang="fr-FR" dirty="0"/>
              <a:t> important </a:t>
            </a:r>
            <a:r>
              <a:rPr lang="fr-FR" b="1" dirty="0"/>
              <a:t>arguments</a:t>
            </a:r>
          </a:p>
          <a:p>
            <a:pPr lvl="1"/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index_col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sz="1800" dirty="0">
                <a:sym typeface="Wingdings" panose="05000000000000000000" pitchFamily="2" charset="2"/>
              </a:rPr>
              <a:t> </a:t>
            </a:r>
            <a:r>
              <a:rPr lang="fr-FR" sz="1800" dirty="0" err="1">
                <a:sym typeface="Wingdings" panose="05000000000000000000" pitchFamily="2" charset="2"/>
              </a:rPr>
              <a:t>columns</a:t>
            </a:r>
            <a:r>
              <a:rPr lang="fr-FR" sz="1800" dirty="0">
                <a:sym typeface="Wingdings" panose="05000000000000000000" pitchFamily="2" charset="2"/>
              </a:rPr>
              <a:t> </a:t>
            </a:r>
            <a:r>
              <a:rPr lang="fr-FR" sz="1800" dirty="0" err="1">
                <a:sym typeface="Wingdings" panose="05000000000000000000" pitchFamily="2" charset="2"/>
              </a:rPr>
              <a:t>corresponding</a:t>
            </a:r>
            <a:r>
              <a:rPr lang="fr-FR" sz="1800" dirty="0">
                <a:sym typeface="Wingdings" panose="05000000000000000000" pitchFamily="2" charset="2"/>
              </a:rPr>
              <a:t> to index</a:t>
            </a:r>
            <a:endParaRPr lang="fr-FR" sz="1800" dirty="0"/>
          </a:p>
          <a:p>
            <a:pPr lvl="1"/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skiprows</a:t>
            </a:r>
            <a:r>
              <a:rPr lang="fr-FR" sz="1800" dirty="0"/>
              <a:t> </a:t>
            </a:r>
            <a:r>
              <a:rPr lang="fr-FR" sz="1800" dirty="0">
                <a:sym typeface="Wingdings" panose="05000000000000000000" pitchFamily="2" charset="2"/>
              </a:rPr>
              <a:t> skip the first n </a:t>
            </a:r>
            <a:r>
              <a:rPr lang="fr-FR" sz="1800" dirty="0" err="1">
                <a:sym typeface="Wingdings" panose="05000000000000000000" pitchFamily="2" charset="2"/>
              </a:rPr>
              <a:t>rows</a:t>
            </a:r>
            <a:endParaRPr lang="fr-FR" sz="1800" dirty="0"/>
          </a:p>
          <a:p>
            <a:pPr lvl="1"/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nrows</a:t>
            </a:r>
            <a:r>
              <a:rPr lang="fr-FR" sz="1800" dirty="0"/>
              <a:t> </a:t>
            </a:r>
            <a:r>
              <a:rPr lang="fr-FR" sz="1800" dirty="0">
                <a:sym typeface="Wingdings" panose="05000000000000000000" pitchFamily="2" charset="2"/>
              </a:rPr>
              <a:t> </a:t>
            </a:r>
            <a:r>
              <a:rPr lang="fr-FR" sz="1800" dirty="0" err="1">
                <a:sym typeface="Wingdings" panose="05000000000000000000" pitchFamily="2" charset="2"/>
              </a:rPr>
              <a:t>only</a:t>
            </a:r>
            <a:r>
              <a:rPr lang="fr-FR" sz="1800" dirty="0">
                <a:sym typeface="Wingdings" panose="05000000000000000000" pitchFamily="2" charset="2"/>
              </a:rPr>
              <a:t> </a:t>
            </a:r>
            <a:r>
              <a:rPr lang="fr-FR" sz="1800" dirty="0" err="1">
                <a:sym typeface="Wingdings" panose="05000000000000000000" pitchFamily="2" charset="2"/>
              </a:rPr>
              <a:t>read</a:t>
            </a:r>
            <a:r>
              <a:rPr lang="fr-FR" sz="1800" dirty="0">
                <a:sym typeface="Wingdings" panose="05000000000000000000" pitchFamily="2" charset="2"/>
              </a:rPr>
              <a:t> the first n </a:t>
            </a:r>
            <a:r>
              <a:rPr lang="fr-FR" sz="1800" dirty="0" err="1">
                <a:sym typeface="Wingdings" panose="05000000000000000000" pitchFamily="2" charset="2"/>
              </a:rPr>
              <a:t>rows</a:t>
            </a:r>
            <a:r>
              <a:rPr lang="fr-FR" sz="1800" dirty="0">
                <a:sym typeface="Wingdings" panose="05000000000000000000" pitchFamily="2" charset="2"/>
              </a:rPr>
              <a:t> avec the </a:t>
            </a:r>
            <a:r>
              <a:rPr lang="fr-FR" sz="1800" dirty="0" err="1">
                <a:sym typeface="Wingdings" panose="05000000000000000000" pitchFamily="2" charset="2"/>
              </a:rPr>
              <a:t>skipped</a:t>
            </a:r>
            <a:r>
              <a:rPr lang="fr-FR" sz="1800" dirty="0">
                <a:sym typeface="Wingdings" panose="05000000000000000000" pitchFamily="2" charset="2"/>
              </a:rPr>
              <a:t> </a:t>
            </a:r>
            <a:r>
              <a:rPr lang="fr-FR" sz="1800" dirty="0" err="1">
                <a:sym typeface="Wingdings" panose="05000000000000000000" pitchFamily="2" charset="2"/>
              </a:rPr>
              <a:t>rows</a:t>
            </a:r>
            <a:endParaRPr lang="fr-FR" sz="1800" dirty="0">
              <a:sym typeface="Wingdings" panose="05000000000000000000" pitchFamily="2" charset="2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DCFE2F-AD8A-4043-AC55-AE0335BFD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5F4DDE-563B-422B-9B95-ED6CF155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9C64A0-A6F0-4BDA-928D-F578827B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16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ED52BC8-1C3E-48F6-91A2-A761B2E16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1798496"/>
            <a:ext cx="6286500" cy="25717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0368AF7-0DD7-4AAF-8395-DA46AE6A3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2092183"/>
            <a:ext cx="6896100" cy="28575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C56BB81-0373-49C5-B3B6-A41E52DD1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50" y="2471085"/>
            <a:ext cx="5334000" cy="2667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CC7FA35-CAB6-4712-ACD3-68F42B47F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770" y="5353123"/>
            <a:ext cx="11642947" cy="31207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EE444DB-C616-4FBE-A948-D18EBF29C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" y="2930717"/>
            <a:ext cx="9105900" cy="3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04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68F13B-5765-44DC-B6FD-8BD2F0E4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Reading/</a:t>
            </a:r>
            <a:r>
              <a:rPr lang="fr-FR" dirty="0" err="1"/>
              <a:t>writing</a:t>
            </a:r>
            <a:r>
              <a:rPr lang="fr-FR" dirty="0"/>
              <a:t> files: </a:t>
            </a:r>
            <a:r>
              <a:rPr lang="fr-FR" dirty="0" err="1"/>
              <a:t>writing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8F73EB-D8B3-4309-BEA6-EC9917320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514"/>
            <a:ext cx="10515600" cy="742222"/>
          </a:xfrm>
        </p:spPr>
        <p:txBody>
          <a:bodyPr>
            <a:normAutofit/>
          </a:bodyPr>
          <a:lstStyle/>
          <a:p>
            <a:r>
              <a:rPr lang="fr-FR" dirty="0"/>
              <a:t>To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write</a:t>
            </a:r>
            <a:r>
              <a:rPr lang="fr-FR" dirty="0"/>
              <a:t> a file, use </a:t>
            </a:r>
            <a:r>
              <a:rPr lang="fr-FR" dirty="0" err="1"/>
              <a:t>pd.to_format</a:t>
            </a:r>
            <a:r>
              <a:rPr lang="fr-FR" dirty="0"/>
              <a:t>()</a:t>
            </a:r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DCFE2F-AD8A-4043-AC55-AE0335BFD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5F4DDE-563B-422B-9B95-ED6CF155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9C64A0-A6F0-4BDA-928D-F578827B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17</a:t>
            </a:fld>
            <a:endParaRPr lang="en-US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1EEBDFC-66C9-4C31-9C66-A8AA9C9C0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28" y="2286855"/>
            <a:ext cx="8845344" cy="38398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8A5DB37-7066-4270-9244-489BEB870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884" y="3493936"/>
            <a:ext cx="9270456" cy="35655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A562854-7831-4C0E-88A2-8300FCB2B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163" y="4675324"/>
            <a:ext cx="9297898" cy="38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01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7562C3-E782-4BEE-87E9-2FF72717B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I: </a:t>
            </a:r>
            <a:r>
              <a:rPr lang="fr-FR" dirty="0" err="1"/>
              <a:t>Summary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43F8C3-7640-4E31-AA5A-267593590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54C725-F919-440F-BEEB-71D83780C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28A61C-FE54-43F0-87D4-695AF58E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18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001CC32E-CEF9-4A48-B968-B0B9ABC05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0600"/>
            <a:ext cx="10515600" cy="3916363"/>
          </a:xfrm>
        </p:spPr>
        <p:txBody>
          <a:bodyPr/>
          <a:lstStyle/>
          <a:p>
            <a:pPr marL="0" indent="0">
              <a:buNone/>
            </a:pPr>
            <a:r>
              <a:rPr lang="fr-FR" b="1" dirty="0" err="1">
                <a:solidFill>
                  <a:srgbClr val="27A3DC"/>
                </a:solidFill>
              </a:rPr>
              <a:t>pd.Series</a:t>
            </a:r>
            <a:r>
              <a:rPr lang="fr-FR" dirty="0">
                <a:solidFill>
                  <a:srgbClr val="27A3DC"/>
                </a:solidFill>
              </a:rPr>
              <a:t> </a:t>
            </a:r>
            <a:r>
              <a:rPr lang="fr-FR" dirty="0"/>
              <a:t>: one variable </a:t>
            </a:r>
            <a:r>
              <a:rPr lang="fr-FR" dirty="0" err="1"/>
              <a:t>only</a:t>
            </a:r>
            <a:endParaRPr lang="fr-FR" dirty="0"/>
          </a:p>
          <a:p>
            <a:pPr marL="0" indent="0">
              <a:buNone/>
            </a:pPr>
            <a:r>
              <a:rPr lang="fr-FR" b="1" dirty="0" err="1">
                <a:solidFill>
                  <a:srgbClr val="27A3DC"/>
                </a:solidFill>
              </a:rPr>
              <a:t>pd.DataFrame</a:t>
            </a:r>
            <a:r>
              <a:rPr lang="fr-FR" b="1" dirty="0">
                <a:solidFill>
                  <a:srgbClr val="27A3DC"/>
                </a:solidFill>
              </a:rPr>
              <a:t> </a:t>
            </a:r>
            <a:r>
              <a:rPr lang="fr-FR" dirty="0"/>
              <a:t>: multiple variables </a:t>
            </a:r>
            <a:r>
              <a:rPr lang="fr-FR" dirty="0" err="1"/>
              <a:t>aligned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Easy</a:t>
            </a:r>
            <a:r>
              <a:rPr lang="fr-FR" dirty="0"/>
              <a:t> </a:t>
            </a:r>
            <a:r>
              <a:rPr lang="fr-FR" dirty="0" err="1"/>
              <a:t>access</a:t>
            </a:r>
            <a:r>
              <a:rPr lang="fr-FR" dirty="0"/>
              <a:t> to data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b="1" dirty="0"/>
              <a:t>index</a:t>
            </a:r>
            <a:r>
              <a:rPr lang="fr-FR" dirty="0"/>
              <a:t> values</a:t>
            </a:r>
          </a:p>
          <a:p>
            <a:r>
              <a:rPr lang="fr-FR" dirty="0" err="1"/>
              <a:t>Objects</a:t>
            </a:r>
            <a:r>
              <a:rPr lang="fr-FR" dirty="0"/>
              <a:t> are flexible and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b="1" dirty="0" err="1"/>
              <a:t>modified</a:t>
            </a:r>
            <a:endParaRPr lang="fr-FR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423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EEAA23-8FAF-464A-BD24-B0D824A4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I: </a:t>
            </a:r>
            <a:r>
              <a:rPr lang="fr-FR" dirty="0" err="1"/>
              <a:t>Practicals</a:t>
            </a: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ECCBA89-5EAB-46BE-B4C1-11FAEEB8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Go to the jupyter notebook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E46FC8-F97D-4FC3-B5C2-97E518CE0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BA270A-B6D4-4016-A15B-D199084B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A9ACDE-3862-4B83-B484-7583F443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19</a:t>
            </a:fld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DC8EBC2-9478-4733-90A1-8B6F9257E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004" y="1560391"/>
            <a:ext cx="3679181" cy="426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39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AD71FCF-E0B8-41C5-9385-E74F0413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II: First analyses</a:t>
            </a:r>
            <a:endParaRPr lang="en-US" dirty="0"/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8E1E3114-CD12-46E8-822F-E9443D58F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Statistical</a:t>
            </a:r>
            <a:r>
              <a:rPr lang="fr-FR" dirty="0"/>
              <a:t> </a:t>
            </a:r>
            <a:r>
              <a:rPr lang="fr-FR" dirty="0" err="1"/>
              <a:t>operations</a:t>
            </a:r>
            <a:r>
              <a:rPr lang="fr-FR" dirty="0"/>
              <a:t>, </a:t>
            </a:r>
            <a:r>
              <a:rPr lang="fr-FR" dirty="0" err="1"/>
              <a:t>filtering</a:t>
            </a:r>
            <a:r>
              <a:rPr lang="fr-FR" dirty="0"/>
              <a:t>, groups and </a:t>
            </a:r>
            <a:r>
              <a:rPr lang="fr-FR" dirty="0" err="1"/>
              <a:t>others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E22A4E-DF78-4BCD-8A71-7426C570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6503AF-CEBF-4D80-82C0-EA3A5848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8C7CE6-EEAA-4B97-80E2-EB5644FC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9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5999FFB4-9BCC-4AC8-92AF-AD057FC9F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43" y="1955352"/>
            <a:ext cx="4172532" cy="3210373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60F6D862-080C-4224-B954-D708194E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Filter</a:t>
            </a:r>
            <a:r>
              <a:rPr lang="fr-FR" dirty="0"/>
              <a:t>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599F27-AFCB-4E69-879F-F3C2D57C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166565-DA5D-4EF4-B38B-9471CABD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686F45-E6BD-4337-A8D6-EBCFC0E8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21</a:t>
            </a:fld>
            <a:endParaRPr lang="en-US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112D115E-EA97-4062-8712-EE9C0653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0074" y="1107348"/>
            <a:ext cx="6539458" cy="481058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dirty="0"/>
              <a:t>Data </a:t>
            </a:r>
            <a:r>
              <a:rPr lang="fr-FR" dirty="0" err="1"/>
              <a:t>where</a:t>
            </a:r>
            <a:r>
              <a:rPr lang="fr-FR" dirty="0"/>
              <a:t> </a:t>
            </a:r>
            <a:r>
              <a:rPr lang="fr-FR" dirty="0" err="1"/>
              <a:t>mean</a:t>
            </a:r>
            <a:r>
              <a:rPr lang="fr-FR" dirty="0"/>
              <a:t> radius &gt; 1000km?</a:t>
            </a:r>
          </a:p>
          <a:p>
            <a:pPr lvl="1">
              <a:lnSpc>
                <a:spcPct val="100000"/>
              </a:lnSpc>
            </a:pPr>
            <a:endParaRPr lang="fr-FR" dirty="0"/>
          </a:p>
          <a:p>
            <a:pPr lvl="1">
              <a:lnSpc>
                <a:spcPct val="100000"/>
              </a:lnSpc>
            </a:pP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Extracting</a:t>
            </a:r>
            <a:r>
              <a:rPr lang="fr-FR" dirty="0"/>
              <a:t> data</a:t>
            </a:r>
          </a:p>
          <a:p>
            <a:pPr>
              <a:lnSpc>
                <a:spcPct val="100000"/>
              </a:lnSpc>
            </a:pPr>
            <a:endParaRPr lang="fr-FR" dirty="0"/>
          </a:p>
          <a:p>
            <a:pPr lvl="1">
              <a:lnSpc>
                <a:spcPct val="100000"/>
              </a:lnSpc>
            </a:pPr>
            <a:endParaRPr lang="fr-FR" dirty="0"/>
          </a:p>
          <a:p>
            <a:pPr marL="457200" lvl="1" indent="0">
              <a:lnSpc>
                <a:spcPct val="100000"/>
              </a:lnSpc>
              <a:buNone/>
            </a:pPr>
            <a:endParaRPr lang="fr-FR" dirty="0"/>
          </a:p>
          <a:p>
            <a:pPr lvl="1">
              <a:lnSpc>
                <a:spcPct val="100000"/>
              </a:lnSpc>
            </a:pP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Masking</a:t>
            </a:r>
            <a:r>
              <a:rPr lang="fr-FR" dirty="0"/>
              <a:t> data</a:t>
            </a:r>
          </a:p>
          <a:p>
            <a:pPr>
              <a:lnSpc>
                <a:spcPct val="100000"/>
              </a:lnSpc>
            </a:pPr>
            <a:endParaRPr lang="fr-FR" dirty="0"/>
          </a:p>
          <a:p>
            <a:pPr marL="457200" lvl="1" indent="0">
              <a:lnSpc>
                <a:spcPct val="100000"/>
              </a:lnSpc>
              <a:buNone/>
            </a:pPr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4D1E0F-02D2-464D-B0A4-556C80B851B4}"/>
              </a:ext>
            </a:extLst>
          </p:cNvPr>
          <p:cNvSpPr/>
          <p:nvPr/>
        </p:nvSpPr>
        <p:spPr>
          <a:xfrm>
            <a:off x="382124" y="3483700"/>
            <a:ext cx="3923471" cy="171926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1EEB05-C13E-438A-B823-83AC69E2CBBC}"/>
              </a:ext>
            </a:extLst>
          </p:cNvPr>
          <p:cNvSpPr/>
          <p:nvPr/>
        </p:nvSpPr>
        <p:spPr>
          <a:xfrm>
            <a:off x="367835" y="3295850"/>
            <a:ext cx="3923471" cy="171926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6085D025-633B-4DDB-845C-24EB1DC15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803" y="1976000"/>
            <a:ext cx="3505689" cy="1705213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BCEAFBAB-8E57-4455-9E3B-5165D41D0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803" y="3814217"/>
            <a:ext cx="3658111" cy="160995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469A2D8-10A9-4330-BE04-9FEF6F42B3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803" y="5698741"/>
            <a:ext cx="2199315" cy="44623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9914013-535A-47EE-9D89-1147835A97C3}"/>
              </a:ext>
            </a:extLst>
          </p:cNvPr>
          <p:cNvSpPr/>
          <p:nvPr/>
        </p:nvSpPr>
        <p:spPr>
          <a:xfrm>
            <a:off x="3409849" y="5675476"/>
            <a:ext cx="47435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400" dirty="0" err="1"/>
              <a:t>Remove</a:t>
            </a:r>
            <a:r>
              <a:rPr lang="fr-FR" sz="2400" dirty="0"/>
              <a:t> </a:t>
            </a:r>
            <a:r>
              <a:rPr lang="fr-FR" sz="2400" dirty="0" err="1"/>
              <a:t>rows</a:t>
            </a:r>
            <a:r>
              <a:rPr lang="fr-FR" sz="2400" dirty="0"/>
              <a:t>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contain</a:t>
            </a:r>
            <a:r>
              <a:rPr lang="fr-FR" sz="2400" dirty="0"/>
              <a:t> </a:t>
            </a:r>
            <a:r>
              <a:rPr lang="fr-FR" sz="2400" b="1" dirty="0"/>
              <a:t>nans</a:t>
            </a:r>
          </a:p>
        </p:txBody>
      </p:sp>
    </p:spTree>
    <p:extLst>
      <p:ext uri="{BB962C8B-B14F-4D97-AF65-F5344CB8AC3E}">
        <p14:creationId xmlns:p14="http://schemas.microsoft.com/office/powerpoint/2010/main" val="212504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3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0F6D862-080C-4224-B954-D708194E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Filter</a:t>
            </a:r>
            <a:r>
              <a:rPr lang="fr-FR" dirty="0"/>
              <a:t>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599F27-AFCB-4E69-879F-F3C2D57C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166565-DA5D-4EF4-B38B-9471CABD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686F45-E6BD-4337-A8D6-EBCFC0E8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22</a:t>
            </a:fld>
            <a:endParaRPr lang="en-US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112D115E-EA97-4062-8712-EE9C0653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485" y="1253332"/>
            <a:ext cx="10515600" cy="5393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b="1" dirty="0" err="1"/>
              <a:t>Multiconditions</a:t>
            </a:r>
            <a:r>
              <a:rPr lang="fr-FR" b="1" dirty="0"/>
              <a:t>: </a:t>
            </a:r>
            <a:endParaRPr lang="fr-FR" dirty="0"/>
          </a:p>
          <a:p>
            <a:pPr marL="457200" lvl="1" indent="0">
              <a:lnSpc>
                <a:spcPct val="100000"/>
              </a:lnSpc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46DF6FE-CAF1-4895-96B0-CE7B2CECC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85" y="2581986"/>
            <a:ext cx="4787169" cy="276789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EFE7AFD-2BDD-41A2-A277-7506E95F0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826" y="2581985"/>
            <a:ext cx="4767974" cy="276788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7972E52-9596-4DFA-9970-4549DBB1D54F}"/>
              </a:ext>
            </a:extLst>
          </p:cNvPr>
          <p:cNvSpPr/>
          <p:nvPr/>
        </p:nvSpPr>
        <p:spPr>
          <a:xfrm>
            <a:off x="1236525" y="2194214"/>
            <a:ext cx="37970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AND: &amp;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A1DAFD-2E9F-4D2B-9AAD-B01A9795CE75}"/>
              </a:ext>
            </a:extLst>
          </p:cNvPr>
          <p:cNvSpPr/>
          <p:nvPr/>
        </p:nvSpPr>
        <p:spPr>
          <a:xfrm>
            <a:off x="7071269" y="2194214"/>
            <a:ext cx="37970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OR: |</a:t>
            </a:r>
          </a:p>
        </p:txBody>
      </p:sp>
    </p:spTree>
    <p:extLst>
      <p:ext uri="{BB962C8B-B14F-4D97-AF65-F5344CB8AC3E}">
        <p14:creationId xmlns:p14="http://schemas.microsoft.com/office/powerpoint/2010/main" val="1892805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D4EE53-0180-403D-837E-73A77AEA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Numpy</a:t>
            </a:r>
            <a:r>
              <a:rPr lang="fr-FR" dirty="0"/>
              <a:t>-like </a:t>
            </a:r>
            <a:r>
              <a:rPr lang="fr-FR" dirty="0" err="1"/>
              <a:t>operations</a:t>
            </a:r>
            <a:r>
              <a:rPr lang="fr-FR" dirty="0"/>
              <a:t>: </a:t>
            </a:r>
            <a:r>
              <a:rPr lang="fr-FR" sz="2400" dirty="0"/>
              <a:t>how to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330D70-72A3-4A79-93EE-871A97F9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F228E3-892B-4FE6-81C3-7F02329A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4DE8B9-178C-4542-823C-3F997D76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23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F1300DE3-1EFC-490D-B479-195B50891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357" y="1528011"/>
            <a:ext cx="5891463" cy="4076658"/>
          </a:xfrm>
        </p:spPr>
        <p:txBody>
          <a:bodyPr>
            <a:normAutofit lnSpcReduction="10000"/>
          </a:bodyPr>
          <a:lstStyle/>
          <a:p>
            <a:r>
              <a:rPr lang="fr-FR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Operation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on one </a:t>
            </a:r>
            <a:r>
              <a:rPr lang="fr-FR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series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: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series.mean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>
              <a:latin typeface="+mj-lt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endParaRPr lang="fr-FR" dirty="0">
              <a:latin typeface="+mj-lt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fr-FR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Operation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between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aligned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series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: 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series1 + series2</a:t>
            </a:r>
            <a:endParaRPr lang="fr-FR" dirty="0"/>
          </a:p>
          <a:p>
            <a:endParaRPr lang="fr-FR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6D820DE6-59B7-4E13-9D51-E3D2AE03ADA9}"/>
              </a:ext>
            </a:extLst>
          </p:cNvPr>
          <p:cNvSpPr txBox="1">
            <a:spLocks/>
          </p:cNvSpPr>
          <p:nvPr/>
        </p:nvSpPr>
        <p:spPr>
          <a:xfrm>
            <a:off x="5630780" y="1968717"/>
            <a:ext cx="5702643" cy="545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Works on </a:t>
            </a:r>
            <a:r>
              <a:rPr lang="fr-FR" b="1" dirty="0" err="1"/>
              <a:t>Series</a:t>
            </a:r>
            <a:r>
              <a:rPr lang="fr-FR" dirty="0"/>
              <a:t> and </a:t>
            </a:r>
            <a:r>
              <a:rPr lang="fr-FR" b="1" dirty="0" err="1"/>
              <a:t>Dataframe</a:t>
            </a:r>
            <a:endParaRPr lang="fr-FR" b="1" dirty="0"/>
          </a:p>
          <a:p>
            <a:pPr lvl="1"/>
            <a:endParaRPr lang="fr-FR" dirty="0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4BE7BA89-8DD6-40E3-93EC-98608FE628AD}"/>
              </a:ext>
            </a:extLst>
          </p:cNvPr>
          <p:cNvSpPr txBox="1">
            <a:spLocks/>
          </p:cNvSpPr>
          <p:nvPr/>
        </p:nvSpPr>
        <p:spPr>
          <a:xfrm>
            <a:off x="5630780" y="1410366"/>
            <a:ext cx="6356684" cy="545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Ignores nans by default </a:t>
            </a:r>
            <a:r>
              <a:rPr lang="fr-FR" dirty="0" err="1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np.nanmean</a:t>
            </a:r>
            <a:endParaRPr lang="fr-FR" dirty="0">
              <a:solidFill>
                <a:schemeClr val="accent2">
                  <a:lumMod val="75000"/>
                </a:schemeClr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lvl="1"/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8242BD4-9CD1-4365-B147-BC6753E4C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47" y="2664405"/>
            <a:ext cx="2693752" cy="100169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2FA1343-A8D9-49F6-BA6E-AE41276AF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539" y="2639036"/>
            <a:ext cx="4763165" cy="170521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9B4A1B3-0171-4CF2-ACE6-FBFBD1E0E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347" y="5423832"/>
            <a:ext cx="3469860" cy="50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59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D4EE53-0180-403D-837E-73A77AEA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Numpy</a:t>
            </a:r>
            <a:r>
              <a:rPr lang="fr-FR" dirty="0"/>
              <a:t>-like </a:t>
            </a:r>
            <a:r>
              <a:rPr lang="fr-FR" dirty="0" err="1"/>
              <a:t>operations</a:t>
            </a:r>
            <a:r>
              <a:rPr lang="fr-FR" dirty="0"/>
              <a:t>: </a:t>
            </a:r>
            <a:r>
              <a:rPr lang="fr-FR" sz="2400" dirty="0" err="1"/>
              <a:t>examples</a:t>
            </a:r>
            <a:r>
              <a:rPr lang="fr-FR" sz="2400" dirty="0"/>
              <a:t> of </a:t>
            </a:r>
            <a:r>
              <a:rPr lang="fr-FR" sz="2400" dirty="0" err="1"/>
              <a:t>existing</a:t>
            </a:r>
            <a:r>
              <a:rPr lang="fr-FR" sz="2400" dirty="0"/>
              <a:t> </a:t>
            </a:r>
            <a:r>
              <a:rPr lang="fr-FR" sz="2400" dirty="0" err="1"/>
              <a:t>operations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330D70-72A3-4A79-93EE-871A97F9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F228E3-892B-4FE6-81C3-7F02329A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4DE8B9-178C-4542-823C-3F997D76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24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F1300DE3-1EFC-490D-B479-195B50891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40" y="1107348"/>
            <a:ext cx="11481920" cy="40980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fr-FR" sz="2400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Statistical</a:t>
            </a:r>
            <a:r>
              <a:rPr lang="fr-FR" sz="2400" b="1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sz="2400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operations</a:t>
            </a:r>
            <a:r>
              <a:rPr lang="fr-FR" sz="2400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sz="2400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returning</a:t>
            </a:r>
            <a:r>
              <a:rPr lang="fr-FR" sz="2400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one </a:t>
            </a:r>
            <a:r>
              <a:rPr lang="fr-FR" sz="2400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metric</a:t>
            </a:r>
            <a:endParaRPr lang="fr-FR" sz="2400" dirty="0">
              <a:latin typeface="+mj-lt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457200" lvl="1" indent="0">
              <a:buNone/>
            </a:pPr>
            <a:endParaRPr lang="fr-FR" sz="2000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A8354A56-8883-45E8-9820-D7EF8A318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763023"/>
              </p:ext>
            </p:extLst>
          </p:nvPr>
        </p:nvGraphicFramePr>
        <p:xfrm>
          <a:off x="355040" y="1574017"/>
          <a:ext cx="11481920" cy="174376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86636">
                  <a:extLst>
                    <a:ext uri="{9D8B030D-6E8A-4147-A177-3AD203B41FA5}">
                      <a16:colId xmlns:a16="http://schemas.microsoft.com/office/drawing/2014/main" val="1347571733"/>
                    </a:ext>
                  </a:extLst>
                </a:gridCol>
                <a:gridCol w="1783844">
                  <a:extLst>
                    <a:ext uri="{9D8B030D-6E8A-4147-A177-3AD203B41FA5}">
                      <a16:colId xmlns:a16="http://schemas.microsoft.com/office/drawing/2014/main" val="178530308"/>
                    </a:ext>
                  </a:extLst>
                </a:gridCol>
                <a:gridCol w="1091703">
                  <a:extLst>
                    <a:ext uri="{9D8B030D-6E8A-4147-A177-3AD203B41FA5}">
                      <a16:colId xmlns:a16="http://schemas.microsoft.com/office/drawing/2014/main" val="3625481046"/>
                    </a:ext>
                  </a:extLst>
                </a:gridCol>
                <a:gridCol w="1778777">
                  <a:extLst>
                    <a:ext uri="{9D8B030D-6E8A-4147-A177-3AD203B41FA5}">
                      <a16:colId xmlns:a16="http://schemas.microsoft.com/office/drawing/2014/main" val="2632428218"/>
                    </a:ext>
                  </a:extLst>
                </a:gridCol>
                <a:gridCol w="1048644">
                  <a:extLst>
                    <a:ext uri="{9D8B030D-6E8A-4147-A177-3AD203B41FA5}">
                      <a16:colId xmlns:a16="http://schemas.microsoft.com/office/drawing/2014/main" val="1077026398"/>
                    </a:ext>
                  </a:extLst>
                </a:gridCol>
                <a:gridCol w="1821836">
                  <a:extLst>
                    <a:ext uri="{9D8B030D-6E8A-4147-A177-3AD203B41FA5}">
                      <a16:colId xmlns:a16="http://schemas.microsoft.com/office/drawing/2014/main" val="3466890400"/>
                    </a:ext>
                  </a:extLst>
                </a:gridCol>
                <a:gridCol w="1125901">
                  <a:extLst>
                    <a:ext uri="{9D8B030D-6E8A-4147-A177-3AD203B41FA5}">
                      <a16:colId xmlns:a16="http://schemas.microsoft.com/office/drawing/2014/main" val="2127437646"/>
                    </a:ext>
                  </a:extLst>
                </a:gridCol>
                <a:gridCol w="1744579">
                  <a:extLst>
                    <a:ext uri="{9D8B030D-6E8A-4147-A177-3AD203B41FA5}">
                      <a16:colId xmlns:a16="http://schemas.microsoft.com/office/drawing/2014/main" val="2019765383"/>
                    </a:ext>
                  </a:extLst>
                </a:gridCol>
              </a:tblGrid>
              <a:tr h="581254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mean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Mean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value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min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Lowest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value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max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Highest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value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median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Median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value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315719"/>
                  </a:ext>
                </a:extLst>
              </a:tr>
              <a:tr h="581254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count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Number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of non nan values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skew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Skewness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of the </a:t>
                      </a:r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series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kurt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Kurtosis of the </a:t>
                      </a:r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series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mode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Mode of the </a:t>
                      </a:r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series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370503"/>
                  </a:ext>
                </a:extLst>
              </a:tr>
              <a:tr h="581254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var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Variance of the </a:t>
                      </a:r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series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quantile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Find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quantiles 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sum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Sum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all </a:t>
                      </a:r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elements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in the </a:t>
                      </a:r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series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std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Standard </a:t>
                      </a:r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deviation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218917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26E2C19-4DBA-493A-AE8B-5328B3CEB2F6}"/>
              </a:ext>
            </a:extLst>
          </p:cNvPr>
          <p:cNvSpPr/>
          <p:nvPr/>
        </p:nvSpPr>
        <p:spPr>
          <a:xfrm>
            <a:off x="990600" y="-3043120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fr-FR" dirty="0"/>
          </a:p>
          <a:p>
            <a:pPr lvl="1"/>
            <a:r>
              <a:rPr lang="fr-FR" dirty="0" err="1"/>
              <a:t>mean</a:t>
            </a:r>
            <a:endParaRPr lang="fr-FR" dirty="0"/>
          </a:p>
          <a:p>
            <a:pPr lvl="1"/>
            <a:r>
              <a:rPr lang="fr-FR" dirty="0" err="1"/>
              <a:t>sum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min(), max()</a:t>
            </a:r>
          </a:p>
          <a:p>
            <a:pPr lvl="1"/>
            <a:r>
              <a:rPr lang="fr-FR" dirty="0" err="1"/>
              <a:t>median</a:t>
            </a:r>
            <a:r>
              <a:rPr lang="fr-FR" dirty="0"/>
              <a:t>()</a:t>
            </a:r>
          </a:p>
          <a:p>
            <a:pPr lvl="1"/>
            <a:r>
              <a:rPr lang="fr-FR" dirty="0" err="1"/>
              <a:t>idxmax</a:t>
            </a:r>
            <a:r>
              <a:rPr lang="fr-FR" dirty="0"/>
              <a:t>(), </a:t>
            </a:r>
            <a:r>
              <a:rPr lang="fr-FR" dirty="0" err="1"/>
              <a:t>idxmin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quantile([q1,q2, … ])</a:t>
            </a:r>
          </a:p>
          <a:p>
            <a:pPr lvl="1"/>
            <a:r>
              <a:rPr lang="fr-FR" dirty="0"/>
              <a:t>count() </a:t>
            </a:r>
            <a:r>
              <a:rPr lang="fr-FR" dirty="0">
                <a:sym typeface="Wingdings" panose="05000000000000000000" pitchFamily="2" charset="2"/>
              </a:rPr>
              <a:t> non nan values</a:t>
            </a:r>
            <a:endParaRPr lang="fr-FR" dirty="0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9AA5E4B0-2271-4FF6-BD74-14E0B7449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162370"/>
              </p:ext>
            </p:extLst>
          </p:nvPr>
        </p:nvGraphicFramePr>
        <p:xfrm>
          <a:off x="355040" y="4012725"/>
          <a:ext cx="11481920" cy="53086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86636">
                  <a:extLst>
                    <a:ext uri="{9D8B030D-6E8A-4147-A177-3AD203B41FA5}">
                      <a16:colId xmlns:a16="http://schemas.microsoft.com/office/drawing/2014/main" val="438292287"/>
                    </a:ext>
                  </a:extLst>
                </a:gridCol>
                <a:gridCol w="1783844">
                  <a:extLst>
                    <a:ext uri="{9D8B030D-6E8A-4147-A177-3AD203B41FA5}">
                      <a16:colId xmlns:a16="http://schemas.microsoft.com/office/drawing/2014/main" val="1609252107"/>
                    </a:ext>
                  </a:extLst>
                </a:gridCol>
                <a:gridCol w="1091703">
                  <a:extLst>
                    <a:ext uri="{9D8B030D-6E8A-4147-A177-3AD203B41FA5}">
                      <a16:colId xmlns:a16="http://schemas.microsoft.com/office/drawing/2014/main" val="2233351167"/>
                    </a:ext>
                  </a:extLst>
                </a:gridCol>
                <a:gridCol w="1778777">
                  <a:extLst>
                    <a:ext uri="{9D8B030D-6E8A-4147-A177-3AD203B41FA5}">
                      <a16:colId xmlns:a16="http://schemas.microsoft.com/office/drawing/2014/main" val="1500451198"/>
                    </a:ext>
                  </a:extLst>
                </a:gridCol>
                <a:gridCol w="1048644">
                  <a:extLst>
                    <a:ext uri="{9D8B030D-6E8A-4147-A177-3AD203B41FA5}">
                      <a16:colId xmlns:a16="http://schemas.microsoft.com/office/drawing/2014/main" val="3556953551"/>
                    </a:ext>
                  </a:extLst>
                </a:gridCol>
                <a:gridCol w="1821836">
                  <a:extLst>
                    <a:ext uri="{9D8B030D-6E8A-4147-A177-3AD203B41FA5}">
                      <a16:colId xmlns:a16="http://schemas.microsoft.com/office/drawing/2014/main" val="1684053899"/>
                    </a:ext>
                  </a:extLst>
                </a:gridCol>
                <a:gridCol w="1125901">
                  <a:extLst>
                    <a:ext uri="{9D8B030D-6E8A-4147-A177-3AD203B41FA5}">
                      <a16:colId xmlns:a16="http://schemas.microsoft.com/office/drawing/2014/main" val="49195974"/>
                    </a:ext>
                  </a:extLst>
                </a:gridCol>
                <a:gridCol w="1744579">
                  <a:extLst>
                    <a:ext uri="{9D8B030D-6E8A-4147-A177-3AD203B41FA5}">
                      <a16:colId xmlns:a16="http://schemas.microsoft.com/office/drawing/2014/main" val="1991737828"/>
                    </a:ext>
                  </a:extLst>
                </a:gridCol>
              </a:tblGrid>
              <a:tr h="530867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rank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Ranks</a:t>
                      </a:r>
                      <a:r>
                        <a:rPr lang="fr-FR" sz="12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</a:t>
                      </a:r>
                      <a:r>
                        <a:rPr lang="fr-FR" sz="12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each</a:t>
                      </a:r>
                      <a:r>
                        <a:rPr lang="fr-FR" sz="12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</a:t>
                      </a:r>
                      <a:r>
                        <a:rPr lang="fr-FR" sz="12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elements</a:t>
                      </a:r>
                      <a:r>
                        <a:rPr lang="fr-FR" sz="12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in the </a:t>
                      </a:r>
                      <a:r>
                        <a:rPr lang="fr-FR" sz="12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series</a:t>
                      </a:r>
                      <a:endParaRPr lang="en-US" sz="12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unique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Returns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unique values of </a:t>
                      </a:r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elements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cumsum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Cumulative </a:t>
                      </a:r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sum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of the </a:t>
                      </a:r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elemens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cumprod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Cumulative </a:t>
                      </a:r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product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of the </a:t>
                      </a:r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elements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6942012"/>
                  </a:ext>
                </a:extLst>
              </a:tr>
            </a:tbl>
          </a:graphicData>
        </a:graphic>
      </p:graphicFrame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88D3DCEB-429B-4941-BE78-424BB6911735}"/>
              </a:ext>
            </a:extLst>
          </p:cNvPr>
          <p:cNvSpPr txBox="1">
            <a:spLocks/>
          </p:cNvSpPr>
          <p:nvPr/>
        </p:nvSpPr>
        <p:spPr>
          <a:xfrm>
            <a:off x="355040" y="3602921"/>
            <a:ext cx="11481920" cy="4098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2400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Some</a:t>
            </a:r>
            <a:r>
              <a:rPr lang="fr-FR" sz="2400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sz="2400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operations</a:t>
            </a:r>
            <a:r>
              <a:rPr lang="fr-FR" sz="2400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sz="2400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returning</a:t>
            </a:r>
            <a:r>
              <a:rPr lang="fr-FR" sz="2400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multiple</a:t>
            </a:r>
            <a:r>
              <a:rPr lang="fr-FR" sz="2400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values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fr-FR" sz="2000" dirty="0"/>
          </a:p>
        </p:txBody>
      </p: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BBC4BCED-6242-4631-9559-3444C246A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367428"/>
              </p:ext>
            </p:extLst>
          </p:nvPr>
        </p:nvGraphicFramePr>
        <p:xfrm>
          <a:off x="355040" y="5401501"/>
          <a:ext cx="11481920" cy="58333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86636">
                  <a:extLst>
                    <a:ext uri="{9D8B030D-6E8A-4147-A177-3AD203B41FA5}">
                      <a16:colId xmlns:a16="http://schemas.microsoft.com/office/drawing/2014/main" val="438292287"/>
                    </a:ext>
                  </a:extLst>
                </a:gridCol>
                <a:gridCol w="1783844">
                  <a:extLst>
                    <a:ext uri="{9D8B030D-6E8A-4147-A177-3AD203B41FA5}">
                      <a16:colId xmlns:a16="http://schemas.microsoft.com/office/drawing/2014/main" val="1609252107"/>
                    </a:ext>
                  </a:extLst>
                </a:gridCol>
                <a:gridCol w="1091703">
                  <a:extLst>
                    <a:ext uri="{9D8B030D-6E8A-4147-A177-3AD203B41FA5}">
                      <a16:colId xmlns:a16="http://schemas.microsoft.com/office/drawing/2014/main" val="2233351167"/>
                    </a:ext>
                  </a:extLst>
                </a:gridCol>
                <a:gridCol w="1778777">
                  <a:extLst>
                    <a:ext uri="{9D8B030D-6E8A-4147-A177-3AD203B41FA5}">
                      <a16:colId xmlns:a16="http://schemas.microsoft.com/office/drawing/2014/main" val="1500451198"/>
                    </a:ext>
                  </a:extLst>
                </a:gridCol>
                <a:gridCol w="1048644">
                  <a:extLst>
                    <a:ext uri="{9D8B030D-6E8A-4147-A177-3AD203B41FA5}">
                      <a16:colId xmlns:a16="http://schemas.microsoft.com/office/drawing/2014/main" val="3556953551"/>
                    </a:ext>
                  </a:extLst>
                </a:gridCol>
                <a:gridCol w="1821836">
                  <a:extLst>
                    <a:ext uri="{9D8B030D-6E8A-4147-A177-3AD203B41FA5}">
                      <a16:colId xmlns:a16="http://schemas.microsoft.com/office/drawing/2014/main" val="1684053899"/>
                    </a:ext>
                  </a:extLst>
                </a:gridCol>
                <a:gridCol w="1125901">
                  <a:extLst>
                    <a:ext uri="{9D8B030D-6E8A-4147-A177-3AD203B41FA5}">
                      <a16:colId xmlns:a16="http://schemas.microsoft.com/office/drawing/2014/main" val="49195974"/>
                    </a:ext>
                  </a:extLst>
                </a:gridCol>
                <a:gridCol w="1744579">
                  <a:extLst>
                    <a:ext uri="{9D8B030D-6E8A-4147-A177-3AD203B41FA5}">
                      <a16:colId xmlns:a16="http://schemas.microsoft.com/office/drawing/2014/main" val="1991737828"/>
                    </a:ext>
                  </a:extLst>
                </a:gridCol>
              </a:tblGrid>
              <a:tr h="583332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idxmin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Get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the </a:t>
                      </a:r>
                      <a:r>
                        <a:rPr lang="fr-FR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index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of the minimum value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idxmax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kern="1200" dirty="0" err="1">
                          <a:solidFill>
                            <a:schemeClr val="dk1"/>
                          </a:solidFill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Get</a:t>
                      </a:r>
                      <a:r>
                        <a:rPr lang="fr-FR" sz="1400" b="0" kern="1200" dirty="0">
                          <a:solidFill>
                            <a:schemeClr val="dk1"/>
                          </a:solidFill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the </a:t>
                      </a:r>
                      <a:r>
                        <a:rPr lang="fr-FR" sz="14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index</a:t>
                      </a:r>
                      <a:r>
                        <a:rPr lang="fr-FR" sz="1400" b="0" kern="1200" dirty="0">
                          <a:solidFill>
                            <a:schemeClr val="dk1"/>
                          </a:solidFill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of the maximum value</a:t>
                      </a:r>
                      <a:endParaRPr lang="en-US" sz="1400" b="0" kern="1200" dirty="0">
                        <a:solidFill>
                          <a:schemeClr val="dk1"/>
                        </a:solidFill>
                        <a:latin typeface="+mn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argmin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 err="1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Get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the </a:t>
                      </a:r>
                      <a:r>
                        <a:rPr lang="fr-FR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position</a:t>
                      </a:r>
                      <a:r>
                        <a:rPr lang="fr-FR" sz="1400" b="0" dirty="0">
                          <a:latin typeface="+mj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of the minimum value</a:t>
                      </a:r>
                      <a:endParaRPr lang="en-US" sz="1400" b="0" dirty="0">
                        <a:latin typeface="+mj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argmax</a:t>
                      </a:r>
                      <a:endParaRPr lang="en-US" sz="1400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kern="1200" dirty="0" err="1">
                          <a:solidFill>
                            <a:schemeClr val="dk1"/>
                          </a:solidFill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Get</a:t>
                      </a:r>
                      <a:r>
                        <a:rPr lang="fr-FR" sz="1400" b="0" kern="1200" dirty="0">
                          <a:solidFill>
                            <a:schemeClr val="dk1"/>
                          </a:solidFill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the </a:t>
                      </a:r>
                      <a:r>
                        <a:rPr lang="fr-FR" sz="14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position</a:t>
                      </a:r>
                      <a:r>
                        <a:rPr lang="fr-FR" sz="1400" b="0" kern="1200" dirty="0">
                          <a:solidFill>
                            <a:schemeClr val="dk1"/>
                          </a:solidFill>
                          <a:latin typeface="+mn-lt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of the maximum value</a:t>
                      </a:r>
                      <a:endParaRPr lang="en-US" sz="1400" b="0" kern="1200" dirty="0">
                        <a:solidFill>
                          <a:schemeClr val="dk1"/>
                        </a:solidFill>
                        <a:latin typeface="+mn-lt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6942012"/>
                  </a:ext>
                </a:extLst>
              </a:tr>
            </a:tbl>
          </a:graphicData>
        </a:graphic>
      </p:graphicFrame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827E9A41-AB46-426A-9BD0-ABAAF6DDFB6F}"/>
              </a:ext>
            </a:extLst>
          </p:cNvPr>
          <p:cNvSpPr txBox="1">
            <a:spLocks/>
          </p:cNvSpPr>
          <p:nvPr/>
        </p:nvSpPr>
        <p:spPr>
          <a:xfrm>
            <a:off x="355040" y="4991697"/>
            <a:ext cx="11481920" cy="4098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Get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location </a:t>
            </a:r>
            <a:r>
              <a:rPr lang="fr-FR" sz="2400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of </a:t>
            </a:r>
            <a:r>
              <a:rPr lang="fr-FR" sz="2400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specific</a:t>
            </a:r>
            <a:r>
              <a:rPr lang="fr-FR" sz="2400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sz="2400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elements</a:t>
            </a:r>
            <a:endParaRPr lang="fr-FR" sz="2400" dirty="0">
              <a:latin typeface="+mj-lt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205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D4EE53-0180-403D-837E-73A77AEA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Custom and multiple </a:t>
            </a:r>
            <a:r>
              <a:rPr lang="fr-FR" dirty="0" err="1"/>
              <a:t>aggregations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330D70-72A3-4A79-93EE-871A97F9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F228E3-892B-4FE6-81C3-7F02329A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4DE8B9-178C-4542-823C-3F997D76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25</a:t>
            </a:fld>
            <a:endParaRPr lang="en-US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64B5B61-1A9E-48E1-9125-C2716D001B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0"/>
          <a:stretch/>
        </p:blipFill>
        <p:spPr>
          <a:xfrm>
            <a:off x="709862" y="3832810"/>
            <a:ext cx="4661043" cy="212266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AD36064-2ED4-4C81-8D0D-CC9D1F14A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68" y="1593884"/>
            <a:ext cx="5315647" cy="1603666"/>
          </a:xfrm>
          <a:prstGeom prst="rect">
            <a:avLst/>
          </a:prstGeom>
        </p:spPr>
      </p:pic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E097EC4C-80B7-4BE3-80DD-994C3E7612B1}"/>
              </a:ext>
            </a:extLst>
          </p:cNvPr>
          <p:cNvSpPr txBox="1">
            <a:spLocks/>
          </p:cNvSpPr>
          <p:nvPr/>
        </p:nvSpPr>
        <p:spPr>
          <a:xfrm>
            <a:off x="563344" y="1107348"/>
            <a:ext cx="5702643" cy="545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Apply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custom</a:t>
            </a:r>
            <a:r>
              <a:rPr lang="fr-FR" dirty="0"/>
              <a:t> </a:t>
            </a:r>
            <a:r>
              <a:rPr lang="fr-FR" dirty="0" err="1"/>
              <a:t>function</a:t>
            </a:r>
            <a:endParaRPr lang="fr-FR" dirty="0"/>
          </a:p>
          <a:p>
            <a:pPr lvl="1"/>
            <a:endParaRPr lang="fr-FR" dirty="0"/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165F0762-ED02-4ECF-AF97-9C64C98DF65D}"/>
              </a:ext>
            </a:extLst>
          </p:cNvPr>
          <p:cNvSpPr txBox="1">
            <a:spLocks/>
          </p:cNvSpPr>
          <p:nvPr/>
        </p:nvSpPr>
        <p:spPr>
          <a:xfrm>
            <a:off x="610368" y="3325908"/>
            <a:ext cx="5702643" cy="545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Apply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multiple</a:t>
            </a:r>
            <a:r>
              <a:rPr lang="fr-FR" dirty="0"/>
              <a:t> </a:t>
            </a:r>
            <a:r>
              <a:rPr lang="fr-FR" dirty="0" err="1"/>
              <a:t>functions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agg</a:t>
            </a:r>
            <a:endParaRPr lang="fr-FR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lvl="1"/>
            <a:endParaRPr lang="fr-FR" dirty="0"/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043BE818-0C53-4A24-A5BF-990362DCAA4A}"/>
              </a:ext>
            </a:extLst>
          </p:cNvPr>
          <p:cNvSpPr txBox="1">
            <a:spLocks/>
          </p:cNvSpPr>
          <p:nvPr/>
        </p:nvSpPr>
        <p:spPr>
          <a:xfrm>
            <a:off x="7453715" y="1652383"/>
            <a:ext cx="4275224" cy="545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Implemented</a:t>
            </a:r>
            <a:r>
              <a:rPr lang="fr-FR" dirty="0"/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describe</a:t>
            </a:r>
            <a:endParaRPr lang="fr-FR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lvl="1"/>
            <a:endParaRPr lang="fr-FR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7E874AE2-68C9-4B0C-BBE7-605988ABA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982" y="2314748"/>
            <a:ext cx="4048690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61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55670A-8562-4A07-8A3B-58649AF03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800" dirty="0">
                <a:solidFill>
                  <a:srgbClr val="FF0000"/>
                </a:solidFill>
              </a:rPr>
              <a:t>Big warning: no </a:t>
            </a:r>
            <a:r>
              <a:rPr lang="fr-FR" sz="4800" dirty="0" err="1">
                <a:solidFill>
                  <a:srgbClr val="FF0000"/>
                </a:solidFill>
              </a:rPr>
              <a:t>loops</a:t>
            </a:r>
            <a:r>
              <a:rPr lang="fr-FR" sz="4800" dirty="0">
                <a:solidFill>
                  <a:srgbClr val="FF0000"/>
                </a:solidFill>
              </a:rPr>
              <a:t> !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05776E-355D-4403-8E52-22D73B053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6886"/>
            <a:ext cx="10515600" cy="742222"/>
          </a:xfrm>
        </p:spPr>
        <p:txBody>
          <a:bodyPr>
            <a:normAutofit lnSpcReduction="10000"/>
          </a:bodyPr>
          <a:lstStyle/>
          <a:p>
            <a:r>
              <a:rPr lang="fr-FR" sz="2000" dirty="0" err="1"/>
              <a:t>Many</a:t>
            </a:r>
            <a:r>
              <a:rPr lang="fr-FR" sz="2000" dirty="0"/>
              <a:t> </a:t>
            </a:r>
            <a:r>
              <a:rPr lang="fr-FR" sz="2000" dirty="0" err="1"/>
              <a:t>different</a:t>
            </a:r>
            <a:r>
              <a:rPr lang="fr-FR" sz="2000" dirty="0"/>
              <a:t> </a:t>
            </a:r>
            <a:r>
              <a:rPr lang="fr-FR" sz="2000" dirty="0" err="1"/>
              <a:t>available</a:t>
            </a:r>
            <a:r>
              <a:rPr lang="fr-FR" sz="2000" dirty="0"/>
              <a:t> </a:t>
            </a:r>
            <a:r>
              <a:rPr lang="fr-FR" sz="2000" dirty="0" err="1"/>
              <a:t>operations</a:t>
            </a:r>
            <a:r>
              <a:rPr lang="fr-FR" sz="2000" dirty="0"/>
              <a:t> </a:t>
            </a:r>
          </a:p>
          <a:p>
            <a:r>
              <a:rPr lang="fr-FR" sz="2000" dirty="0" err="1"/>
              <a:t>Potential</a:t>
            </a:r>
            <a:r>
              <a:rPr lang="fr-FR" sz="2000" dirty="0"/>
              <a:t> to use 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</a:rPr>
              <a:t>any</a:t>
            </a:r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2000" dirty="0"/>
              <a:t>custom </a:t>
            </a:r>
            <a:r>
              <a:rPr lang="fr-FR" sz="2000" dirty="0" err="1"/>
              <a:t>operation</a:t>
            </a:r>
            <a:endParaRPr lang="en-US" sz="200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8141FF-EA5A-459C-A5CB-990ADA27E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DCF3BA-19E0-4DEF-9F40-9809E45FE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BD4D16-FBB8-46C4-9758-CAF5D27D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26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AF5F270-EE54-477E-A2C0-A531AA87D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61" y="3057257"/>
            <a:ext cx="4839757" cy="132347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5177D30-4C82-4A8E-9C41-AEAAE6D7F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244" y="3410795"/>
            <a:ext cx="4224556" cy="616395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52EA23CC-0E97-4CB0-AE76-E0BD71148DE8}"/>
              </a:ext>
            </a:extLst>
          </p:cNvPr>
          <p:cNvCxnSpPr/>
          <p:nvPr/>
        </p:nvCxnSpPr>
        <p:spPr>
          <a:xfrm>
            <a:off x="1155032" y="2820360"/>
            <a:ext cx="3862136" cy="192505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801F9C8-0134-4A55-8833-6D7B7C394455}"/>
              </a:ext>
            </a:extLst>
          </p:cNvPr>
          <p:cNvCxnSpPr>
            <a:cxnSpLocks/>
          </p:cNvCxnSpPr>
          <p:nvPr/>
        </p:nvCxnSpPr>
        <p:spPr>
          <a:xfrm flipV="1">
            <a:off x="1239253" y="2820360"/>
            <a:ext cx="3681663" cy="192505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165CAF6-8689-417C-9F2A-22659C1D7614}"/>
              </a:ext>
            </a:extLst>
          </p:cNvPr>
          <p:cNvSpPr/>
          <p:nvPr/>
        </p:nvSpPr>
        <p:spPr>
          <a:xfrm>
            <a:off x="6930189" y="3241466"/>
            <a:ext cx="4740443" cy="9865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A4AF13-5F88-4AF4-A6E7-787A3859C2C5}"/>
              </a:ext>
            </a:extLst>
          </p:cNvPr>
          <p:cNvSpPr/>
          <p:nvPr/>
        </p:nvSpPr>
        <p:spPr>
          <a:xfrm>
            <a:off x="2395307" y="5209294"/>
            <a:ext cx="7401386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800" b="1" dirty="0"/>
              <a:t>There </a:t>
            </a:r>
            <a:r>
              <a:rPr lang="fr-FR" sz="2800" b="1" dirty="0" err="1"/>
              <a:t>is</a:t>
            </a:r>
            <a:r>
              <a:rPr lang="fr-FR" sz="2800" b="1" dirty="0"/>
              <a:t> </a:t>
            </a:r>
            <a:r>
              <a:rPr lang="fr-FR" sz="2400" b="1" dirty="0"/>
              <a:t>(</a:t>
            </a:r>
            <a:r>
              <a:rPr lang="fr-FR" sz="2400" b="1" dirty="0" err="1"/>
              <a:t>almost</a:t>
            </a:r>
            <a:r>
              <a:rPr lang="fr-FR" sz="2400" b="1" dirty="0"/>
              <a:t>) </a:t>
            </a:r>
            <a:r>
              <a:rPr lang="fr-FR" sz="2800" b="1" dirty="0" err="1"/>
              <a:t>always</a:t>
            </a:r>
            <a:r>
              <a:rPr lang="fr-FR" sz="2800" b="1" dirty="0"/>
              <a:t> a </a:t>
            </a:r>
            <a:r>
              <a:rPr lang="fr-FR" sz="2800" b="1" dirty="0" err="1"/>
              <a:t>way</a:t>
            </a:r>
            <a:r>
              <a:rPr lang="fr-FR" sz="2800" b="1" dirty="0"/>
              <a:t> to replace a </a:t>
            </a:r>
            <a:br>
              <a:rPr lang="fr-FR" sz="2800" b="1" dirty="0"/>
            </a:br>
            <a:r>
              <a:rPr lang="fr-FR" sz="2800" b="1" dirty="0">
                <a:solidFill>
                  <a:srgbClr val="FF0000"/>
                </a:solidFill>
              </a:rPr>
              <a:t>slow</a:t>
            </a:r>
            <a:r>
              <a:rPr lang="fr-FR" sz="2800" b="1" dirty="0"/>
              <a:t> </a:t>
            </a:r>
            <a:r>
              <a:rPr lang="fr-FR" sz="2800" b="1" dirty="0" err="1"/>
              <a:t>loop</a:t>
            </a:r>
            <a:r>
              <a:rPr lang="fr-FR" sz="2800" b="1" dirty="0"/>
              <a:t> by a </a:t>
            </a:r>
            <a:r>
              <a:rPr lang="fr-FR" sz="2800" b="1" dirty="0">
                <a:solidFill>
                  <a:schemeClr val="accent3">
                    <a:lumMod val="75000"/>
                  </a:schemeClr>
                </a:solidFill>
              </a:rPr>
              <a:t>fast</a:t>
            </a:r>
            <a:r>
              <a:rPr lang="fr-FR" sz="2800" b="1" dirty="0"/>
              <a:t> pandas </a:t>
            </a:r>
            <a:r>
              <a:rPr lang="fr-FR" sz="2800" b="1" dirty="0" err="1"/>
              <a:t>function</a:t>
            </a:r>
            <a:endParaRPr lang="fr-FR" sz="28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C9230B-B56E-4F08-A9C2-0F36CC46FDBB}"/>
              </a:ext>
            </a:extLst>
          </p:cNvPr>
          <p:cNvSpPr/>
          <p:nvPr/>
        </p:nvSpPr>
        <p:spPr>
          <a:xfrm>
            <a:off x="8159334" y="4415522"/>
            <a:ext cx="21643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800" b="1" dirty="0">
                <a:solidFill>
                  <a:schemeClr val="accent3">
                    <a:lumMod val="75000"/>
                  </a:schemeClr>
                </a:solidFill>
              </a:rPr>
              <a:t>1000x</a:t>
            </a:r>
            <a:r>
              <a:rPr lang="fr-FR" sz="2800" dirty="0"/>
              <a:t> </a:t>
            </a:r>
            <a:r>
              <a:rPr lang="fr-FR" sz="2800" dirty="0" err="1"/>
              <a:t>faster</a:t>
            </a:r>
            <a:endParaRPr lang="fr-FR" sz="28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9E64A7-2C26-4F8E-8863-0AD4286386A6}"/>
              </a:ext>
            </a:extLst>
          </p:cNvPr>
          <p:cNvSpPr/>
          <p:nvPr/>
        </p:nvSpPr>
        <p:spPr>
          <a:xfrm>
            <a:off x="783102" y="2213005"/>
            <a:ext cx="41024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/>
              <a:t>If </a:t>
            </a:r>
            <a:r>
              <a:rPr lang="fr-FR" sz="2400" dirty="0" err="1"/>
              <a:t>your</a:t>
            </a:r>
            <a:r>
              <a:rPr lang="fr-FR" sz="2400" dirty="0"/>
              <a:t> code looks like </a:t>
            </a:r>
            <a:r>
              <a:rPr lang="fr-FR" sz="2400" dirty="0" err="1"/>
              <a:t>this</a:t>
            </a:r>
            <a:r>
              <a:rPr lang="fr-FR" sz="2400" dirty="0"/>
              <a:t> …</a:t>
            </a:r>
            <a:endParaRPr lang="en-US" sz="2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E469AD-404A-4B8C-8D1C-7FF7CE0BA7AD}"/>
              </a:ext>
            </a:extLst>
          </p:cNvPr>
          <p:cNvSpPr/>
          <p:nvPr/>
        </p:nvSpPr>
        <p:spPr>
          <a:xfrm>
            <a:off x="7759763" y="2198854"/>
            <a:ext cx="30812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/>
              <a:t>Do </a:t>
            </a:r>
            <a:r>
              <a:rPr lang="fr-FR" sz="2800" b="1" dirty="0" err="1"/>
              <a:t>this</a:t>
            </a:r>
            <a:r>
              <a:rPr lang="fr-FR" sz="2800" b="1" dirty="0"/>
              <a:t> </a:t>
            </a:r>
            <a:r>
              <a:rPr lang="fr-FR" sz="2800" b="1" dirty="0" err="1"/>
              <a:t>instead</a:t>
            </a:r>
            <a:r>
              <a:rPr lang="fr-FR" sz="2800" b="1" dirty="0"/>
              <a:t> ! </a:t>
            </a:r>
            <a:endParaRPr lang="en-US" sz="28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323301-CA52-4FDA-821E-36D21E1EB8D9}"/>
              </a:ext>
            </a:extLst>
          </p:cNvPr>
          <p:cNvSpPr/>
          <p:nvPr/>
        </p:nvSpPr>
        <p:spPr>
          <a:xfrm>
            <a:off x="4745631" y="2223419"/>
            <a:ext cx="12442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DON’T!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74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/>
      <p:bldP spid="18" grpId="0"/>
      <p:bldP spid="19" grpId="0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EF7AC8-C20A-446B-B09B-F09A7B7D4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Sorting</a:t>
            </a:r>
            <a:r>
              <a:rPr lang="fr-FR" dirty="0"/>
              <a:t> data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BBC985-8EA5-409A-AA58-AE716EB7D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Sort by index:</a:t>
            </a:r>
          </a:p>
          <a:p>
            <a:endParaRPr lang="fr-FR" dirty="0"/>
          </a:p>
          <a:p>
            <a:r>
              <a:rPr lang="fr-FR" dirty="0"/>
              <a:t>Sort by one of the </a:t>
            </a:r>
            <a:r>
              <a:rPr lang="fr-FR" dirty="0" err="1"/>
              <a:t>columns</a:t>
            </a:r>
            <a:endParaRPr lang="fr-FR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72A2E9-B64C-4362-A3E3-9634C8835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75D16C-5624-4BBB-91B3-ECEED968F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1942DA-8F9C-4FC2-AD90-9837425B0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27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1B2C0EE-A944-4868-A6F4-FBDC8B169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333850"/>
            <a:ext cx="2140852" cy="45978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D9D361B-0607-4A36-84A8-70F3B5106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3134159"/>
            <a:ext cx="5225334" cy="185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612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5A47C7-C019-4FA8-9872-6E4890B0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Grouping</a:t>
            </a:r>
            <a:r>
              <a:rPr lang="fr-FR" dirty="0"/>
              <a:t> data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groupby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5CEEF7-A12B-4A66-8038-B01BDCA85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850"/>
            <a:ext cx="6608885" cy="4843113"/>
          </a:xfrm>
        </p:spPr>
        <p:txBody>
          <a:bodyPr/>
          <a:lstStyle/>
          <a:p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b="1" dirty="0"/>
              <a:t>groups</a:t>
            </a:r>
            <a:r>
              <a:rPr lang="fr-FR" dirty="0"/>
              <a:t> </a:t>
            </a:r>
            <a:r>
              <a:rPr lang="fr-FR" dirty="0" err="1"/>
              <a:t>depending</a:t>
            </a:r>
            <a:r>
              <a:rPr lang="fr-FR" dirty="0"/>
              <a:t> on a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column</a:t>
            </a:r>
            <a:r>
              <a:rPr lang="fr-FR" dirty="0"/>
              <a:t> and </a:t>
            </a:r>
            <a:r>
              <a:rPr lang="fr-FR" dirty="0" err="1"/>
              <a:t>apply</a:t>
            </a:r>
            <a:r>
              <a:rPr lang="fr-FR" dirty="0"/>
              <a:t> </a:t>
            </a:r>
            <a:r>
              <a:rPr lang="fr-FR" dirty="0" err="1"/>
              <a:t>operations</a:t>
            </a:r>
            <a:r>
              <a:rPr lang="fr-FR" dirty="0"/>
              <a:t> on </a:t>
            </a:r>
            <a:r>
              <a:rPr lang="fr-FR" dirty="0" err="1"/>
              <a:t>each</a:t>
            </a:r>
            <a:r>
              <a:rPr lang="fr-FR" dirty="0"/>
              <a:t> of the groups </a:t>
            </a:r>
            <a:r>
              <a:rPr lang="fr-FR" b="1" dirty="0" err="1"/>
              <a:t>separatly</a:t>
            </a:r>
            <a:endParaRPr lang="fr-FR" b="1" dirty="0"/>
          </a:p>
          <a:p>
            <a:endParaRPr lang="fr-FR" dirty="0"/>
          </a:p>
          <a:p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bins</a:t>
            </a:r>
            <a:r>
              <a:rPr lang="fr-FR" dirty="0"/>
              <a:t> :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pd.cut</a:t>
            </a:r>
            <a:endParaRPr lang="fr-FR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A3F06F-E609-49DC-99FA-1F5752C0B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91F7E4-CBE8-42AA-816D-D9191B56A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916DA3-9567-42E6-B13B-A4766A7A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28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BF11E12-E2A4-4DBD-841E-20881D0A4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795" y="1425727"/>
            <a:ext cx="3439005" cy="133368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7DE757D-FE14-4DCD-AF88-63368319D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552" y="3799283"/>
            <a:ext cx="4515480" cy="181000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D75261C-7917-44D1-BC69-D9786C2DC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713" y="3799283"/>
            <a:ext cx="4114800" cy="47530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EB0194A-924E-48CA-94C7-275F7950D3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713" y="4453978"/>
            <a:ext cx="3666653" cy="145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418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5A47C7-C019-4FA8-9872-6E4890B0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Grouping</a:t>
            </a:r>
            <a:r>
              <a:rPr lang="fr-FR" dirty="0"/>
              <a:t> data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groupby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5CEEF7-A12B-4A66-8038-B01BDCA85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851"/>
            <a:ext cx="6608885" cy="520562"/>
          </a:xfrm>
        </p:spPr>
        <p:txBody>
          <a:bodyPr/>
          <a:lstStyle/>
          <a:p>
            <a:r>
              <a:rPr lang="fr-FR" b="1" dirty="0"/>
              <a:t>Multiple</a:t>
            </a:r>
            <a:r>
              <a:rPr lang="fr-FR" dirty="0"/>
              <a:t> </a:t>
            </a:r>
            <a:r>
              <a:rPr lang="fr-FR" dirty="0" err="1"/>
              <a:t>criteria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A3F06F-E609-49DC-99FA-1F5752C0B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91F7E4-CBE8-42AA-816D-D9191B56A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916DA3-9567-42E6-B13B-A4766A7A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29</a:t>
            </a:fld>
            <a:endParaRPr lang="en-US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21E0751-76CD-4580-A58A-55B985C09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698" y="2344340"/>
            <a:ext cx="6018603" cy="44003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2F1C6DB-7D81-4B85-B2BF-E96028343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698" y="2885510"/>
            <a:ext cx="5635342" cy="254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4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B7643-E42C-4AAF-A7E3-DEC3C8CDF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Combining</a:t>
            </a:r>
            <a:r>
              <a:rPr lang="fr-FR" dirty="0"/>
              <a:t> </a:t>
            </a:r>
            <a:r>
              <a:rPr lang="fr-FR" dirty="0" err="1"/>
              <a:t>dataframes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BEF77A-66FF-437E-83C5-E78C326B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3AA8C7-1969-40DD-9686-73A6E3AB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6155C3-4DBD-47D7-B5EA-C4451CB0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30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380F2C0B-47AD-430A-B9E9-306AC4B66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482" y="1604978"/>
            <a:ext cx="10515600" cy="480970"/>
          </a:xfrm>
        </p:spPr>
        <p:txBody>
          <a:bodyPr/>
          <a:lstStyle/>
          <a:p>
            <a:r>
              <a:rPr lang="fr-FR" dirty="0" err="1"/>
              <a:t>Concatenate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 indices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0DAB42C3-C14C-486F-9676-4B3423D6973C}"/>
              </a:ext>
            </a:extLst>
          </p:cNvPr>
          <p:cNvSpPr txBox="1">
            <a:spLocks/>
          </p:cNvSpPr>
          <p:nvPr/>
        </p:nvSpPr>
        <p:spPr>
          <a:xfrm>
            <a:off x="607571" y="3125711"/>
            <a:ext cx="755822" cy="480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df1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2B17412C-0758-4291-B95D-C50E3BBCD084}"/>
              </a:ext>
            </a:extLst>
          </p:cNvPr>
          <p:cNvSpPr txBox="1">
            <a:spLocks/>
          </p:cNvSpPr>
          <p:nvPr/>
        </p:nvSpPr>
        <p:spPr>
          <a:xfrm>
            <a:off x="607571" y="4294191"/>
            <a:ext cx="755822" cy="480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df2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01A8E6E1-90BD-4078-AE4E-1889C084BF98}"/>
              </a:ext>
            </a:extLst>
          </p:cNvPr>
          <p:cNvSpPr/>
          <p:nvPr/>
        </p:nvSpPr>
        <p:spPr>
          <a:xfrm>
            <a:off x="5552302" y="3703918"/>
            <a:ext cx="690980" cy="4894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F988CDF-1571-496D-BE0F-A9522E8F9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2740805"/>
            <a:ext cx="4114800" cy="110467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C2E299E-7E3C-4428-B926-930E3FE62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3948628"/>
            <a:ext cx="4107631" cy="100740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2E0F10A-1AE0-435D-BB74-7410FF91C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859" y="2573708"/>
            <a:ext cx="5438775" cy="254317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21BB5F14-FCE6-4F3B-BA52-A2553762D2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0875" y="2183873"/>
            <a:ext cx="22288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69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B7643-E42C-4AAF-A7E3-DEC3C8CDF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Combining</a:t>
            </a:r>
            <a:r>
              <a:rPr lang="fr-FR" dirty="0"/>
              <a:t> </a:t>
            </a:r>
            <a:r>
              <a:rPr lang="fr-FR" dirty="0" err="1"/>
              <a:t>dataframes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BEF77A-66FF-437E-83C5-E78C326B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3AA8C7-1969-40DD-9686-73A6E3AB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6155C3-4DBD-47D7-B5EA-C4451CB0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31</a:t>
            </a:fld>
            <a:endParaRPr lang="en-US"/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C6172DE7-9A3D-428F-AC17-418085C973B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80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Concatenate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columns</a:t>
            </a:r>
            <a:endParaRPr lang="fr-FR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916CD32-70AD-49E6-8ADB-0220C669C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3" y="3485259"/>
            <a:ext cx="3111029" cy="178552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D487D8B-51AE-4AB3-97E7-8B1CE3447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732" y="3429000"/>
            <a:ext cx="2206570" cy="185570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72F6D7F-6C9E-4517-92C7-FA5015CED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282" y="3215971"/>
            <a:ext cx="5695950" cy="2171700"/>
          </a:xfrm>
          <a:prstGeom prst="rect">
            <a:avLst/>
          </a:prstGeom>
        </p:spPr>
      </p:pic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537BE8E3-C330-48B0-B6F6-396EAA89D465}"/>
              </a:ext>
            </a:extLst>
          </p:cNvPr>
          <p:cNvSpPr txBox="1">
            <a:spLocks/>
          </p:cNvSpPr>
          <p:nvPr/>
        </p:nvSpPr>
        <p:spPr>
          <a:xfrm>
            <a:off x="1365656" y="5402307"/>
            <a:ext cx="755822" cy="480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df1</a:t>
            </a:r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16592CAF-0A1F-471C-9BE2-F8759904A38E}"/>
              </a:ext>
            </a:extLst>
          </p:cNvPr>
          <p:cNvSpPr txBox="1">
            <a:spLocks/>
          </p:cNvSpPr>
          <p:nvPr/>
        </p:nvSpPr>
        <p:spPr>
          <a:xfrm>
            <a:off x="3933052" y="5402307"/>
            <a:ext cx="755822" cy="480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df2</a:t>
            </a:r>
          </a:p>
        </p:txBody>
      </p:sp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DF1B76E7-85D8-40C7-9930-F9A67E79B3F0}"/>
              </a:ext>
            </a:extLst>
          </p:cNvPr>
          <p:cNvSpPr/>
          <p:nvPr/>
        </p:nvSpPr>
        <p:spPr>
          <a:xfrm>
            <a:off x="5552302" y="4061336"/>
            <a:ext cx="690980" cy="4894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C4487631-B03E-4B29-AEBE-1564723364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5960" y="2339606"/>
            <a:ext cx="307657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2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DE05C7-8255-4337-8A46-59A57F08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One cool </a:t>
            </a:r>
            <a:r>
              <a:rPr lang="fr-FR" dirty="0" err="1"/>
              <a:t>operation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E1EB8D-E25A-460E-9A23-B8E173DCA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850"/>
            <a:ext cx="10515600" cy="4843113"/>
          </a:xfrm>
        </p:spPr>
        <p:txBody>
          <a:bodyPr/>
          <a:lstStyle/>
          <a:p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correlation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all variables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5B278C-F14E-4D59-9DC1-9E4D7C421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24C48C-AC1F-4195-A6F0-CADB3D51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499F0B-F634-4F50-AB56-A17CE933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32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798048A-22B4-49D4-B854-DAC90A00F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101" y="2147708"/>
            <a:ext cx="5353797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0459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04832A-F17F-41F1-B4F8-BA23C4B6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II </a:t>
            </a:r>
            <a:r>
              <a:rPr lang="fr-FR" dirty="0" err="1"/>
              <a:t>summary</a:t>
            </a:r>
            <a:r>
              <a:rPr lang="fr-FR" dirty="0"/>
              <a:t>: first </a:t>
            </a:r>
            <a:r>
              <a:rPr lang="fr-FR" dirty="0" err="1"/>
              <a:t>operations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034B78-0D91-4540-9A28-C09680EB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54F8FB-2561-40E3-A9F3-DC11568F8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45DDF7-AC7F-4586-9D6F-75AF58B9E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33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25A8D708-D138-4816-9132-C4F11F7A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0" y="1933664"/>
            <a:ext cx="5219700" cy="39242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Access</a:t>
            </a:r>
            <a:r>
              <a:rPr lang="fr-FR" sz="2000" dirty="0"/>
              <a:t> data </a:t>
            </a:r>
            <a:r>
              <a:rPr lang="fr-FR" sz="2000" dirty="0" err="1"/>
              <a:t>using</a:t>
            </a:r>
            <a:r>
              <a:rPr lang="fr-FR" sz="2000" dirty="0"/>
              <a:t> index/</a:t>
            </a:r>
            <a:r>
              <a:rPr lang="fr-FR" sz="2000" dirty="0" err="1"/>
              <a:t>columns</a:t>
            </a:r>
            <a:r>
              <a:rPr lang="fr-FR" sz="2000" dirty="0"/>
              <a:t> + </a:t>
            </a:r>
            <a:r>
              <a:rPr lang="fr-FR" sz="2000" dirty="0" err="1"/>
              <a:t>filters</a:t>
            </a:r>
            <a:endParaRPr lang="fr-F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fr-FR" sz="2000" dirty="0" err="1"/>
              <a:t>Numpy</a:t>
            </a:r>
            <a:r>
              <a:rPr lang="fr-FR" sz="2000" dirty="0"/>
              <a:t>-like 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</a:rPr>
              <a:t>operations</a:t>
            </a:r>
            <a:endParaRPr lang="fr-FR" sz="20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Sort</a:t>
            </a:r>
            <a:r>
              <a:rPr lang="fr-FR" sz="2000" dirty="0"/>
              <a:t> data by index/values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000" dirty="0"/>
              <a:t>Operations on </a:t>
            </a: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groups</a:t>
            </a:r>
            <a:r>
              <a:rPr lang="fr-FR" sz="2000" dirty="0"/>
              <a:t> of data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Combine</a:t>
            </a:r>
            <a:r>
              <a:rPr lang="fr-FR" sz="2000" dirty="0"/>
              <a:t> multiple </a:t>
            </a:r>
            <a:r>
              <a:rPr lang="fr-FR" sz="2000" dirty="0" err="1"/>
              <a:t>dataframes</a:t>
            </a:r>
            <a:endParaRPr lang="fr-F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fr-FR" sz="2000" b="1" dirty="0" err="1"/>
              <a:t>Correlation</a:t>
            </a:r>
            <a:endParaRPr lang="fr-FR" sz="2000" b="1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4B51A746-2EE7-4F57-97E9-19035B260B61}"/>
              </a:ext>
            </a:extLst>
          </p:cNvPr>
          <p:cNvSpPr txBox="1">
            <a:spLocks/>
          </p:cNvSpPr>
          <p:nvPr/>
        </p:nvSpPr>
        <p:spPr>
          <a:xfrm>
            <a:off x="838200" y="1427956"/>
            <a:ext cx="6540500" cy="365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b="1" dirty="0" err="1"/>
              <a:t>Some</a:t>
            </a:r>
            <a:r>
              <a:rPr lang="fr-FR" sz="2400" b="1" dirty="0"/>
              <a:t> of the </a:t>
            </a:r>
            <a:r>
              <a:rPr lang="fr-FR" sz="2400" b="1" dirty="0" err="1"/>
              <a:t>available</a:t>
            </a:r>
            <a:r>
              <a:rPr lang="fr-FR" sz="2400" b="1" dirty="0"/>
              <a:t> </a:t>
            </a:r>
            <a:r>
              <a:rPr lang="fr-FR" sz="2400" b="1" dirty="0" err="1"/>
              <a:t>methods</a:t>
            </a:r>
            <a:r>
              <a:rPr lang="fr-FR" sz="2400" b="1" dirty="0"/>
              <a:t>:</a:t>
            </a:r>
            <a:endParaRPr lang="en-US" sz="2400" b="1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CD20D759-2C18-4608-B33A-5F8B6C8D25CD}"/>
              </a:ext>
            </a:extLst>
          </p:cNvPr>
          <p:cNvSpPr txBox="1">
            <a:spLocks/>
          </p:cNvSpPr>
          <p:nvPr/>
        </p:nvSpPr>
        <p:spPr>
          <a:xfrm>
            <a:off x="6400800" y="2003955"/>
            <a:ext cx="5791200" cy="39242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fr-FR" sz="20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df.loc</a:t>
            </a:r>
            <a: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[index]</a:t>
            </a:r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fr-FR" sz="20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df.loc</a:t>
            </a:r>
            <a: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[condition]</a:t>
            </a:r>
            <a:b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20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df.mean</a:t>
            </a:r>
            <a: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   </a:t>
            </a:r>
            <a:r>
              <a:rPr lang="fr-FR" sz="20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df.apply</a:t>
            </a:r>
            <a: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fr-FR" sz="20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function</a:t>
            </a:r>
            <a: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  <a:b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20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df.agg</a:t>
            </a:r>
            <a: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([‘std’]) </a:t>
            </a:r>
            <a:b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20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df.sort_values</a:t>
            </a:r>
            <a: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  </a:t>
            </a:r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sz="20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df.sort_index</a:t>
            </a:r>
            <a: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  <a:b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20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df.groupby</a:t>
            </a:r>
            <a: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fr-FR" sz="20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columns</a:t>
            </a:r>
            <a: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).</a:t>
            </a:r>
            <a:r>
              <a:rPr lang="fr-FR" sz="20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mean</a:t>
            </a:r>
            <a: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 </a:t>
            </a:r>
            <a:b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20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pd.concat</a:t>
            </a:r>
            <a: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([df1, df2])</a:t>
            </a:r>
            <a:b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20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df.corr</a:t>
            </a:r>
            <a:r>
              <a:rPr lang="fr-FR" sz="20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20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AAA51650-4901-46BE-827D-3A3182E2C290}"/>
              </a:ext>
            </a:extLst>
          </p:cNvPr>
          <p:cNvSpPr txBox="1">
            <a:spLocks/>
          </p:cNvSpPr>
          <p:nvPr/>
        </p:nvSpPr>
        <p:spPr>
          <a:xfrm>
            <a:off x="2209800" y="5563129"/>
            <a:ext cx="6540500" cy="365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b="1" dirty="0">
                <a:solidFill>
                  <a:srgbClr val="27A3DC"/>
                </a:solidFill>
              </a:rPr>
              <a:t>And </a:t>
            </a:r>
            <a:r>
              <a:rPr lang="fr-FR" sz="2400" b="1" dirty="0" err="1">
                <a:solidFill>
                  <a:srgbClr val="27A3DC"/>
                </a:solidFill>
              </a:rPr>
              <a:t>so</a:t>
            </a:r>
            <a:r>
              <a:rPr lang="fr-FR" sz="2400" b="1" dirty="0">
                <a:solidFill>
                  <a:srgbClr val="27A3DC"/>
                </a:solidFill>
              </a:rPr>
              <a:t> </a:t>
            </a:r>
            <a:r>
              <a:rPr lang="fr-FR" sz="2400" b="1" dirty="0" err="1">
                <a:solidFill>
                  <a:srgbClr val="27A3DC"/>
                </a:solidFill>
              </a:rPr>
              <a:t>much</a:t>
            </a:r>
            <a:r>
              <a:rPr lang="fr-FR" sz="2400" b="1" dirty="0">
                <a:solidFill>
                  <a:srgbClr val="27A3DC"/>
                </a:solidFill>
              </a:rPr>
              <a:t> more …</a:t>
            </a:r>
            <a:endParaRPr lang="en-US" sz="2400" b="1" dirty="0">
              <a:solidFill>
                <a:srgbClr val="27A3D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5701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86A481-469D-4820-98C4-72B48A651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Bonus: « one-liners »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28615F-32EB-49D0-9422-F5864AF6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ACA58A-6DB1-4794-9EC3-5169AE671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C4C825-F3AA-4A26-97BA-0E5C77FF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34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E4F7A11-6DF1-49B5-82CE-9C0561506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37420"/>
            <a:ext cx="11498943" cy="1506660"/>
          </a:xfrm>
        </p:spPr>
        <p:txBody>
          <a:bodyPr/>
          <a:lstStyle/>
          <a:p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usually</a:t>
            </a:r>
            <a:r>
              <a:rPr lang="fr-FR" dirty="0"/>
              <a:t> </a:t>
            </a:r>
            <a:r>
              <a:rPr lang="fr-FR" dirty="0" err="1"/>
              <a:t>returns</a:t>
            </a:r>
            <a:r>
              <a:rPr lang="fr-FR" dirty="0"/>
              <a:t> a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new pandas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object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2000" dirty="0"/>
              <a:t>(</a:t>
            </a:r>
            <a:r>
              <a:rPr lang="fr-FR" sz="2000" dirty="0" err="1"/>
              <a:t>Series</a:t>
            </a:r>
            <a:r>
              <a:rPr lang="fr-FR" sz="2000" dirty="0"/>
              <a:t>, </a:t>
            </a:r>
            <a:r>
              <a:rPr lang="fr-FR" sz="2000" dirty="0" err="1"/>
              <a:t>DataFrame</a:t>
            </a:r>
            <a:r>
              <a:rPr lang="fr-FR" sz="2000" dirty="0"/>
              <a:t>)</a:t>
            </a:r>
            <a:endParaRPr lang="fr-FR" dirty="0"/>
          </a:p>
          <a:p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keep</a:t>
            </a:r>
            <a:r>
              <a:rPr lang="fr-FR" dirty="0"/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adding</a:t>
            </a:r>
            <a:r>
              <a:rPr lang="fr-FR" dirty="0"/>
              <a:t> more and more </a:t>
            </a:r>
            <a:r>
              <a:rPr lang="fr-FR" dirty="0" err="1"/>
              <a:t>operations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748669C-FD86-4C0B-A738-1A2D7E822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111" y="2928867"/>
            <a:ext cx="6873237" cy="150666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11E30DB-8260-4E36-8C10-15FD08FF0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4529394"/>
            <a:ext cx="3972479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1045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EEAA23-8FAF-464A-BD24-B0D824A4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II: </a:t>
            </a:r>
            <a:r>
              <a:rPr lang="fr-FR" dirty="0" err="1"/>
              <a:t>Practicals</a:t>
            </a: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ECCBA89-5EAB-46BE-B4C1-11FAEEB8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Go to the jupyter notebook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E46FC8-F97D-4FC3-B5C2-97E518CE0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BA270A-B6D4-4016-A15B-D199084B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A9ACDE-3862-4B83-B484-7583F443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35</a:t>
            </a:fld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DC8EBC2-9478-4733-90A1-8B6F9257E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004" y="1560391"/>
            <a:ext cx="3679181" cy="426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8359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AD71FCF-E0B8-41C5-9385-E74F0413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III: </a:t>
            </a:r>
            <a:r>
              <a:rPr lang="fr-FR" dirty="0" err="1"/>
              <a:t>Plotting</a:t>
            </a:r>
            <a:r>
              <a:rPr lang="fr-FR" dirty="0"/>
              <a:t> </a:t>
            </a:r>
            <a:endParaRPr lang="en-US" dirty="0"/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8E1E3114-CD12-46E8-822F-E9443D58F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Plotting</a:t>
            </a:r>
            <a:r>
              <a:rPr lang="fr-FR" dirty="0"/>
              <a:t> interface, </a:t>
            </a:r>
            <a:r>
              <a:rPr lang="fr-FR" dirty="0" err="1"/>
              <a:t>integration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matplotlib</a:t>
            </a:r>
            <a:r>
              <a:rPr lang="fr-FR" dirty="0"/>
              <a:t> and </a:t>
            </a:r>
            <a:r>
              <a:rPr lang="fr-FR" dirty="0" err="1"/>
              <a:t>seaborn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E22A4E-DF78-4BCD-8A71-7426C570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6503AF-CEBF-4D80-82C0-EA3A5848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8C7CE6-EEAA-4B97-80E2-EB5644FC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369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F897078E-DE76-4687-A06D-FE91562E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Plotting</a:t>
            </a:r>
            <a:r>
              <a:rPr lang="fr-FR" dirty="0"/>
              <a:t> interface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F0DAA7-4092-473C-A77A-081AF655B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3B2285-0D66-4F41-9574-F9EBAEFE6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927AE2-52F6-4239-81A5-30789A82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37</a:t>
            </a:fld>
            <a:endParaRPr lang="en-US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9705727-E29F-4665-9D42-82EBAB07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2579"/>
            <a:ext cx="10515600" cy="4936454"/>
          </a:xfrm>
        </p:spPr>
        <p:txBody>
          <a:bodyPr>
            <a:normAutofit/>
          </a:bodyPr>
          <a:lstStyle/>
          <a:p>
            <a:r>
              <a:rPr lang="fr-FR" sz="2400" dirty="0"/>
              <a:t>Direct </a:t>
            </a:r>
            <a:r>
              <a:rPr lang="fr-FR" sz="2400" dirty="0" err="1"/>
              <a:t>integration</a:t>
            </a:r>
            <a:r>
              <a:rPr lang="fr-FR" sz="2400" dirty="0"/>
              <a:t> of high </a:t>
            </a:r>
            <a:r>
              <a:rPr lang="fr-FR" sz="2400" dirty="0" err="1"/>
              <a:t>level</a:t>
            </a:r>
            <a:r>
              <a:rPr lang="fr-FR" sz="2400" dirty="0"/>
              <a:t> </a:t>
            </a: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plotting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libraries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2400" dirty="0" err="1"/>
              <a:t>such</a:t>
            </a:r>
            <a:r>
              <a:rPr lang="fr-FR" sz="2400" dirty="0"/>
              <a:t> as </a:t>
            </a:r>
            <a:r>
              <a:rPr lang="fr-FR" sz="2400" b="1" dirty="0" err="1"/>
              <a:t>matpltolib</a:t>
            </a:r>
            <a:endParaRPr lang="fr-FR" sz="2400" b="1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BFBE55F-FF3B-43F8-9B80-64E338B23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550" y="2438393"/>
            <a:ext cx="3924300" cy="29527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F375713-3DF2-41AA-B2CC-2F3D52BEF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09" y="1682818"/>
            <a:ext cx="5608207" cy="431621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A036E62-4D26-4EF7-B88E-16F0E1F668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4115" b="3538"/>
          <a:stretch/>
        </p:blipFill>
        <p:spPr>
          <a:xfrm>
            <a:off x="6197600" y="2912327"/>
            <a:ext cx="5156200" cy="308670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0B7B8A6-9354-4F29-98EA-51F0B4217553}"/>
              </a:ext>
            </a:extLst>
          </p:cNvPr>
          <p:cNvSpPr/>
          <p:nvPr/>
        </p:nvSpPr>
        <p:spPr>
          <a:xfrm>
            <a:off x="6309229" y="2009603"/>
            <a:ext cx="5314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Other</a:t>
            </a:r>
            <a:r>
              <a:rPr lang="fr-FR" dirty="0"/>
              <a:t> backends possible (</a:t>
            </a:r>
            <a:r>
              <a:rPr lang="fr-FR" b="1" dirty="0" err="1"/>
              <a:t>Plotly</a:t>
            </a:r>
            <a:r>
              <a:rPr lang="fr-FR" dirty="0"/>
              <a:t>, </a:t>
            </a:r>
            <a:r>
              <a:rPr lang="fr-FR" b="1" dirty="0"/>
              <a:t>bokeh</a:t>
            </a:r>
            <a:r>
              <a:rPr lang="fr-FR" dirty="0"/>
              <a:t>,</a:t>
            </a:r>
            <a:r>
              <a:rPr lang="fr-FR" b="1" dirty="0"/>
              <a:t> </a:t>
            </a:r>
            <a:r>
              <a:rPr lang="fr-FR" b="1" dirty="0" err="1"/>
              <a:t>altair</a:t>
            </a:r>
            <a:r>
              <a:rPr lang="fr-FR" dirty="0"/>
              <a:t>,…)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90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8E1D63-BC55-407B-945B-6F37A4F12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Plotting</a:t>
            </a:r>
            <a:r>
              <a:rPr lang="fr-FR" dirty="0"/>
              <a:t> </a:t>
            </a:r>
            <a:r>
              <a:rPr lang="fr-FR" dirty="0" err="1"/>
              <a:t>statistics</a:t>
            </a:r>
            <a:r>
              <a:rPr lang="fr-FR" dirty="0"/>
              <a:t> for </a:t>
            </a:r>
            <a:r>
              <a:rPr lang="fr-FR" dirty="0" err="1"/>
              <a:t>Series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7FCE14-77C6-4239-8685-22B7C31AD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C8713D-BF6C-47F2-B00F-1E424443E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555B0D-43FF-4139-9454-E0F1BEF9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38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53EE244F-9B77-49AC-B476-31BE2E886216}"/>
              </a:ext>
            </a:extLst>
          </p:cNvPr>
          <p:cNvSpPr txBox="1">
            <a:spLocks/>
          </p:cNvSpPr>
          <p:nvPr/>
        </p:nvSpPr>
        <p:spPr>
          <a:xfrm>
            <a:off x="838200" y="1107348"/>
            <a:ext cx="10515600" cy="52490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Integrated </a:t>
            </a:r>
            <a:r>
              <a:rPr lang="fr-FR" dirty="0" err="1"/>
              <a:t>plotting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: </a:t>
            </a:r>
          </a:p>
          <a:p>
            <a:pPr marL="0" indent="0">
              <a:buNone/>
            </a:pP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series.plot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.[type of plot]()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Pandas calls the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matplotlib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: </a:t>
            </a:r>
            <a:r>
              <a:rPr lang="fr-FR" dirty="0" err="1"/>
              <a:t>same</a:t>
            </a:r>
            <a:r>
              <a:rPr lang="fr-FR" dirty="0"/>
              <a:t> arguments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8B2A721-8EC4-4A54-8F56-41DBD517E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7" y="2142827"/>
            <a:ext cx="3840723" cy="311084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0E98614-8EA7-46DD-8FA3-665268A5D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571" y="2142827"/>
            <a:ext cx="3977315" cy="317894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FAD6630-FB5D-40C1-BEFA-3364E9EA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857" y="2142827"/>
            <a:ext cx="3872539" cy="317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855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AEEBE-AE40-4A48-805D-9847E093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Plotting</a:t>
            </a:r>
            <a:r>
              <a:rPr lang="fr-FR" dirty="0"/>
              <a:t> </a:t>
            </a:r>
            <a:r>
              <a:rPr lang="fr-FR" dirty="0" err="1"/>
              <a:t>categorical</a:t>
            </a:r>
            <a:r>
              <a:rPr lang="fr-FR" dirty="0"/>
              <a:t> data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barplots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EA8D7D-9874-48C7-BF3F-A1638AA1D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1D9219-4604-49BD-A948-12CA017E5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EA9449-EA6B-46C9-AE17-674A4179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39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CED8673-328C-4398-B21E-4A72C5FE4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68" y="1356684"/>
            <a:ext cx="4600747" cy="439079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8AD71BF-5C92-4510-8C46-8B74C9B77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700" y="1488174"/>
            <a:ext cx="5630061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3505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B974A8-B007-42D6-95EE-068D994B1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Plotting</a:t>
            </a:r>
            <a:r>
              <a:rPr lang="fr-FR" dirty="0"/>
              <a:t> relations </a:t>
            </a:r>
            <a:r>
              <a:rPr lang="fr-FR" dirty="0" err="1"/>
              <a:t>between</a:t>
            </a:r>
            <a:r>
              <a:rPr lang="fr-FR" dirty="0"/>
              <a:t> data: </a:t>
            </a:r>
            <a:r>
              <a:rPr lang="fr-FR" dirty="0" err="1"/>
              <a:t>scatter</a:t>
            </a:r>
            <a:r>
              <a:rPr lang="fr-FR" dirty="0"/>
              <a:t>/</a:t>
            </a:r>
            <a:r>
              <a:rPr lang="fr-FR" dirty="0" err="1"/>
              <a:t>hexbin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4AA57E-3CC2-48AC-9DC3-80EFB1510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EF7FFA-1FE8-4D97-A8C7-661CAD321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7DAF1A-2665-4EB2-B142-3E8E6CE08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40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EEFE129-8A9D-4D74-A1EA-EB9AF159F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70" y="1791510"/>
            <a:ext cx="5146106" cy="367100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B03FCE1-1738-44D2-B6F9-6EB53378F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361" y="1762426"/>
            <a:ext cx="5386950" cy="393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8721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523254-81F0-48D6-9B1B-9461FB23B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Plotting</a:t>
            </a:r>
            <a:r>
              <a:rPr lang="fr-FR" dirty="0"/>
              <a:t> </a:t>
            </a:r>
            <a:r>
              <a:rPr lang="fr-FR" dirty="0" err="1"/>
              <a:t>functions</a:t>
            </a:r>
            <a:r>
              <a:rPr lang="fr-FR" dirty="0"/>
              <a:t> </a:t>
            </a:r>
            <a:r>
              <a:rPr lang="fr-FR" dirty="0" err="1"/>
              <a:t>available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EB7233-B89F-4F77-BC52-B08B48744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5D7906-B001-4D04-A8A5-98ED91120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4CFDF6-9D87-48C4-BB3F-629EB900E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41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0B5EFBC-4A93-45DC-9EFF-AA6ED5130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160" y="1107348"/>
            <a:ext cx="5034240" cy="480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801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0A4FD6-403B-488B-8726-07CD88646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Integrating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a </a:t>
            </a:r>
            <a:r>
              <a:rPr lang="fr-FR" dirty="0" err="1"/>
              <a:t>matplotlib</a:t>
            </a:r>
            <a:r>
              <a:rPr lang="fr-FR" dirty="0"/>
              <a:t> workflow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B6684C-DC7B-41B9-BE46-AB524BA91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29DBEE-A505-4A44-9954-A025F8694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BC9152-7C83-4C16-87AF-D7384EDA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42</a:t>
            </a:fld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636F230-73DF-41B4-B02F-72E550788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310" y="1513263"/>
            <a:ext cx="4747490" cy="444606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EC07CED-87A6-4492-9305-C6AF1C795F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346"/>
          <a:stretch/>
        </p:blipFill>
        <p:spPr>
          <a:xfrm>
            <a:off x="205048" y="4779580"/>
            <a:ext cx="5208782" cy="117974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4574BE9-9EDE-4093-93E5-2A440C7FFE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269" b="47030"/>
          <a:stretch/>
        </p:blipFill>
        <p:spPr>
          <a:xfrm>
            <a:off x="205048" y="3112803"/>
            <a:ext cx="5208782" cy="85224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A108B5F-9E39-45B3-9486-424486C732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1031"/>
          <a:stretch/>
        </p:blipFill>
        <p:spPr>
          <a:xfrm>
            <a:off x="205048" y="1906203"/>
            <a:ext cx="5208782" cy="47967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25A5DFD-23F8-415E-82BC-D99A51DE1ED8}"/>
              </a:ext>
            </a:extLst>
          </p:cNvPr>
          <p:cNvSpPr/>
          <p:nvPr/>
        </p:nvSpPr>
        <p:spPr>
          <a:xfrm>
            <a:off x="205048" y="1488547"/>
            <a:ext cx="2582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Setup </a:t>
            </a:r>
            <a:r>
              <a:rPr lang="fr-FR" b="1" dirty="0"/>
              <a:t>figure</a:t>
            </a:r>
            <a:r>
              <a:rPr lang="fr-FR" dirty="0"/>
              <a:t> and </a:t>
            </a:r>
            <a:r>
              <a:rPr lang="fr-FR" b="1" dirty="0"/>
              <a:t>axes</a:t>
            </a:r>
            <a:r>
              <a:rPr lang="fr-FR" dirty="0"/>
              <a:t>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3123BA-934E-41DC-B6CA-20A3228E5EB4}"/>
              </a:ext>
            </a:extLst>
          </p:cNvPr>
          <p:cNvSpPr/>
          <p:nvPr/>
        </p:nvSpPr>
        <p:spPr>
          <a:xfrm>
            <a:off x="192896" y="2717476"/>
            <a:ext cx="3890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/>
              <a:t>Plot </a:t>
            </a:r>
            <a:r>
              <a:rPr lang="fr-FR" b="1" dirty="0" err="1"/>
              <a:t>with</a:t>
            </a:r>
            <a:r>
              <a:rPr lang="fr-FR" b="1" dirty="0"/>
              <a:t> pandas on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existing</a:t>
            </a:r>
            <a:r>
              <a:rPr lang="fr-FR" b="1" dirty="0"/>
              <a:t> axis: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F27443-BC44-4789-AE10-95F7A538DE0E}"/>
              </a:ext>
            </a:extLst>
          </p:cNvPr>
          <p:cNvSpPr/>
          <p:nvPr/>
        </p:nvSpPr>
        <p:spPr>
          <a:xfrm>
            <a:off x="205048" y="4383509"/>
            <a:ext cx="3467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Change </a:t>
            </a:r>
            <a:r>
              <a:rPr lang="fr-FR" dirty="0" err="1"/>
              <a:t>title</a:t>
            </a:r>
            <a:r>
              <a:rPr lang="fr-FR" dirty="0"/>
              <a:t>, labels, </a:t>
            </a:r>
            <a:r>
              <a:rPr lang="fr-FR" dirty="0" err="1"/>
              <a:t>limits</a:t>
            </a:r>
            <a:r>
              <a:rPr lang="fr-FR" dirty="0"/>
              <a:t>, etc…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313505D9-883E-44F3-A512-5923CA3BD68E}"/>
              </a:ext>
            </a:extLst>
          </p:cNvPr>
          <p:cNvSpPr/>
          <p:nvPr/>
        </p:nvSpPr>
        <p:spPr>
          <a:xfrm rot="10800000">
            <a:off x="3257550" y="3736294"/>
            <a:ext cx="647700" cy="28816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807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711A70-E58E-46B9-A623-CC6E31523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about </a:t>
            </a:r>
            <a:r>
              <a:rPr lang="fr-FR" dirty="0" err="1"/>
              <a:t>seaborn</a:t>
            </a:r>
            <a:r>
              <a:rPr lang="fr-FR" dirty="0"/>
              <a:t>?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0E7B2E-7C4B-4B0A-A26E-D4C6C71F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87FDA1-0FA3-4BD5-B633-333A3F5D0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DD3332-18CD-4DD3-9741-B88334061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43</a:t>
            </a:fld>
            <a:endParaRPr lang="en-US"/>
          </a:p>
        </p:txBody>
      </p:sp>
      <p:pic>
        <p:nvPicPr>
          <p:cNvPr id="7" name="Espace réservé du contenu 7">
            <a:extLst>
              <a:ext uri="{FF2B5EF4-FFF2-40B4-BE49-F238E27FC236}">
                <a16:creationId xmlns:a16="http://schemas.microsoft.com/office/drawing/2014/main" id="{A878914A-91A6-49D3-BBC3-BFF7D5EA7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805719"/>
            <a:ext cx="3954585" cy="113414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BDB66EF-8F94-48FE-B64E-7D31423B7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985" y="136525"/>
            <a:ext cx="6953803" cy="595239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339C6FA-FD85-4185-BC57-FF25D24E42DF}"/>
              </a:ext>
            </a:extLst>
          </p:cNvPr>
          <p:cNvSpPr txBox="1"/>
          <p:nvPr/>
        </p:nvSpPr>
        <p:spPr>
          <a:xfrm>
            <a:off x="917330" y="2939864"/>
            <a:ext cx="4445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Visualization</a:t>
            </a:r>
            <a:r>
              <a:rPr lang="fr-FR" sz="2400" dirty="0"/>
              <a:t> </a:t>
            </a:r>
            <a:r>
              <a:rPr lang="fr-FR" sz="2400" dirty="0" err="1"/>
              <a:t>library</a:t>
            </a:r>
            <a:r>
              <a:rPr lang="fr-FR" sz="2400" dirty="0"/>
              <a:t> </a:t>
            </a:r>
            <a:br>
              <a:rPr lang="fr-FR" sz="2400" dirty="0"/>
            </a:b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optimised</a:t>
            </a:r>
            <a:r>
              <a:rPr lang="fr-FR" sz="2400" dirty="0"/>
              <a:t> for </a:t>
            </a:r>
            <a:r>
              <a:rPr lang="fr-FR" sz="2400" dirty="0" err="1"/>
              <a:t>dataframes</a:t>
            </a:r>
            <a:endParaRPr lang="fr-FR" sz="2400" b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7953280-E546-4BBA-97DC-61E82C6BC7FD}"/>
              </a:ext>
            </a:extLst>
          </p:cNvPr>
          <p:cNvSpPr txBox="1"/>
          <p:nvPr/>
        </p:nvSpPr>
        <p:spPr>
          <a:xfrm>
            <a:off x="917330" y="4772380"/>
            <a:ext cx="4445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Coming</a:t>
            </a:r>
            <a:r>
              <a:rPr lang="fr-FR" sz="2400" b="1" dirty="0"/>
              <a:t> </a:t>
            </a: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soon</a:t>
            </a:r>
            <a:r>
              <a:rPr lang="fr-FR" sz="2400" b="1" dirty="0"/>
              <a:t> in the </a:t>
            </a:r>
          </a:p>
          <a:p>
            <a:r>
              <a:rPr lang="fr-FR" sz="2400" b="1" dirty="0"/>
              <a:t>Atelier numérique de l’OMP</a:t>
            </a:r>
          </a:p>
        </p:txBody>
      </p:sp>
    </p:spTree>
    <p:extLst>
      <p:ext uri="{BB962C8B-B14F-4D97-AF65-F5344CB8AC3E}">
        <p14:creationId xmlns:p14="http://schemas.microsoft.com/office/powerpoint/2010/main" val="27870895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EEAA23-8FAF-464A-BD24-B0D824A4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III: </a:t>
            </a:r>
            <a:r>
              <a:rPr lang="fr-FR" dirty="0" err="1"/>
              <a:t>Practicals</a:t>
            </a: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ECCBA89-5EAB-46BE-B4C1-11FAEEB8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Go to the jupyter notebook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E46FC8-F97D-4FC3-B5C2-97E518CE0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BA270A-B6D4-4016-A15B-D199084B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A9ACDE-3862-4B83-B484-7583F443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44</a:t>
            </a:fld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DC8EBC2-9478-4733-90A1-8B6F9257E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004" y="1560391"/>
            <a:ext cx="3679181" cy="426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7415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AD71FCF-E0B8-41C5-9385-E74F0413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IV: </a:t>
            </a:r>
            <a:r>
              <a:rPr lang="fr-FR" dirty="0" err="1"/>
              <a:t>Timeseries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E22A4E-DF78-4BCD-8A71-7426C570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6503AF-CEBF-4D80-82C0-EA3A5848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8C7CE6-EEAA-4B97-80E2-EB5644FC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45</a:t>
            </a:fld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7296E5-EEFC-4157-85E2-E1FE9C490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933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4EB6B81D-0D51-4FC7-BB51-26802A07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Example of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347781-01A7-4059-AA14-F5EE095AD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3A12BC-1141-4479-9917-5893EE87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A5D85F-E7CA-4D0C-AB2C-A4416032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46</a:t>
            </a:fld>
            <a:endParaRPr lang="en-US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7ED57F68-D6FD-47A7-8952-509BE61FD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209085" cy="4351338"/>
          </a:xfrm>
        </p:spPr>
        <p:txBody>
          <a:bodyPr/>
          <a:lstStyle/>
          <a:p>
            <a:r>
              <a:rPr lang="fr-FR" dirty="0" err="1"/>
              <a:t>Series</a:t>
            </a:r>
            <a:r>
              <a:rPr lang="fr-FR" dirty="0"/>
              <a:t> or </a:t>
            </a:r>
            <a:r>
              <a:rPr lang="fr-FR" dirty="0" err="1"/>
              <a:t>DataFrame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datetime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index</a:t>
            </a:r>
          </a:p>
          <a:p>
            <a:endParaRPr lang="fr-FR" dirty="0"/>
          </a:p>
          <a:p>
            <a:r>
              <a:rPr lang="fr-FR" dirty="0"/>
              <a:t>Constant time </a:t>
            </a:r>
            <a:r>
              <a:rPr lang="fr-FR" dirty="0" err="1"/>
              <a:t>step</a:t>
            </a:r>
            <a:r>
              <a:rPr lang="fr-FR" dirty="0"/>
              <a:t> or not</a:t>
            </a:r>
          </a:p>
          <a:p>
            <a:endParaRPr lang="fr-FR" dirty="0"/>
          </a:p>
          <a:p>
            <a:r>
              <a:rPr lang="fr-FR" i="1" dirty="0"/>
              <a:t>Example</a:t>
            </a:r>
            <a:r>
              <a:rPr lang="fr-FR" dirty="0"/>
              <a:t>: </a:t>
            </a:r>
            <a:r>
              <a:rPr lang="fr-FR" dirty="0" err="1"/>
              <a:t>temperature</a:t>
            </a:r>
            <a:r>
              <a:rPr lang="fr-FR" dirty="0"/>
              <a:t> logger in the </a:t>
            </a:r>
            <a:r>
              <a:rPr lang="fr-FR" dirty="0" err="1"/>
              <a:t>ocean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B21E683-55EE-462C-8117-1CF33656B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189" y="1554529"/>
            <a:ext cx="230505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375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59DB11-EE6C-401B-86F7-512D3ABA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to </a:t>
            </a:r>
            <a:r>
              <a:rPr lang="fr-FR" dirty="0" err="1"/>
              <a:t>get</a:t>
            </a:r>
            <a:r>
              <a:rPr lang="fr-FR" dirty="0"/>
              <a:t> a </a:t>
            </a:r>
            <a:r>
              <a:rPr lang="fr-FR" dirty="0" err="1"/>
              <a:t>datetime</a:t>
            </a:r>
            <a:r>
              <a:rPr lang="fr-FR" dirty="0"/>
              <a:t> index?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69DA81-A897-44E9-887E-EF6497026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851"/>
            <a:ext cx="3575538" cy="406306"/>
          </a:xfrm>
        </p:spPr>
        <p:txBody>
          <a:bodyPr>
            <a:normAutofit fontScale="92500" lnSpcReduction="20000"/>
          </a:bodyPr>
          <a:lstStyle/>
          <a:p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Create</a:t>
            </a:r>
            <a:r>
              <a:rPr lang="fr-FR" dirty="0"/>
              <a:t> a new index: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1E44A1-D7BF-440F-8E35-3B5B9715B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E5582C-002D-4153-AB69-83BD3197B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0EBA95-2C99-41E7-8B83-0216A5C9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47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0EB64F4-0E87-4AAC-BB24-5020FF45E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65" y="1755506"/>
            <a:ext cx="6023736" cy="131801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D1192FD-68F1-4C4F-85E2-0CD7C8D89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65" y="3304300"/>
            <a:ext cx="6126706" cy="177108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BDE53A7-08D4-4801-B5CB-8D7DB5E199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8219" b="56052"/>
          <a:stretch/>
        </p:blipFill>
        <p:spPr>
          <a:xfrm>
            <a:off x="7157792" y="2086257"/>
            <a:ext cx="4389597" cy="46718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E50705A-CD93-42FE-9BDC-070DF0C9373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8673" b="56362"/>
          <a:stretch/>
        </p:blipFill>
        <p:spPr>
          <a:xfrm>
            <a:off x="6420058" y="2639360"/>
            <a:ext cx="5628477" cy="406305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666F172B-8DE5-472B-AB6D-5B45FFA4B6D1}"/>
              </a:ext>
            </a:extLst>
          </p:cNvPr>
          <p:cNvSpPr txBox="1">
            <a:spLocks/>
          </p:cNvSpPr>
          <p:nvPr/>
        </p:nvSpPr>
        <p:spPr>
          <a:xfrm>
            <a:off x="838200" y="5075382"/>
            <a:ext cx="7315200" cy="11829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Frequencies</a:t>
            </a:r>
            <a:r>
              <a:rPr lang="fr-FR" sz="2400" dirty="0"/>
              <a:t>?</a:t>
            </a:r>
          </a:p>
          <a:p>
            <a:pPr lvl="1">
              <a:lnSpc>
                <a:spcPct val="100000"/>
              </a:lnSpc>
            </a:pPr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YS, Q, MS, W, D, h, min, s, ms, us, ns</a:t>
            </a:r>
          </a:p>
          <a:p>
            <a:pPr lvl="1">
              <a:lnSpc>
                <a:spcPct val="100000"/>
              </a:lnSpc>
            </a:pPr>
            <a:r>
              <a:rPr lang="fr-FR" sz="2000" dirty="0"/>
              <a:t>Can </a:t>
            </a:r>
            <a:r>
              <a:rPr lang="fr-FR" sz="2000" dirty="0" err="1"/>
              <a:t>also</a:t>
            </a:r>
            <a:r>
              <a:rPr lang="fr-FR" sz="2000" dirty="0"/>
              <a:t> </a:t>
            </a:r>
            <a:r>
              <a:rPr lang="fr-FR" sz="2000" dirty="0" err="1"/>
              <a:t>add</a:t>
            </a:r>
            <a:r>
              <a:rPr lang="fr-FR" sz="2000" dirty="0"/>
              <a:t> a 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</a:rPr>
              <a:t>number</a:t>
            </a:r>
            <a:r>
              <a:rPr lang="fr-FR" sz="2000" dirty="0"/>
              <a:t>: </a:t>
            </a:r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10h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4DE6C92F-E477-42A4-AD2E-0F41AB19E79D}"/>
              </a:ext>
            </a:extLst>
          </p:cNvPr>
          <p:cNvSpPr txBox="1">
            <a:spLocks/>
          </p:cNvSpPr>
          <p:nvPr/>
        </p:nvSpPr>
        <p:spPr>
          <a:xfrm>
            <a:off x="7793206" y="1370926"/>
            <a:ext cx="3575538" cy="4063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b="1" dirty="0"/>
              <a:t>strings</a:t>
            </a:r>
          </a:p>
        </p:txBody>
      </p:sp>
    </p:spTree>
    <p:extLst>
      <p:ext uri="{BB962C8B-B14F-4D97-AF65-F5344CB8AC3E}">
        <p14:creationId xmlns:p14="http://schemas.microsoft.com/office/powerpoint/2010/main" val="171929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C37389-4E9A-4E3A-9764-859D2AB01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Plot the </a:t>
            </a:r>
            <a:r>
              <a:rPr lang="fr-FR" dirty="0" err="1"/>
              <a:t>timeseries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0474C6-C42D-4A00-B2C3-608A0D7DD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741DBC-3F7F-4A4C-B38B-B1FBAE659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72A10F-B6E7-494A-B598-8F12FE1B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48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E0C06CE-34B0-4972-A307-6DD44AB65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88" y="1231493"/>
            <a:ext cx="5957823" cy="474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518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91F9B0-0D41-491F-B6F6-FDB8CCB4D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Select data </a:t>
            </a:r>
            <a:r>
              <a:rPr lang="fr-FR" dirty="0" err="1"/>
              <a:t>based</a:t>
            </a:r>
            <a:r>
              <a:rPr lang="fr-FR" dirty="0"/>
              <a:t> on time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81D817-8E3C-4DE2-AB50-78B4D9FB3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5F10B8-42F5-41F2-A5DC-20F147F45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7E3CC8-1673-4D80-AB87-14E0FA5C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49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67CED0E-F40E-4D84-93CA-104B3C39D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5722"/>
            <a:ext cx="10515600" cy="4351338"/>
          </a:xfrm>
        </p:spPr>
        <p:txBody>
          <a:bodyPr/>
          <a:lstStyle/>
          <a:p>
            <a:r>
              <a:rPr lang="fr-FR" dirty="0"/>
              <a:t>Use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df.loc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[time] </a:t>
            </a:r>
            <a:r>
              <a:rPr lang="fr-FR" dirty="0"/>
              <a:t>for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specific</a:t>
            </a:r>
            <a:r>
              <a:rPr lang="fr-FR" dirty="0"/>
              <a:t> times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12A1F34-673E-49B2-96FB-84018BEAB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726" y="2628985"/>
            <a:ext cx="3598376" cy="298003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87A2EF5-90AE-4488-A33C-D8F4398A4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46" y="2628985"/>
            <a:ext cx="3556061" cy="322807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71114BE-4ACB-4FE5-90A4-9B91FD53B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284" y="2628985"/>
            <a:ext cx="3748043" cy="300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33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91F9B0-0D41-491F-B6F6-FDB8CCB4D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Select data </a:t>
            </a:r>
            <a:r>
              <a:rPr lang="fr-FR" dirty="0" err="1"/>
              <a:t>based</a:t>
            </a:r>
            <a:r>
              <a:rPr lang="fr-FR" dirty="0"/>
              <a:t> on time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81D817-8E3C-4DE2-AB50-78B4D9FB3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5F10B8-42F5-41F2-A5DC-20F147F45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7E3CC8-1673-4D80-AB87-14E0FA5C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50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67CED0E-F40E-4D84-93CA-104B3C39D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5722"/>
            <a:ext cx="10515600" cy="4351338"/>
          </a:xfrm>
        </p:spPr>
        <p:txBody>
          <a:bodyPr/>
          <a:lstStyle/>
          <a:p>
            <a:r>
              <a:rPr lang="fr-FR" dirty="0"/>
              <a:t>Use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df.loc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[time1:time2] </a:t>
            </a:r>
            <a:r>
              <a:rPr lang="fr-FR" dirty="0"/>
              <a:t>for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intervals</a:t>
            </a:r>
            <a:endParaRPr lang="fr-FR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64FFF0A-0ACD-45C8-BBF6-FCDF2767B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457" y="2528416"/>
            <a:ext cx="4371975" cy="355282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65C023D-D38A-4F53-9321-830C62846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709" y="2528416"/>
            <a:ext cx="410527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40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BF93DB-F522-4D92-BCF5-C1A4208B8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Resampling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F6440D-1FCA-490F-95A4-18767566F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C62CCE-4D2B-4321-A530-57F9B39B2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308E61-57A6-44E8-8068-511313F18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51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EE8556C4-AECA-4C60-A8A4-F97E39C39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253331"/>
            <a:ext cx="10515600" cy="4351338"/>
          </a:xfrm>
        </p:spPr>
        <p:txBody>
          <a:bodyPr/>
          <a:lstStyle/>
          <a:p>
            <a:r>
              <a:rPr lang="fr-FR" dirty="0"/>
              <a:t>Use the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frequencies</a:t>
            </a:r>
            <a:r>
              <a:rPr lang="fr-FR" dirty="0"/>
              <a:t> as in </a:t>
            </a:r>
            <a:r>
              <a:rPr lang="fr-FR" dirty="0" err="1"/>
              <a:t>date_range</a:t>
            </a:r>
            <a:r>
              <a:rPr lang="fr-FR" dirty="0"/>
              <a:t>: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Returns</a:t>
            </a:r>
            <a:r>
              <a:rPr lang="fr-FR" dirty="0"/>
              <a:t> an </a:t>
            </a:r>
            <a:r>
              <a:rPr lang="fr-FR" dirty="0" err="1"/>
              <a:t>object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expects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an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operation</a:t>
            </a:r>
            <a:endParaRPr lang="fr-FR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mean</a:t>
            </a:r>
            <a:r>
              <a:rPr lang="fr-FR" dirty="0"/>
              <a:t>, 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max</a:t>
            </a:r>
            <a:r>
              <a:rPr lang="fr-FR" dirty="0"/>
              <a:t>, 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quantile</a:t>
            </a:r>
            <a:r>
              <a:rPr lang="fr-FR" dirty="0"/>
              <a:t>, 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count</a:t>
            </a:r>
            <a:r>
              <a:rPr lang="fr-FR" dirty="0"/>
              <a:t>, … or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apply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63EC277-6592-413E-B1CF-661D3959D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127" y="1859029"/>
            <a:ext cx="3958946" cy="41009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8F6BAF4-6A81-458E-A06D-DA8C6A9B3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707" y="3888148"/>
            <a:ext cx="4153786" cy="186250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3224467-5DE2-48ED-A764-5B83B9B06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714" y="1376803"/>
            <a:ext cx="4288971" cy="376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4E3E1-C640-4A36-BDF9-D3A9FC17D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Rolling </a:t>
            </a:r>
            <a:r>
              <a:rPr lang="fr-FR" dirty="0" err="1"/>
              <a:t>windows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5ACFEC-1EFE-4D35-88B0-5347B188F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55E1C3-B686-495C-96F6-B388CA83A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BB5FE8-BD5A-41B7-8A54-F6AA4847D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52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BA219E4F-67E0-48DB-8027-C288A9758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7324"/>
            <a:ext cx="10515600" cy="4351338"/>
          </a:xfrm>
        </p:spPr>
        <p:txBody>
          <a:bodyPr>
            <a:normAutofit/>
          </a:bodyPr>
          <a:lstStyle/>
          <a:p>
            <a:r>
              <a:rPr lang="fr-FR" sz="2000" dirty="0" err="1"/>
              <a:t>Keeps</a:t>
            </a:r>
            <a:r>
              <a:rPr lang="fr-FR" sz="2000" dirty="0"/>
              <a:t> the 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</a:rPr>
              <a:t>same</a:t>
            </a: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 sampling rate</a:t>
            </a:r>
          </a:p>
          <a:p>
            <a:r>
              <a:rPr lang="fr-FR" sz="2000" dirty="0" err="1"/>
              <a:t>Returns</a:t>
            </a:r>
            <a:r>
              <a:rPr lang="fr-FR" sz="2000" dirty="0"/>
              <a:t> an </a:t>
            </a:r>
            <a:r>
              <a:rPr lang="fr-FR" sz="2000" dirty="0" err="1"/>
              <a:t>object</a:t>
            </a:r>
            <a:r>
              <a:rPr lang="fr-FR" sz="2000" dirty="0"/>
              <a:t> as in </a:t>
            </a:r>
            <a:r>
              <a:rPr lang="fr-FR" sz="2000" dirty="0" err="1"/>
              <a:t>groupby</a:t>
            </a:r>
            <a:r>
              <a:rPr lang="fr-FR" sz="2000" dirty="0"/>
              <a:t>: 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</a:rPr>
              <a:t>expects</a:t>
            </a: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 an 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</a:rPr>
              <a:t>operation</a:t>
            </a:r>
            <a:endParaRPr lang="fr-FR" sz="2000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mean</a:t>
            </a:r>
            <a:r>
              <a:rPr lang="fr-FR" sz="1800" dirty="0"/>
              <a:t>, 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max</a:t>
            </a:r>
            <a:r>
              <a:rPr lang="fr-FR" sz="1800" dirty="0"/>
              <a:t>, 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quantile</a:t>
            </a:r>
            <a:r>
              <a:rPr lang="fr-FR" sz="1800" dirty="0"/>
              <a:t>, 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count</a:t>
            </a:r>
            <a:r>
              <a:rPr lang="fr-FR" sz="1800" dirty="0"/>
              <a:t>, … or </a:t>
            </a: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apply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2CDDF53-3013-448E-9DDE-D6E1AC4C5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35201"/>
            <a:ext cx="3620267" cy="393235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36372BB-F623-4800-AF67-E102A9C6B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901" y="2235200"/>
            <a:ext cx="4076997" cy="393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88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6EFAF4-75CD-4BFD-9D8E-62C9C47F2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Dealing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missing</a:t>
            </a:r>
            <a:r>
              <a:rPr lang="fr-FR" dirty="0"/>
              <a:t>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8EF1AA-D59C-4DA1-A824-FA3BCA0A8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E9BBD0-089C-46B0-9D20-C28E4EC57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110671-5E05-4247-A22E-AD88AD9C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53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DF629912-A21E-450E-8015-E29C5B3B3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182" y="1228717"/>
            <a:ext cx="5637899" cy="560742"/>
          </a:xfrm>
        </p:spPr>
        <p:txBody>
          <a:bodyPr>
            <a:normAutofit/>
          </a:bodyPr>
          <a:lstStyle/>
          <a:p>
            <a:r>
              <a:rPr lang="fr-FR" dirty="0"/>
              <a:t>Can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b="1" dirty="0" err="1"/>
              <a:t>daily</a:t>
            </a:r>
            <a:r>
              <a:rPr lang="fr-FR" dirty="0"/>
              <a:t> data?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44D3F33-DA5C-41BA-BBB3-6015EFDF4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76" y="1162737"/>
            <a:ext cx="1927247" cy="132814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89993E9-0302-4D57-898B-0D11AED3C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76" y="3172988"/>
            <a:ext cx="3362571" cy="284411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60DB6E1-0B12-4660-803C-28EA5D32B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5988" y="3172988"/>
            <a:ext cx="4370953" cy="2844113"/>
          </a:xfrm>
          <a:prstGeom prst="rect">
            <a:avLst/>
          </a:prstGeom>
        </p:spPr>
      </p:pic>
      <p:sp>
        <p:nvSpPr>
          <p:cNvPr id="3" name="Flèche : bas 2">
            <a:extLst>
              <a:ext uri="{FF2B5EF4-FFF2-40B4-BE49-F238E27FC236}">
                <a16:creationId xmlns:a16="http://schemas.microsoft.com/office/drawing/2014/main" id="{EED458B0-1AB7-47EF-8E3C-5BF110FC22AC}"/>
              </a:ext>
            </a:extLst>
          </p:cNvPr>
          <p:cNvSpPr/>
          <p:nvPr/>
        </p:nvSpPr>
        <p:spPr>
          <a:xfrm>
            <a:off x="1407886" y="2490877"/>
            <a:ext cx="319314" cy="6821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873C5A57-62A5-426A-AC66-1CE59BE05288}"/>
              </a:ext>
            </a:extLst>
          </p:cNvPr>
          <p:cNvSpPr txBox="1">
            <a:spLocks/>
          </p:cNvSpPr>
          <p:nvPr/>
        </p:nvSpPr>
        <p:spPr>
          <a:xfrm>
            <a:off x="1827109" y="2643277"/>
            <a:ext cx="3775405" cy="560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.</a:t>
            </a:r>
            <a:r>
              <a:rPr lang="fr-FR" sz="24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resample</a:t>
            </a:r>
            <a:r>
              <a:rPr lang="fr-FR" sz="2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(‘D’).</a:t>
            </a:r>
            <a:r>
              <a:rPr lang="fr-FR" sz="24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mean</a:t>
            </a:r>
            <a:r>
              <a:rPr lang="fr-FR" sz="2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3596A08E-0B3F-422C-8102-AE02C12814CD}"/>
              </a:ext>
            </a:extLst>
          </p:cNvPr>
          <p:cNvSpPr/>
          <p:nvPr/>
        </p:nvSpPr>
        <p:spPr>
          <a:xfrm rot="16200000">
            <a:off x="5693644" y="2906367"/>
            <a:ext cx="365125" cy="33625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4186CB53-D701-46D1-B61C-90971F0E4483}"/>
              </a:ext>
            </a:extLst>
          </p:cNvPr>
          <p:cNvSpPr txBox="1">
            <a:spLocks/>
          </p:cNvSpPr>
          <p:nvPr/>
        </p:nvSpPr>
        <p:spPr>
          <a:xfrm>
            <a:off x="4329428" y="3979308"/>
            <a:ext cx="3775405" cy="560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>
                <a:solidFill>
                  <a:srgbClr val="FF000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.</a:t>
            </a:r>
            <a:r>
              <a:rPr lang="fr-FR" sz="2400" dirty="0" err="1">
                <a:solidFill>
                  <a:srgbClr val="FF000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interpolate</a:t>
            </a:r>
            <a:r>
              <a:rPr lang="fr-FR" sz="2400" dirty="0">
                <a:solidFill>
                  <a:srgbClr val="FF000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1228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3" grpId="0" animBg="1"/>
      <p:bldP spid="11" grpId="0"/>
      <p:bldP spid="12" grpId="0" animBg="1"/>
      <p:bldP spid="1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3F24E8-82BE-4996-A0F5-C1ABA7BB0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Access date information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0A3D7F-9164-4F3B-9233-DABA1AC7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DAC2AB-F485-476E-BC95-493764F81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BB4ED5-B7D3-4161-A16D-AFC447512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54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E8D7E2DA-7A3D-4F9B-8E3A-14ECC2254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180"/>
            <a:ext cx="10515600" cy="4351338"/>
          </a:xfrm>
        </p:spPr>
        <p:txBody>
          <a:bodyPr/>
          <a:lstStyle/>
          <a:p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attributes</a:t>
            </a:r>
            <a:r>
              <a:rPr lang="fr-FR" dirty="0"/>
              <a:t> </a:t>
            </a:r>
            <a:r>
              <a:rPr lang="fr-FR" dirty="0" err="1"/>
              <a:t>available</a:t>
            </a:r>
            <a:r>
              <a:rPr lang="fr-FR" dirty="0"/>
              <a:t> for a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DatetimeIndex</a:t>
            </a:r>
            <a:endParaRPr lang="fr-FR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month</a:t>
            </a:r>
            <a:r>
              <a:rPr lang="fr-FR" dirty="0"/>
              <a:t>,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year</a:t>
            </a:r>
            <a:r>
              <a:rPr lang="fr-FR" dirty="0"/>
              <a:t>,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dayofweek</a:t>
            </a:r>
            <a:r>
              <a:rPr lang="fr-FR" dirty="0"/>
              <a:t>,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is_month_start</a:t>
            </a:r>
            <a:r>
              <a:rPr lang="fr-FR" dirty="0"/>
              <a:t>,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is_leap_year</a:t>
            </a:r>
            <a:r>
              <a:rPr lang="fr-FR" dirty="0"/>
              <a:t>, ...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9167850-18D4-4161-8AF7-AD909BFCD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792" y="3015747"/>
            <a:ext cx="5978416" cy="161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384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2C48A2-9E4E-40FB-B8DA-DB1C8956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Groupby</a:t>
            </a:r>
            <a:r>
              <a:rPr lang="fr-FR" dirty="0"/>
              <a:t> for temporal data?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C0EE3-8E6B-455F-A137-32BF24ED6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EB694A-113F-4E67-9A04-9E9EB5CB8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B5C7A7-7805-4B75-BEFF-C96F7AA19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55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E1085EF5-A6DD-4392-B8E6-023BD6C99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387"/>
            <a:ext cx="10515600" cy="4351338"/>
          </a:xfrm>
        </p:spPr>
        <p:txBody>
          <a:bodyPr/>
          <a:lstStyle/>
          <a:p>
            <a:r>
              <a:rPr lang="fr-FR" b="1" dirty="0"/>
              <a:t>Daily</a:t>
            </a:r>
            <a:r>
              <a:rPr lang="fr-FR" dirty="0"/>
              <a:t> </a:t>
            </a:r>
            <a:r>
              <a:rPr lang="fr-FR" dirty="0" err="1"/>
              <a:t>temperature</a:t>
            </a:r>
            <a:r>
              <a:rPr lang="fr-FR" dirty="0"/>
              <a:t> cycle: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F1B0556-5C75-4D37-B4CF-C568D97D5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680" y="2025162"/>
            <a:ext cx="4309720" cy="363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496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E328A0-63BF-46F0-962B-B1F4A5919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IV </a:t>
            </a:r>
            <a:r>
              <a:rPr lang="fr-FR" dirty="0" err="1"/>
              <a:t>summary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DFD740-0EB7-446A-AF79-14A42F55E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9D0E9A-E151-432C-981B-9C252B5D8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1E5A0C-D57B-4104-8237-A5051E1B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56</a:t>
            </a:fld>
            <a:endParaRPr lang="en-US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3C5034C6-D518-43A0-A480-1174EBD50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9986" y="2623570"/>
            <a:ext cx="5156200" cy="334644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000" b="1" dirty="0"/>
              <a:t>Temporal 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</a:rPr>
              <a:t>selection</a:t>
            </a:r>
            <a:r>
              <a:rPr lang="fr-FR" sz="2000" b="1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</a:rPr>
              <a:t>Period</a:t>
            </a:r>
            <a:r>
              <a:rPr lang="fr-FR" sz="2000" b="1" dirty="0"/>
              <a:t> </a:t>
            </a:r>
            <a:r>
              <a:rPr lang="fr-FR" sz="2000" b="1" dirty="0" err="1"/>
              <a:t>selection</a:t>
            </a:r>
            <a:r>
              <a:rPr lang="fr-FR" sz="2000" b="1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</a:rPr>
              <a:t>Resampling</a:t>
            </a:r>
            <a:r>
              <a:rPr lang="fr-FR" sz="2000" b="1" dirty="0"/>
              <a:t>:</a:t>
            </a:r>
            <a:br>
              <a:rPr lang="fr-FR" sz="2000" b="1" dirty="0"/>
            </a:b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Rolling</a:t>
            </a:r>
            <a:r>
              <a:rPr lang="fr-FR" sz="2000" b="1" dirty="0"/>
              <a:t> </a:t>
            </a:r>
            <a:r>
              <a:rPr lang="fr-FR" sz="2000" b="1" dirty="0" err="1"/>
              <a:t>windows</a:t>
            </a:r>
            <a:r>
              <a:rPr lang="fr-FR" sz="2000" b="1" dirty="0"/>
              <a:t>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000" b="1" dirty="0"/>
              <a:t>Fill the </a:t>
            </a: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nans</a:t>
            </a:r>
            <a:r>
              <a:rPr lang="fr-FR" sz="2000" b="1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000" b="1" dirty="0" err="1"/>
              <a:t>Datetime</a:t>
            </a:r>
            <a:r>
              <a:rPr lang="fr-FR" sz="2000" b="1" dirty="0"/>
              <a:t> </a:t>
            </a: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infos</a:t>
            </a:r>
            <a:r>
              <a:rPr lang="fr-FR" sz="2000" b="1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endParaRPr lang="fr-FR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5FEB6B9D-3574-4910-B00C-24FAA9EB0B02}"/>
              </a:ext>
            </a:extLst>
          </p:cNvPr>
          <p:cNvSpPr txBox="1">
            <a:spLocks/>
          </p:cNvSpPr>
          <p:nvPr/>
        </p:nvSpPr>
        <p:spPr>
          <a:xfrm>
            <a:off x="4278086" y="2457171"/>
            <a:ext cx="6767286" cy="35038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50000"/>
              </a:lnSpc>
              <a:buFont typeface="Arial" panose="020B0604020202020204" pitchFamily="34" charset="0"/>
              <a:buNone/>
            </a:pP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df.loc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["2012-10-04"]</a:t>
            </a:r>
            <a:b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df.loc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["2008-07" : "2015-07"]</a:t>
            </a:r>
            <a:b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df.resample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("D").</a:t>
            </a: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mean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  </a:t>
            </a:r>
            <a:b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df.rolling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( 5 ).</a:t>
            </a: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mean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    </a:t>
            </a: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df.rolling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 ‘2D’ ).</a:t>
            </a: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mean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  <a:b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df.interpolate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 )</a:t>
            </a:r>
            <a:b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df.index.hour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df.index.day_of_year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endParaRPr lang="en-US" sz="16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DB2B5DF5-1640-4DAA-9374-BDDAAD972C2C}"/>
              </a:ext>
            </a:extLst>
          </p:cNvPr>
          <p:cNvSpPr txBox="1">
            <a:spLocks/>
          </p:cNvSpPr>
          <p:nvPr/>
        </p:nvSpPr>
        <p:spPr>
          <a:xfrm>
            <a:off x="762000" y="1333128"/>
            <a:ext cx="10045700" cy="593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fr-FR" sz="2000" b="1" dirty="0" err="1"/>
              <a:t>series</a:t>
            </a:r>
            <a:r>
              <a:rPr lang="fr-FR" sz="2000" b="1" dirty="0"/>
              <a:t>/</a:t>
            </a:r>
            <a:r>
              <a:rPr lang="fr-FR" sz="2000" b="1" dirty="0" err="1"/>
              <a:t>dataframe</a:t>
            </a:r>
            <a:r>
              <a:rPr lang="fr-FR" sz="2000" b="1" dirty="0"/>
              <a:t> </a:t>
            </a:r>
            <a:r>
              <a:rPr lang="fr-FR" sz="2000" b="1" dirty="0" err="1"/>
              <a:t>with</a:t>
            </a:r>
            <a:r>
              <a:rPr lang="fr-FR" sz="2000" b="1" dirty="0"/>
              <a:t> 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</a:rPr>
              <a:t>datetime</a:t>
            </a: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 index </a:t>
            </a:r>
            <a:r>
              <a:rPr lang="fr-FR" sz="2000" dirty="0"/>
              <a:t>(</a:t>
            </a:r>
            <a:r>
              <a:rPr lang="fr-FR" sz="2000" dirty="0" err="1"/>
              <a:t>numpy</a:t>
            </a:r>
            <a:r>
              <a:rPr lang="fr-FR" sz="2000" dirty="0"/>
              <a:t> </a:t>
            </a:r>
            <a:r>
              <a:rPr lang="fr-FR" sz="2000" dirty="0" err="1"/>
              <a:t>datetime</a:t>
            </a:r>
            <a:r>
              <a:rPr lang="fr-FR" sz="2000" dirty="0"/>
              <a:t>/pandas </a:t>
            </a:r>
            <a:r>
              <a:rPr lang="fr-FR" sz="2000" dirty="0" err="1"/>
              <a:t>date_range</a:t>
            </a:r>
            <a:r>
              <a:rPr lang="fr-FR" sz="2000" dirty="0"/>
              <a:t>, …)</a:t>
            </a:r>
            <a:endParaRPr lang="fr-FR" sz="2000" b="1" dirty="0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8637603B-4227-4238-9F42-A1358D5070FF}"/>
              </a:ext>
            </a:extLst>
          </p:cNvPr>
          <p:cNvSpPr txBox="1">
            <a:spLocks/>
          </p:cNvSpPr>
          <p:nvPr/>
        </p:nvSpPr>
        <p:spPr>
          <a:xfrm>
            <a:off x="790330" y="2290368"/>
            <a:ext cx="6540500" cy="365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 err="1"/>
              <a:t>Some</a:t>
            </a:r>
            <a:r>
              <a:rPr lang="fr-FR" sz="2400" dirty="0"/>
              <a:t> </a:t>
            </a:r>
            <a:r>
              <a:rPr lang="fr-FR" sz="2400" dirty="0" err="1"/>
              <a:t>available</a:t>
            </a:r>
            <a:r>
              <a:rPr lang="fr-FR" sz="2400" dirty="0"/>
              <a:t> </a:t>
            </a:r>
            <a:r>
              <a:rPr lang="fr-FR" sz="2400" dirty="0" err="1"/>
              <a:t>methods</a:t>
            </a:r>
            <a:r>
              <a:rPr lang="fr-FR" sz="2400" dirty="0"/>
              <a:t>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05862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EEAA23-8FAF-464A-BD24-B0D824A4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IV: </a:t>
            </a:r>
            <a:r>
              <a:rPr lang="fr-FR" dirty="0" err="1"/>
              <a:t>Practicals</a:t>
            </a: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ECCBA89-5EAB-46BE-B4C1-11FAEEB8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Go to the jupyter notebook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E46FC8-F97D-4FC3-B5C2-97E518CE0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BA270A-B6D4-4016-A15B-D199084B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A9ACDE-3862-4B83-B484-7583F443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57</a:t>
            </a:fld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DC8EBC2-9478-4733-90A1-8B6F9257E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004" y="1560391"/>
            <a:ext cx="3679181" cy="426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54195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2287</Words>
  <Application>Microsoft Macintosh PowerPoint</Application>
  <PresentationFormat>Widescreen</PresentationFormat>
  <Paragraphs>495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Calibri</vt:lpstr>
      <vt:lpstr>Cascadia Code SemiBold</vt:lpstr>
      <vt:lpstr>Wingdings</vt:lpstr>
      <vt:lpstr>Thème Office</vt:lpstr>
      <vt:lpstr>Introduction to Pandas</vt:lpstr>
      <vt:lpstr>Programme: four blocks</vt:lpstr>
      <vt:lpstr>Part I: pandas objects</vt:lpstr>
      <vt:lpstr>pd.Series: introduction</vt:lpstr>
      <vt:lpstr>pd.Series: index and data types</vt:lpstr>
      <vt:lpstr>pd.Series: creating an object</vt:lpstr>
      <vt:lpstr>pd.Series: access data</vt:lpstr>
      <vt:lpstr>pd.DataFrame: introduction</vt:lpstr>
      <vt:lpstr>pd.DataFrame: creating an object</vt:lpstr>
      <vt:lpstr>pd.DataFrame: creating an object, option 2</vt:lpstr>
      <vt:lpstr>pd.DataFrame: access the data</vt:lpstr>
      <vt:lpstr>pd.DataFrame: access the data</vt:lpstr>
      <vt:lpstr>pd.DataFrame: append data</vt:lpstr>
      <vt:lpstr>pd.DataFrame: append data</vt:lpstr>
      <vt:lpstr>Reading/writing files: supported formats</vt:lpstr>
      <vt:lpstr>Reading/writing files: reading</vt:lpstr>
      <vt:lpstr>Reading/writing files: writing</vt:lpstr>
      <vt:lpstr>Part I: Summary</vt:lpstr>
      <vt:lpstr>Part I: Practicals</vt:lpstr>
      <vt:lpstr>Part II: First analyses</vt:lpstr>
      <vt:lpstr>Filter data</vt:lpstr>
      <vt:lpstr>Filter data</vt:lpstr>
      <vt:lpstr>Numpy-like operations: how to</vt:lpstr>
      <vt:lpstr>Numpy-like operations: examples of existing operations</vt:lpstr>
      <vt:lpstr>Custom and multiple aggregations</vt:lpstr>
      <vt:lpstr>Big warning: no loops !</vt:lpstr>
      <vt:lpstr>Sorting data</vt:lpstr>
      <vt:lpstr>Grouping data using groupby</vt:lpstr>
      <vt:lpstr>Grouping data using groupby</vt:lpstr>
      <vt:lpstr>Combining dataframes</vt:lpstr>
      <vt:lpstr>Combining dataframes</vt:lpstr>
      <vt:lpstr>One cool operation</vt:lpstr>
      <vt:lpstr>Part II summary: first operations</vt:lpstr>
      <vt:lpstr>Bonus: « one-liners »</vt:lpstr>
      <vt:lpstr>Part II: Practicals</vt:lpstr>
      <vt:lpstr>Part III: Plotting </vt:lpstr>
      <vt:lpstr>Plotting interface</vt:lpstr>
      <vt:lpstr>Plotting statistics for Series</vt:lpstr>
      <vt:lpstr>Plotting categorical data with barplots</vt:lpstr>
      <vt:lpstr>Plotting relations between data: scatter/hexbin</vt:lpstr>
      <vt:lpstr>Plotting functions available</vt:lpstr>
      <vt:lpstr>Integrating within a matplotlib workflow</vt:lpstr>
      <vt:lpstr>What about seaborn?</vt:lpstr>
      <vt:lpstr>Part III: Practicals</vt:lpstr>
      <vt:lpstr>Part IV: Timeseries</vt:lpstr>
      <vt:lpstr>Example of data</vt:lpstr>
      <vt:lpstr>How to get a datetime index?</vt:lpstr>
      <vt:lpstr>Plot the timeseries</vt:lpstr>
      <vt:lpstr>Select data based on time</vt:lpstr>
      <vt:lpstr>Select data based on time</vt:lpstr>
      <vt:lpstr>Resampling</vt:lpstr>
      <vt:lpstr>Rolling windows</vt:lpstr>
      <vt:lpstr>Dealing with missing data</vt:lpstr>
      <vt:lpstr>Access date information</vt:lpstr>
      <vt:lpstr>Groupby for temporal data?</vt:lpstr>
      <vt:lpstr>Part IV summary</vt:lpstr>
      <vt:lpstr>Part IV: Practicals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Robin Guillaume-Castel</dc:creator>
  <cp:lastModifiedBy>Robin Guillaume-Castel</cp:lastModifiedBy>
  <cp:revision>179</cp:revision>
  <dcterms:created xsi:type="dcterms:W3CDTF">2024-04-20T09:36:02Z</dcterms:created>
  <dcterms:modified xsi:type="dcterms:W3CDTF">2025-11-20T08:35:38Z</dcterms:modified>
</cp:coreProperties>
</file>