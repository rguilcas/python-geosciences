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7F9109-4080-0641-9C26-9E81570861CF}" v="1" dt="2025-11-20T08:33:03.3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6003" autoAdjust="0"/>
    <p:restoredTop sz="96301" autoAdjust="0"/>
  </p:normalViewPr>
  <p:slideViewPr>
    <p:cSldViewPr snapToGrid="0">
      <p:cViewPr varScale="1">
        <p:scale>
          <a:sx n="118" d="100"/>
          <a:sy n="118" d="100"/>
        </p:scale>
        <p:origin x="240" y="4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in Guillaume-Castel" userId="d00fb1e9-a1ad-4e14-9c90-8ac9508e8689" providerId="ADAL" clId="{9694768D-AE80-5C96-BE9F-2F4CFE4E5900}"/>
    <pc:docChg chg="modMainMaster">
      <pc:chgData name="Robin Guillaume-Castel" userId="d00fb1e9-a1ad-4e14-9c90-8ac9508e8689" providerId="ADAL" clId="{9694768D-AE80-5C96-BE9F-2F4CFE4E5900}" dt="2025-11-20T08:33:03.339" v="0"/>
      <pc:docMkLst>
        <pc:docMk/>
      </pc:docMkLst>
      <pc:sldMasterChg chg="modSldLayout">
        <pc:chgData name="Robin Guillaume-Castel" userId="d00fb1e9-a1ad-4e14-9c90-8ac9508e8689" providerId="ADAL" clId="{9694768D-AE80-5C96-BE9F-2F4CFE4E5900}" dt="2025-11-20T08:33:03.339" v="0"/>
        <pc:sldMasterMkLst>
          <pc:docMk/>
          <pc:sldMasterMk cId="1765427073" sldId="2147483648"/>
        </pc:sldMasterMkLst>
        <pc:sldLayoutChg chg="addSp">
          <pc:chgData name="Robin Guillaume-Castel" userId="d00fb1e9-a1ad-4e14-9c90-8ac9508e8689" providerId="ADAL" clId="{9694768D-AE80-5C96-BE9F-2F4CFE4E5900}" dt="2025-11-20T08:33:03.339" v="0"/>
          <pc:sldLayoutMkLst>
            <pc:docMk/>
            <pc:sldMasterMk cId="1765427073" sldId="2147483648"/>
            <pc:sldLayoutMk cId="155734712" sldId="2147483649"/>
          </pc:sldLayoutMkLst>
          <pc:picChg chg="add">
            <ac:chgData name="Robin Guillaume-Castel" userId="d00fb1e9-a1ad-4e14-9c90-8ac9508e8689" providerId="ADAL" clId="{9694768D-AE80-5C96-BE9F-2F4CFE4E5900}" dt="2025-11-20T08:33:03.339" v="0"/>
            <ac:picMkLst>
              <pc:docMk/>
              <pc:sldMasterMk cId="1765427073" sldId="2147483648"/>
              <pc:sldLayoutMk cId="155734712" sldId="2147483649"/>
              <ac:picMk id="1026" creationId="{73760664-7074-95FA-CD57-476BA4DBBF19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DC86C1-B24B-41D3-BB9D-3E904495D85B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92BAA7-6BA6-41AC-8BA9-85AA7795B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917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CF6682-B7A5-484B-BA4F-A3B821A58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3885" y="1122363"/>
            <a:ext cx="7608815" cy="2387600"/>
          </a:xfrm>
        </p:spPr>
        <p:txBody>
          <a:bodyPr anchor="b">
            <a:normAutofit/>
          </a:bodyPr>
          <a:lstStyle>
            <a:lvl1pPr algn="ctr">
              <a:defRPr sz="4400" b="1">
                <a:solidFill>
                  <a:schemeClr val="accent5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022A88F-EBD5-4450-A303-A74445F46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3885" y="3602038"/>
            <a:ext cx="7608815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786370-5239-4653-9781-F3347789D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DA206D-7CED-497F-B66A-5128724B7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1BA628-4203-440E-944F-4483FC915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6B84FC-0BAF-4844-8636-C8CE0488CC05}"/>
              </a:ext>
            </a:extLst>
          </p:cNvPr>
          <p:cNvSpPr/>
          <p:nvPr userDrawn="1"/>
        </p:nvSpPr>
        <p:spPr>
          <a:xfrm>
            <a:off x="0" y="0"/>
            <a:ext cx="4038600" cy="6203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3760664-7074-95FA-CD57-476BA4DBBF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6950" y="2533650"/>
            <a:ext cx="511810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34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6AD083-91B4-4CC9-A334-F2CE314A1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2222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EC88CD-D080-4CA6-9603-7BB3849DE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3850"/>
            <a:ext cx="10515600" cy="484311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487B9D-197A-4B42-8CEF-708FF60FD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70DB6F-6611-4F7A-8BBB-E39CD0B5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E12619-A6D2-4C5C-8A4A-04C49434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93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B63C30-95A1-475F-8851-B2BDA0A20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>
                <a:solidFill>
                  <a:schemeClr val="accent5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CA9E993-7B3F-4F3E-BB6D-7615198E3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FA7D45-A8BE-4F9C-AAD2-7814A034A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B393E4-7A7B-404C-8AD2-648FB56BA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0B0C31-DCB8-4D08-9ACB-1D73A334F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83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DF11C9-FC93-47F5-8548-3623C3E63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E51998-6528-45E5-A2C5-731E1E7402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8C3A12B-51E6-41B6-B366-5F6E3A2021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ECDC879-1B84-4791-A7C2-BA9B2B0CA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FC91D37-74D2-4E54-AF80-EF9D0BDF0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7E242BC-623D-4978-B9D4-B4E5BE21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17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5D0BF0-F364-49A3-991C-34CB12D35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72A9F6A-2C46-45FA-8DCD-BFE5A2CF9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1F31FFD-54CE-4FF4-990F-E55B99355D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2C91CA3-CE2B-4A2E-8C9E-A021D94735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7EE74AC-95E1-4B1C-95C5-E1FBD0C0D1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3CDFE34-6A37-4C77-B878-D06E9052F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7502617-735C-4416-BA43-5C0CA167B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1AB7EEA-AEB5-4B48-B013-255FF8C76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101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462139-7195-4E88-B757-3B07947C5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5E330A6-0507-4851-A841-56AFFF76D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65C88B3-E392-4EB5-B31B-64946BE17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96D0493-DE4C-49CC-8C1F-2281202A2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168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7F06192-BB26-4894-A26E-D82A5A1F0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3EA3B2B-92C2-4A75-A94A-E6EF0A068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F1785C-C313-4288-8C63-74F4C603A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40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CB81DB-40BB-437B-B982-473ECD95E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6799C2-7609-48AA-999E-0641626DE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E4F20D2-F834-40D6-ADD5-396EAD97D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1473E4B-6B21-49CE-8648-48B8C4B63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6974C1C-E394-4E03-A171-7B93044AE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68E121B-9358-4612-80B8-4DC372E60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51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B6FAB3-9F2B-4C66-B195-0E0DFA40A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4C07A02-AB38-4F6C-93E8-5A3F972C3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121A9B3-E7F3-4AFA-ADF2-C17D53D47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FC98E8E-71B1-488B-875D-8253B5351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3FB54E-BCE4-4ACA-A514-0DBF8E442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9948766-94C6-4F60-87BB-8C04519ED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198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FB7537-47D0-45CA-B4E8-2855C3C79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726030B-74AA-47A0-A3F4-73A30ABB03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BFB816-727A-42D9-A59F-D9D6028CD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33E112-9BA1-4451-94A1-2F58634BC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E54784-29CD-45D4-BD61-CF02C9FE3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48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C90DAFD-66EA-46E4-BA67-774A0EFA1A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3E474AA-D733-42F9-AE29-F31B42F87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E3C5A2-EA21-4431-B71E-406C412B0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A12F79-DCE2-4C69-BB69-4535B04B1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9C2E81-C536-43A8-8EFD-024E00D55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986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F5B93A2-1C1B-4B85-9E76-1D846A343E2C}"/>
              </a:ext>
            </a:extLst>
          </p:cNvPr>
          <p:cNvSpPr/>
          <p:nvPr userDrawn="1"/>
        </p:nvSpPr>
        <p:spPr>
          <a:xfrm>
            <a:off x="0" y="6196806"/>
            <a:ext cx="12192000" cy="45719"/>
          </a:xfrm>
          <a:prstGeom prst="rect">
            <a:avLst/>
          </a:prstGeom>
          <a:gradFill flip="none" rotWithShape="1">
            <a:gsLst>
              <a:gs pos="0">
                <a:srgbClr val="366D9B">
                  <a:tint val="66000"/>
                  <a:satMod val="160000"/>
                </a:srgbClr>
              </a:gs>
              <a:gs pos="50000">
                <a:srgbClr val="366D9B">
                  <a:tint val="44500"/>
                  <a:satMod val="160000"/>
                </a:srgbClr>
              </a:gs>
              <a:gs pos="100000">
                <a:srgbClr val="366D9B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1ACA714D-FB2E-4664-A02C-B24C3ED6E50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3915" y="6281418"/>
            <a:ext cx="536452" cy="52963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48D7CB7-87F1-471A-B25A-C46A3C1094D8}"/>
              </a:ext>
            </a:extLst>
          </p:cNvPr>
          <p:cNvSpPr/>
          <p:nvPr userDrawn="1"/>
        </p:nvSpPr>
        <p:spPr>
          <a:xfrm>
            <a:off x="0" y="0"/>
            <a:ext cx="12192000" cy="6196806"/>
          </a:xfrm>
          <a:prstGeom prst="rect">
            <a:avLst/>
          </a:prstGeom>
          <a:solidFill>
            <a:srgbClr val="F1F8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3356DD7-74EA-4E39-AB1E-B36F1E80B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91ACA0E-6B33-4203-BA7A-05452CA56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B4BF38-BCA5-43BC-9682-246AF3237E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0FBCD1-240E-4547-A495-9E640CCFFC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0DA093-E4A1-4F02-896A-838653565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27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xarray.dev/en/stable/" TargetMode="External"/><Relationship Id="rId2" Type="http://schemas.openxmlformats.org/officeDocument/2006/relationships/hyperlink" Target="https://pandas.pydata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dask.org/" TargetMode="External"/><Relationship Id="rId4" Type="http://schemas.openxmlformats.org/officeDocument/2006/relationships/hyperlink" Target="https://gallery.pangeo.io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C77E39-8BDD-478F-A454-6ADBFE30CB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Python for data </a:t>
            </a:r>
            <a:r>
              <a:rPr lang="fr-FR" dirty="0" err="1"/>
              <a:t>analysis</a:t>
            </a:r>
            <a:r>
              <a:rPr lang="fr-FR" dirty="0"/>
              <a:t> in </a:t>
            </a:r>
            <a:r>
              <a:rPr lang="fr-FR" dirty="0" err="1"/>
              <a:t>geosciences</a:t>
            </a:r>
            <a:endParaRPr lang="en-US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76A38AD-0880-402D-9076-787FA6E8CD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General introduction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9F71B7-DF82-4515-ADA2-E2DC0943E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CD05F1-2428-4B63-8CC5-04E8FFC14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107ED4-97F7-44D9-8E53-F2B69E0EF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1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7678FA3-AF93-4B0A-A6F0-D21A4B859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68" y="1350963"/>
            <a:ext cx="2743200" cy="1109067"/>
          </a:xfrm>
          <a:prstGeom prst="rect">
            <a:avLst/>
          </a:prstGeom>
        </p:spPr>
      </p:pic>
      <p:pic>
        <p:nvPicPr>
          <p:cNvPr id="9" name="Graphique 8">
            <a:extLst>
              <a:ext uri="{FF2B5EF4-FFF2-40B4-BE49-F238E27FC236}">
                <a16:creationId xmlns:a16="http://schemas.microsoft.com/office/drawing/2014/main" id="{616B4A6B-D82E-424B-80A3-A72748259C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6750" y="3929063"/>
            <a:ext cx="2041637" cy="746280"/>
          </a:xfrm>
          <a:prstGeom prst="rect">
            <a:avLst/>
          </a:prstGeom>
        </p:spPr>
      </p:pic>
      <p:pic>
        <p:nvPicPr>
          <p:cNvPr id="11" name="Graphique 10">
            <a:extLst>
              <a:ext uri="{FF2B5EF4-FFF2-40B4-BE49-F238E27FC236}">
                <a16:creationId xmlns:a16="http://schemas.microsoft.com/office/drawing/2014/main" id="{F40FE4EB-7859-4D4F-841D-7A4030D4E0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1000" y="2283751"/>
            <a:ext cx="3147725" cy="157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390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68034F67-A5FD-425B-AF25-8C0EA5910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ATTENTION !</a:t>
            </a:r>
            <a:endParaRPr lang="en-US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5558517-318B-4C23-BF60-7EDD2027D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608502"/>
          </a:xfrm>
        </p:spPr>
        <p:txBody>
          <a:bodyPr/>
          <a:lstStyle/>
          <a:p>
            <a:r>
              <a:rPr lang="fr-FR" dirty="0"/>
              <a:t>Signez la fiche de présence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A53F05-5ED6-451D-AA95-091DBCE33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A1C8D0-C41A-427F-A003-62B3AAD67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C48D29-4F2E-4B87-A380-CC29B5571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2</a:t>
            </a:fld>
            <a:endParaRPr lang="en-US"/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5EBD27ED-A57B-4D46-8DF3-FF304E4FFAEC}"/>
              </a:ext>
            </a:extLst>
          </p:cNvPr>
          <p:cNvSpPr txBox="1">
            <a:spLocks/>
          </p:cNvSpPr>
          <p:nvPr/>
        </p:nvSpPr>
        <p:spPr>
          <a:xfrm>
            <a:off x="831850" y="5197966"/>
            <a:ext cx="10515600" cy="8916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Est-ce que tout le monde a les </a:t>
            </a:r>
            <a:r>
              <a:rPr lang="fr-FR" dirty="0" err="1"/>
              <a:t>TPs</a:t>
            </a:r>
            <a:r>
              <a:rPr lang="fr-FR"/>
              <a:t> et les données?</a:t>
            </a:r>
            <a:endParaRPr lang="en-US" dirty="0"/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77E5A890-324E-4420-8A93-065BA2F48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91190" y="2875515"/>
            <a:ext cx="2743200" cy="321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41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256E5EC-58AD-42CE-8827-D6B58D02D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Today’s</a:t>
            </a:r>
            <a:r>
              <a:rPr lang="fr-FR" dirty="0"/>
              <a:t> objectives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1D309-7C92-4E15-8B2C-05A874B87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DB407-3763-42F0-97D1-07B7E451C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FAF043-5CF2-478C-AB3D-2CB961BDD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3</a:t>
            </a:fld>
            <a:endParaRPr lang="en-US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AF893558-51F2-442A-AC0A-FEC382F0398A}"/>
              </a:ext>
            </a:extLst>
          </p:cNvPr>
          <p:cNvSpPr/>
          <p:nvPr/>
        </p:nvSpPr>
        <p:spPr>
          <a:xfrm>
            <a:off x="329627" y="2417260"/>
            <a:ext cx="3712168" cy="2160639"/>
          </a:xfrm>
          <a:prstGeom prst="roundRect">
            <a:avLst/>
          </a:prstGeom>
          <a:solidFill>
            <a:srgbClr val="145D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Main uses </a:t>
            </a:r>
            <a:br>
              <a:rPr lang="fr-FR" b="1" dirty="0"/>
            </a:br>
            <a:r>
              <a:rPr lang="fr-FR" b="1" dirty="0"/>
              <a:t>of pandas and </a:t>
            </a:r>
            <a:r>
              <a:rPr lang="fr-FR" b="1" dirty="0" err="1"/>
              <a:t>xarray</a:t>
            </a:r>
            <a:endParaRPr lang="fr-FR" b="1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47D9765D-E79C-45D0-A818-DB6BBB64A690}"/>
              </a:ext>
            </a:extLst>
          </p:cNvPr>
          <p:cNvSpPr/>
          <p:nvPr/>
        </p:nvSpPr>
        <p:spPr>
          <a:xfrm>
            <a:off x="4239916" y="2417259"/>
            <a:ext cx="3712168" cy="2160639"/>
          </a:xfrm>
          <a:prstGeom prst="roundRect">
            <a:avLst/>
          </a:prstGeom>
          <a:solidFill>
            <a:srgbClr val="1C82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Analyse </a:t>
            </a:r>
            <a:r>
              <a:rPr lang="fr-FR" b="1" dirty="0" err="1"/>
              <a:t>geoscientific</a:t>
            </a:r>
            <a:r>
              <a:rPr lang="fr-FR" b="1" dirty="0"/>
              <a:t> data in an efficient, fast and </a:t>
            </a:r>
            <a:r>
              <a:rPr lang="fr-FR" b="1" dirty="0" err="1"/>
              <a:t>easily</a:t>
            </a:r>
            <a:r>
              <a:rPr lang="fr-FR" b="1" dirty="0"/>
              <a:t> </a:t>
            </a:r>
            <a:r>
              <a:rPr lang="fr-FR" b="1" dirty="0" err="1"/>
              <a:t>sharable</a:t>
            </a:r>
            <a:r>
              <a:rPr lang="fr-FR" b="1" dirty="0"/>
              <a:t> </a:t>
            </a:r>
            <a:r>
              <a:rPr lang="fr-FR" b="1" dirty="0" err="1"/>
              <a:t>way</a:t>
            </a:r>
            <a:r>
              <a:rPr lang="fr-FR" b="1" dirty="0"/>
              <a:t> </a:t>
            </a:r>
            <a:r>
              <a:rPr lang="fr-FR" b="1" dirty="0" err="1"/>
              <a:t>using</a:t>
            </a:r>
            <a:r>
              <a:rPr lang="fr-FR" b="1" dirty="0"/>
              <a:t> python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9BBDF6E3-F5F1-4DC9-8FCF-5381753A916A}"/>
              </a:ext>
            </a:extLst>
          </p:cNvPr>
          <p:cNvSpPr/>
          <p:nvPr/>
        </p:nvSpPr>
        <p:spPr>
          <a:xfrm>
            <a:off x="8150205" y="2417259"/>
            <a:ext cx="3712168" cy="2160639"/>
          </a:xfrm>
          <a:prstGeom prst="roundRect">
            <a:avLst/>
          </a:prstGeom>
          <a:solidFill>
            <a:srgbClr val="27A3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/>
              <a:t>Scaling</a:t>
            </a:r>
            <a:r>
              <a:rPr lang="fr-FR" b="1" dirty="0"/>
              <a:t> </a:t>
            </a:r>
            <a:r>
              <a:rPr lang="fr-FR" b="1" dirty="0" err="1"/>
              <a:t>potential</a:t>
            </a:r>
            <a:r>
              <a:rPr lang="fr-FR" b="1" dirty="0"/>
              <a:t> for </a:t>
            </a:r>
            <a:br>
              <a:rPr lang="fr-FR" b="1" dirty="0"/>
            </a:br>
            <a:r>
              <a:rPr lang="fr-FR" b="1" dirty="0" err="1"/>
              <a:t>huge</a:t>
            </a:r>
            <a:r>
              <a:rPr lang="fr-FR" b="1" dirty="0"/>
              <a:t> </a:t>
            </a:r>
            <a:r>
              <a:rPr lang="fr-FR" b="1" dirty="0" err="1"/>
              <a:t>datasets</a:t>
            </a:r>
            <a:r>
              <a:rPr lang="fr-FR" b="1" dirty="0"/>
              <a:t>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0514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61A68E-052D-4E8B-8815-B0F516CF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967964-05E2-4AE0-BC18-1CA5E745D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E99614-9739-4978-B76D-5C122ACF2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875BC1-0133-4B94-A010-5CBDECDC7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4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5366E3-6D08-4A18-966E-7F9B47978E4E}"/>
              </a:ext>
            </a:extLst>
          </p:cNvPr>
          <p:cNvSpPr/>
          <p:nvPr/>
        </p:nvSpPr>
        <p:spPr>
          <a:xfrm rot="16200000">
            <a:off x="3705775" y="1888975"/>
            <a:ext cx="1501918" cy="65044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General introduction</a:t>
            </a:r>
            <a:endParaRPr lang="en-US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796AD3C-6EC9-42EC-B0DB-A2ABEA94235B}"/>
              </a:ext>
            </a:extLst>
          </p:cNvPr>
          <p:cNvSpPr txBox="1"/>
          <p:nvPr/>
        </p:nvSpPr>
        <p:spPr>
          <a:xfrm>
            <a:off x="443876" y="1919167"/>
            <a:ext cx="332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Matin: pandas</a:t>
            </a:r>
            <a:endParaRPr lang="en-US" sz="2400" b="1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D2D3989-D61C-4EC9-93DE-20D733D1E3E7}"/>
              </a:ext>
            </a:extLst>
          </p:cNvPr>
          <p:cNvSpPr txBox="1"/>
          <p:nvPr/>
        </p:nvSpPr>
        <p:spPr>
          <a:xfrm>
            <a:off x="646764" y="4461811"/>
            <a:ext cx="2921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err="1"/>
              <a:t>Arpès-midi</a:t>
            </a:r>
            <a:r>
              <a:rPr lang="fr-FR" sz="2400" b="1" dirty="0"/>
              <a:t>: </a:t>
            </a:r>
            <a:r>
              <a:rPr lang="fr-FR" sz="2400" b="1" dirty="0" err="1"/>
              <a:t>xarray</a:t>
            </a:r>
            <a:endParaRPr lang="en-US" sz="2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241603-DEFF-496F-A34E-02764B658827}"/>
              </a:ext>
            </a:extLst>
          </p:cNvPr>
          <p:cNvSpPr/>
          <p:nvPr/>
        </p:nvSpPr>
        <p:spPr>
          <a:xfrm>
            <a:off x="4794827" y="1463241"/>
            <a:ext cx="6005727" cy="34688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PANDAS </a:t>
            </a:r>
            <a:endParaRPr lang="en-US" dirty="0"/>
          </a:p>
        </p:txBody>
      </p:sp>
      <p:pic>
        <p:nvPicPr>
          <p:cNvPr id="13" name="Graphique 12" descr="Couverts de table">
            <a:extLst>
              <a:ext uri="{FF2B5EF4-FFF2-40B4-BE49-F238E27FC236}">
                <a16:creationId xmlns:a16="http://schemas.microsoft.com/office/drawing/2014/main" id="{67E32FF7-4EEB-4BA8-B892-380822DA8B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6014" y="3080352"/>
            <a:ext cx="964186" cy="964186"/>
          </a:xfrm>
          <a:prstGeom prst="rect">
            <a:avLst/>
          </a:prstGeom>
        </p:spPr>
      </p:pic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0B724485-A30D-4FBF-8819-AD3EB994CAF6}"/>
              </a:ext>
            </a:extLst>
          </p:cNvPr>
          <p:cNvSpPr/>
          <p:nvPr/>
        </p:nvSpPr>
        <p:spPr>
          <a:xfrm>
            <a:off x="7594321" y="2291816"/>
            <a:ext cx="542614" cy="432313"/>
          </a:xfrm>
          <a:custGeom>
            <a:avLst/>
            <a:gdLst>
              <a:gd name="connsiteX0" fmla="*/ 4707947 w 4906107"/>
              <a:gd name="connsiteY0" fmla="*/ 506613 h 3657599"/>
              <a:gd name="connsiteX1" fmla="*/ 3882155 w 4906107"/>
              <a:gd name="connsiteY1" fmla="*/ 168654 h 3657599"/>
              <a:gd name="connsiteX2" fmla="*/ 3707576 w 4906107"/>
              <a:gd name="connsiteY2" fmla="*/ 13188 h 3657599"/>
              <a:gd name="connsiteX3" fmla="*/ 189035 w 4906107"/>
              <a:gd name="connsiteY3" fmla="*/ 13188 h 3657599"/>
              <a:gd name="connsiteX4" fmla="*/ 13188 w 4906107"/>
              <a:gd name="connsiteY4" fmla="*/ 189035 h 3657599"/>
              <a:gd name="connsiteX5" fmla="*/ 13188 w 4906107"/>
              <a:gd name="connsiteY5" fmla="*/ 2228850 h 3657599"/>
              <a:gd name="connsiteX6" fmla="*/ 603346 w 4906107"/>
              <a:gd name="connsiteY6" fmla="*/ 3176046 h 3657599"/>
              <a:gd name="connsiteX7" fmla="*/ 603346 w 4906107"/>
              <a:gd name="connsiteY7" fmla="*/ 3176063 h 3657599"/>
              <a:gd name="connsiteX8" fmla="*/ 576740 w 4906107"/>
              <a:gd name="connsiteY8" fmla="*/ 3308563 h 3657599"/>
              <a:gd name="connsiteX9" fmla="*/ 919623 w 4906107"/>
              <a:gd name="connsiteY9" fmla="*/ 3651445 h 3657599"/>
              <a:gd name="connsiteX10" fmla="*/ 2977005 w 4906107"/>
              <a:gd name="connsiteY10" fmla="*/ 3651445 h 3657599"/>
              <a:gd name="connsiteX11" fmla="*/ 3319887 w 4906107"/>
              <a:gd name="connsiteY11" fmla="*/ 3308563 h 3657599"/>
              <a:gd name="connsiteX12" fmla="*/ 3293265 w 4906107"/>
              <a:gd name="connsiteY12" fmla="*/ 3176046 h 3657599"/>
              <a:gd name="connsiteX13" fmla="*/ 3869389 w 4906107"/>
              <a:gd name="connsiteY13" fmla="*/ 2401408 h 3657599"/>
              <a:gd name="connsiteX14" fmla="*/ 4617052 w 4906107"/>
              <a:gd name="connsiteY14" fmla="*/ 1892439 h 3657599"/>
              <a:gd name="connsiteX15" fmla="*/ 4860441 w 4906107"/>
              <a:gd name="connsiteY15" fmla="*/ 1368505 h 3657599"/>
              <a:gd name="connsiteX16" fmla="*/ 4861671 w 4906107"/>
              <a:gd name="connsiteY16" fmla="*/ 1362649 h 3657599"/>
              <a:gd name="connsiteX17" fmla="*/ 4707947 w 4906107"/>
              <a:gd name="connsiteY17" fmla="*/ 506613 h 3657599"/>
              <a:gd name="connsiteX18" fmla="*/ 4345458 w 4906107"/>
              <a:gd name="connsiteY18" fmla="*/ 1253766 h 3657599"/>
              <a:gd name="connsiteX19" fmla="*/ 4187055 w 4906107"/>
              <a:gd name="connsiteY19" fmla="*/ 1586818 h 3657599"/>
              <a:gd name="connsiteX20" fmla="*/ 3883422 w 4906107"/>
              <a:gd name="connsiteY20" fmla="*/ 1844714 h 3657599"/>
              <a:gd name="connsiteX21" fmla="*/ 3883422 w 4906107"/>
              <a:gd name="connsiteY21" fmla="*/ 696210 h 3657599"/>
              <a:gd name="connsiteX22" fmla="*/ 4299597 w 4906107"/>
              <a:gd name="connsiteY22" fmla="*/ 840598 h 3657599"/>
              <a:gd name="connsiteX23" fmla="*/ 4345458 w 4906107"/>
              <a:gd name="connsiteY23" fmla="*/ 1253766 h 3657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906107" h="3657599">
                <a:moveTo>
                  <a:pt x="4707947" y="506613"/>
                </a:moveTo>
                <a:cubicBezTo>
                  <a:pt x="4534017" y="293945"/>
                  <a:pt x="4248989" y="177798"/>
                  <a:pt x="3882155" y="168654"/>
                </a:cubicBezTo>
                <a:cubicBezTo>
                  <a:pt x="3872045" y="81153"/>
                  <a:pt x="3797802" y="13188"/>
                  <a:pt x="3707576" y="13188"/>
                </a:cubicBezTo>
                <a:lnTo>
                  <a:pt x="189035" y="13188"/>
                </a:lnTo>
                <a:cubicBezTo>
                  <a:pt x="91915" y="13188"/>
                  <a:pt x="13188" y="91933"/>
                  <a:pt x="13188" y="189035"/>
                </a:cubicBezTo>
                <a:lnTo>
                  <a:pt x="13188" y="2228850"/>
                </a:lnTo>
                <a:cubicBezTo>
                  <a:pt x="13188" y="2634088"/>
                  <a:pt x="239327" y="2997034"/>
                  <a:pt x="603346" y="3176046"/>
                </a:cubicBezTo>
                <a:lnTo>
                  <a:pt x="603346" y="3176063"/>
                </a:lnTo>
                <a:cubicBezTo>
                  <a:pt x="585691" y="3218161"/>
                  <a:pt x="576740" y="3262720"/>
                  <a:pt x="576740" y="3308563"/>
                </a:cubicBezTo>
                <a:cubicBezTo>
                  <a:pt x="576740" y="3497633"/>
                  <a:pt x="730553" y="3651445"/>
                  <a:pt x="919623" y="3651445"/>
                </a:cubicBezTo>
                <a:lnTo>
                  <a:pt x="2977005" y="3651445"/>
                </a:lnTo>
                <a:cubicBezTo>
                  <a:pt x="3166075" y="3651445"/>
                  <a:pt x="3319887" y="3497633"/>
                  <a:pt x="3319887" y="3308563"/>
                </a:cubicBezTo>
                <a:cubicBezTo>
                  <a:pt x="3319887" y="3262720"/>
                  <a:pt x="3310937" y="3218108"/>
                  <a:pt x="3293265" y="3176046"/>
                </a:cubicBezTo>
                <a:cubicBezTo>
                  <a:pt x="3604688" y="3022883"/>
                  <a:pt x="3815053" y="2735094"/>
                  <a:pt x="3869389" y="2401408"/>
                </a:cubicBezTo>
                <a:cubicBezTo>
                  <a:pt x="4170279" y="2334780"/>
                  <a:pt x="4425292" y="2162187"/>
                  <a:pt x="4617052" y="1892439"/>
                </a:cubicBezTo>
                <a:cubicBezTo>
                  <a:pt x="4795096" y="1641964"/>
                  <a:pt x="4854251" y="1395779"/>
                  <a:pt x="4860441" y="1368505"/>
                </a:cubicBezTo>
                <a:lnTo>
                  <a:pt x="4861671" y="1362649"/>
                </a:lnTo>
                <a:cubicBezTo>
                  <a:pt x="4933575" y="1007229"/>
                  <a:pt x="4881841" y="719211"/>
                  <a:pt x="4707947" y="506613"/>
                </a:cubicBezTo>
                <a:close/>
                <a:moveTo>
                  <a:pt x="4345458" y="1253766"/>
                </a:moveTo>
                <a:cubicBezTo>
                  <a:pt x="4340956" y="1271350"/>
                  <a:pt x="4297680" y="1431194"/>
                  <a:pt x="4187055" y="1586818"/>
                </a:cubicBezTo>
                <a:cubicBezTo>
                  <a:pt x="4101489" y="1707220"/>
                  <a:pt x="4000957" y="1792804"/>
                  <a:pt x="3883422" y="1844714"/>
                </a:cubicBezTo>
                <a:lnTo>
                  <a:pt x="3883422" y="696210"/>
                </a:lnTo>
                <a:cubicBezTo>
                  <a:pt x="4015887" y="701064"/>
                  <a:pt x="4208052" y="728689"/>
                  <a:pt x="4299597" y="840598"/>
                </a:cubicBezTo>
                <a:cubicBezTo>
                  <a:pt x="4367966" y="924142"/>
                  <a:pt x="4383370" y="1063184"/>
                  <a:pt x="4345458" y="1253766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2CF3E3-3783-463E-BFBC-F561C33C2262}"/>
              </a:ext>
            </a:extLst>
          </p:cNvPr>
          <p:cNvSpPr/>
          <p:nvPr/>
        </p:nvSpPr>
        <p:spPr>
          <a:xfrm>
            <a:off x="4794828" y="2507974"/>
            <a:ext cx="659905" cy="44958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/>
              <a:t>Cours</a:t>
            </a:r>
            <a:endParaRPr lang="en-US" sz="12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D4898F-7576-47A7-AE7F-63CFBF8BF06B}"/>
              </a:ext>
            </a:extLst>
          </p:cNvPr>
          <p:cNvSpPr/>
          <p:nvPr/>
        </p:nvSpPr>
        <p:spPr>
          <a:xfrm>
            <a:off x="4794828" y="1810124"/>
            <a:ext cx="1288496" cy="682799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/>
              <a:t>Objects</a:t>
            </a:r>
            <a:r>
              <a:rPr lang="fr-FR" b="1" dirty="0"/>
              <a:t> 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588404-73F4-4E1B-B9F5-B1794324F628}"/>
              </a:ext>
            </a:extLst>
          </p:cNvPr>
          <p:cNvSpPr/>
          <p:nvPr/>
        </p:nvSpPr>
        <p:spPr>
          <a:xfrm>
            <a:off x="5432875" y="2507973"/>
            <a:ext cx="650449" cy="4495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TP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5065C9-71E7-4EA3-B3FF-3D11A7179209}"/>
              </a:ext>
            </a:extLst>
          </p:cNvPr>
          <p:cNvSpPr/>
          <p:nvPr/>
        </p:nvSpPr>
        <p:spPr>
          <a:xfrm>
            <a:off x="6089993" y="2507974"/>
            <a:ext cx="659905" cy="44958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/>
              <a:t>Cours</a:t>
            </a:r>
            <a:endParaRPr lang="en-US" sz="12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F32C900-245E-4E6C-9BBA-4F8F75945B82}"/>
              </a:ext>
            </a:extLst>
          </p:cNvPr>
          <p:cNvSpPr/>
          <p:nvPr/>
        </p:nvSpPr>
        <p:spPr>
          <a:xfrm>
            <a:off x="6089993" y="1810124"/>
            <a:ext cx="1288496" cy="682799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Operations</a:t>
            </a:r>
            <a:r>
              <a:rPr lang="fr-FR" b="1" dirty="0"/>
              <a:t> 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7DAFBF-0C0F-4386-8F45-52636C851404}"/>
              </a:ext>
            </a:extLst>
          </p:cNvPr>
          <p:cNvSpPr/>
          <p:nvPr/>
        </p:nvSpPr>
        <p:spPr>
          <a:xfrm>
            <a:off x="6728040" y="2507973"/>
            <a:ext cx="650449" cy="4495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TP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2109001-785F-41F5-9655-15C6E699BE27}"/>
              </a:ext>
            </a:extLst>
          </p:cNvPr>
          <p:cNvSpPr/>
          <p:nvPr/>
        </p:nvSpPr>
        <p:spPr>
          <a:xfrm>
            <a:off x="8216894" y="2506451"/>
            <a:ext cx="659905" cy="44958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/>
              <a:t>Cours</a:t>
            </a:r>
            <a:endParaRPr lang="en-US" sz="12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AE4B06E-A92F-48ED-ABFC-F953432FFC62}"/>
              </a:ext>
            </a:extLst>
          </p:cNvPr>
          <p:cNvSpPr/>
          <p:nvPr/>
        </p:nvSpPr>
        <p:spPr>
          <a:xfrm>
            <a:off x="8216894" y="1808601"/>
            <a:ext cx="1288496" cy="682799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/>
              <a:t>Plotting</a:t>
            </a:r>
            <a:r>
              <a:rPr lang="fr-FR" b="1" dirty="0"/>
              <a:t> 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15A2331-F361-411F-A58B-DD1BDDEBDECD}"/>
              </a:ext>
            </a:extLst>
          </p:cNvPr>
          <p:cNvSpPr/>
          <p:nvPr/>
        </p:nvSpPr>
        <p:spPr>
          <a:xfrm>
            <a:off x="8854941" y="2506450"/>
            <a:ext cx="650449" cy="4495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TP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6AAEAE1-527D-4840-96A2-AD7A674ED80C}"/>
              </a:ext>
            </a:extLst>
          </p:cNvPr>
          <p:cNvSpPr/>
          <p:nvPr/>
        </p:nvSpPr>
        <p:spPr>
          <a:xfrm>
            <a:off x="9512059" y="2506451"/>
            <a:ext cx="659905" cy="44958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/>
              <a:t>Cours</a:t>
            </a:r>
            <a:endParaRPr lang="en-US" sz="1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5DC1CBE-1361-4F63-9DEB-33E089051F9C}"/>
              </a:ext>
            </a:extLst>
          </p:cNvPr>
          <p:cNvSpPr/>
          <p:nvPr/>
        </p:nvSpPr>
        <p:spPr>
          <a:xfrm>
            <a:off x="9512059" y="1808601"/>
            <a:ext cx="1288496" cy="682799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/>
              <a:t>Timeseries</a:t>
            </a:r>
            <a:r>
              <a:rPr lang="fr-FR" b="1" dirty="0"/>
              <a:t> </a:t>
            </a:r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B17646A-8A9E-4F78-9CF0-2C000BE5EB40}"/>
              </a:ext>
            </a:extLst>
          </p:cNvPr>
          <p:cNvSpPr/>
          <p:nvPr/>
        </p:nvSpPr>
        <p:spPr>
          <a:xfrm>
            <a:off x="10150106" y="2506450"/>
            <a:ext cx="650449" cy="4495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TP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B23DFE1-2555-48D1-92D7-19A122F0226B}"/>
              </a:ext>
            </a:extLst>
          </p:cNvPr>
          <p:cNvSpPr/>
          <p:nvPr/>
        </p:nvSpPr>
        <p:spPr>
          <a:xfrm>
            <a:off x="4794827" y="4044538"/>
            <a:ext cx="6005727" cy="34688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XARRAY </a:t>
            </a:r>
            <a:endParaRPr lang="en-US" dirty="0"/>
          </a:p>
        </p:txBody>
      </p:sp>
      <p:sp>
        <p:nvSpPr>
          <p:cNvPr id="68" name="Forme libre : forme 67">
            <a:extLst>
              <a:ext uri="{FF2B5EF4-FFF2-40B4-BE49-F238E27FC236}">
                <a16:creationId xmlns:a16="http://schemas.microsoft.com/office/drawing/2014/main" id="{035A3B00-806C-45FE-B8E4-54BA053F6CC9}"/>
              </a:ext>
            </a:extLst>
          </p:cNvPr>
          <p:cNvSpPr/>
          <p:nvPr/>
        </p:nvSpPr>
        <p:spPr>
          <a:xfrm>
            <a:off x="7594321" y="4873113"/>
            <a:ext cx="542614" cy="432313"/>
          </a:xfrm>
          <a:custGeom>
            <a:avLst/>
            <a:gdLst>
              <a:gd name="connsiteX0" fmla="*/ 4707947 w 4906107"/>
              <a:gd name="connsiteY0" fmla="*/ 506613 h 3657599"/>
              <a:gd name="connsiteX1" fmla="*/ 3882155 w 4906107"/>
              <a:gd name="connsiteY1" fmla="*/ 168654 h 3657599"/>
              <a:gd name="connsiteX2" fmla="*/ 3707576 w 4906107"/>
              <a:gd name="connsiteY2" fmla="*/ 13188 h 3657599"/>
              <a:gd name="connsiteX3" fmla="*/ 189035 w 4906107"/>
              <a:gd name="connsiteY3" fmla="*/ 13188 h 3657599"/>
              <a:gd name="connsiteX4" fmla="*/ 13188 w 4906107"/>
              <a:gd name="connsiteY4" fmla="*/ 189035 h 3657599"/>
              <a:gd name="connsiteX5" fmla="*/ 13188 w 4906107"/>
              <a:gd name="connsiteY5" fmla="*/ 2228850 h 3657599"/>
              <a:gd name="connsiteX6" fmla="*/ 603346 w 4906107"/>
              <a:gd name="connsiteY6" fmla="*/ 3176046 h 3657599"/>
              <a:gd name="connsiteX7" fmla="*/ 603346 w 4906107"/>
              <a:gd name="connsiteY7" fmla="*/ 3176063 h 3657599"/>
              <a:gd name="connsiteX8" fmla="*/ 576740 w 4906107"/>
              <a:gd name="connsiteY8" fmla="*/ 3308563 h 3657599"/>
              <a:gd name="connsiteX9" fmla="*/ 919623 w 4906107"/>
              <a:gd name="connsiteY9" fmla="*/ 3651445 h 3657599"/>
              <a:gd name="connsiteX10" fmla="*/ 2977005 w 4906107"/>
              <a:gd name="connsiteY10" fmla="*/ 3651445 h 3657599"/>
              <a:gd name="connsiteX11" fmla="*/ 3319887 w 4906107"/>
              <a:gd name="connsiteY11" fmla="*/ 3308563 h 3657599"/>
              <a:gd name="connsiteX12" fmla="*/ 3293265 w 4906107"/>
              <a:gd name="connsiteY12" fmla="*/ 3176046 h 3657599"/>
              <a:gd name="connsiteX13" fmla="*/ 3869389 w 4906107"/>
              <a:gd name="connsiteY13" fmla="*/ 2401408 h 3657599"/>
              <a:gd name="connsiteX14" fmla="*/ 4617052 w 4906107"/>
              <a:gd name="connsiteY14" fmla="*/ 1892439 h 3657599"/>
              <a:gd name="connsiteX15" fmla="*/ 4860441 w 4906107"/>
              <a:gd name="connsiteY15" fmla="*/ 1368505 h 3657599"/>
              <a:gd name="connsiteX16" fmla="*/ 4861671 w 4906107"/>
              <a:gd name="connsiteY16" fmla="*/ 1362649 h 3657599"/>
              <a:gd name="connsiteX17" fmla="*/ 4707947 w 4906107"/>
              <a:gd name="connsiteY17" fmla="*/ 506613 h 3657599"/>
              <a:gd name="connsiteX18" fmla="*/ 4345458 w 4906107"/>
              <a:gd name="connsiteY18" fmla="*/ 1253766 h 3657599"/>
              <a:gd name="connsiteX19" fmla="*/ 4187055 w 4906107"/>
              <a:gd name="connsiteY19" fmla="*/ 1586818 h 3657599"/>
              <a:gd name="connsiteX20" fmla="*/ 3883422 w 4906107"/>
              <a:gd name="connsiteY20" fmla="*/ 1844714 h 3657599"/>
              <a:gd name="connsiteX21" fmla="*/ 3883422 w 4906107"/>
              <a:gd name="connsiteY21" fmla="*/ 696210 h 3657599"/>
              <a:gd name="connsiteX22" fmla="*/ 4299597 w 4906107"/>
              <a:gd name="connsiteY22" fmla="*/ 840598 h 3657599"/>
              <a:gd name="connsiteX23" fmla="*/ 4345458 w 4906107"/>
              <a:gd name="connsiteY23" fmla="*/ 1253766 h 3657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906107" h="3657599">
                <a:moveTo>
                  <a:pt x="4707947" y="506613"/>
                </a:moveTo>
                <a:cubicBezTo>
                  <a:pt x="4534017" y="293945"/>
                  <a:pt x="4248989" y="177798"/>
                  <a:pt x="3882155" y="168654"/>
                </a:cubicBezTo>
                <a:cubicBezTo>
                  <a:pt x="3872045" y="81153"/>
                  <a:pt x="3797802" y="13188"/>
                  <a:pt x="3707576" y="13188"/>
                </a:cubicBezTo>
                <a:lnTo>
                  <a:pt x="189035" y="13188"/>
                </a:lnTo>
                <a:cubicBezTo>
                  <a:pt x="91915" y="13188"/>
                  <a:pt x="13188" y="91933"/>
                  <a:pt x="13188" y="189035"/>
                </a:cubicBezTo>
                <a:lnTo>
                  <a:pt x="13188" y="2228850"/>
                </a:lnTo>
                <a:cubicBezTo>
                  <a:pt x="13188" y="2634088"/>
                  <a:pt x="239327" y="2997034"/>
                  <a:pt x="603346" y="3176046"/>
                </a:cubicBezTo>
                <a:lnTo>
                  <a:pt x="603346" y="3176063"/>
                </a:lnTo>
                <a:cubicBezTo>
                  <a:pt x="585691" y="3218161"/>
                  <a:pt x="576740" y="3262720"/>
                  <a:pt x="576740" y="3308563"/>
                </a:cubicBezTo>
                <a:cubicBezTo>
                  <a:pt x="576740" y="3497633"/>
                  <a:pt x="730553" y="3651445"/>
                  <a:pt x="919623" y="3651445"/>
                </a:cubicBezTo>
                <a:lnTo>
                  <a:pt x="2977005" y="3651445"/>
                </a:lnTo>
                <a:cubicBezTo>
                  <a:pt x="3166075" y="3651445"/>
                  <a:pt x="3319887" y="3497633"/>
                  <a:pt x="3319887" y="3308563"/>
                </a:cubicBezTo>
                <a:cubicBezTo>
                  <a:pt x="3319887" y="3262720"/>
                  <a:pt x="3310937" y="3218108"/>
                  <a:pt x="3293265" y="3176046"/>
                </a:cubicBezTo>
                <a:cubicBezTo>
                  <a:pt x="3604688" y="3022883"/>
                  <a:pt x="3815053" y="2735094"/>
                  <a:pt x="3869389" y="2401408"/>
                </a:cubicBezTo>
                <a:cubicBezTo>
                  <a:pt x="4170279" y="2334780"/>
                  <a:pt x="4425292" y="2162187"/>
                  <a:pt x="4617052" y="1892439"/>
                </a:cubicBezTo>
                <a:cubicBezTo>
                  <a:pt x="4795096" y="1641964"/>
                  <a:pt x="4854251" y="1395779"/>
                  <a:pt x="4860441" y="1368505"/>
                </a:cubicBezTo>
                <a:lnTo>
                  <a:pt x="4861671" y="1362649"/>
                </a:lnTo>
                <a:cubicBezTo>
                  <a:pt x="4933575" y="1007229"/>
                  <a:pt x="4881841" y="719211"/>
                  <a:pt x="4707947" y="506613"/>
                </a:cubicBezTo>
                <a:close/>
                <a:moveTo>
                  <a:pt x="4345458" y="1253766"/>
                </a:moveTo>
                <a:cubicBezTo>
                  <a:pt x="4340956" y="1271350"/>
                  <a:pt x="4297680" y="1431194"/>
                  <a:pt x="4187055" y="1586818"/>
                </a:cubicBezTo>
                <a:cubicBezTo>
                  <a:pt x="4101489" y="1707220"/>
                  <a:pt x="4000957" y="1792804"/>
                  <a:pt x="3883422" y="1844714"/>
                </a:cubicBezTo>
                <a:lnTo>
                  <a:pt x="3883422" y="696210"/>
                </a:lnTo>
                <a:cubicBezTo>
                  <a:pt x="4015887" y="701064"/>
                  <a:pt x="4208052" y="728689"/>
                  <a:pt x="4299597" y="840598"/>
                </a:cubicBezTo>
                <a:cubicBezTo>
                  <a:pt x="4367966" y="924142"/>
                  <a:pt x="4383370" y="1063184"/>
                  <a:pt x="4345458" y="1253766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AAE70EE-C26D-466C-8213-65A7FA0843D3}"/>
              </a:ext>
            </a:extLst>
          </p:cNvPr>
          <p:cNvSpPr/>
          <p:nvPr/>
        </p:nvSpPr>
        <p:spPr>
          <a:xfrm>
            <a:off x="4794828" y="5089271"/>
            <a:ext cx="659905" cy="44958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/>
              <a:t>Cours</a:t>
            </a:r>
            <a:endParaRPr lang="en-US" sz="12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30882CB-2D5B-43CE-97E2-F42C00AC2522}"/>
              </a:ext>
            </a:extLst>
          </p:cNvPr>
          <p:cNvSpPr/>
          <p:nvPr/>
        </p:nvSpPr>
        <p:spPr>
          <a:xfrm>
            <a:off x="4794828" y="4391421"/>
            <a:ext cx="1288496" cy="682799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/>
              <a:t>Objects</a:t>
            </a:r>
            <a:r>
              <a:rPr lang="fr-FR" b="1" dirty="0"/>
              <a:t> </a:t>
            </a:r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7C80B49-5A14-4436-B0A6-B8F14B5C17C4}"/>
              </a:ext>
            </a:extLst>
          </p:cNvPr>
          <p:cNvSpPr/>
          <p:nvPr/>
        </p:nvSpPr>
        <p:spPr>
          <a:xfrm>
            <a:off x="5432875" y="5089270"/>
            <a:ext cx="650449" cy="4495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TP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A9C485D-E2F7-444A-818D-6F98EB544B7E}"/>
              </a:ext>
            </a:extLst>
          </p:cNvPr>
          <p:cNvSpPr/>
          <p:nvPr/>
        </p:nvSpPr>
        <p:spPr>
          <a:xfrm>
            <a:off x="6089993" y="5089271"/>
            <a:ext cx="659905" cy="44958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/>
              <a:t>Cours</a:t>
            </a:r>
            <a:endParaRPr lang="en-US" sz="120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C842B3A-781D-4464-A5F7-43B6E37E2E43}"/>
              </a:ext>
            </a:extLst>
          </p:cNvPr>
          <p:cNvSpPr/>
          <p:nvPr/>
        </p:nvSpPr>
        <p:spPr>
          <a:xfrm>
            <a:off x="6089993" y="4391421"/>
            <a:ext cx="1288496" cy="682799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/>
              <a:t>Plotting</a:t>
            </a:r>
            <a:r>
              <a:rPr lang="fr-FR" b="1" dirty="0"/>
              <a:t> </a:t>
            </a:r>
            <a:endParaRPr lang="en-US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7FED450-66B9-42CF-B95E-BEEBF1980ECF}"/>
              </a:ext>
            </a:extLst>
          </p:cNvPr>
          <p:cNvSpPr/>
          <p:nvPr/>
        </p:nvSpPr>
        <p:spPr>
          <a:xfrm>
            <a:off x="6728040" y="5089270"/>
            <a:ext cx="650449" cy="4495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TP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AA8ACDF-13CA-46C0-B5B1-9AD3AF8C27AB}"/>
              </a:ext>
            </a:extLst>
          </p:cNvPr>
          <p:cNvSpPr/>
          <p:nvPr/>
        </p:nvSpPr>
        <p:spPr>
          <a:xfrm>
            <a:off x="8216894" y="5087748"/>
            <a:ext cx="659905" cy="44958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/>
              <a:t>Cours</a:t>
            </a:r>
            <a:endParaRPr lang="en-US" sz="1200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3932B3B-858F-4467-841D-97AAD1847E57}"/>
              </a:ext>
            </a:extLst>
          </p:cNvPr>
          <p:cNvSpPr/>
          <p:nvPr/>
        </p:nvSpPr>
        <p:spPr>
          <a:xfrm>
            <a:off x="8216894" y="4389898"/>
            <a:ext cx="1288496" cy="682799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Operations</a:t>
            </a:r>
            <a:r>
              <a:rPr lang="fr-FR" b="1" dirty="0"/>
              <a:t> </a:t>
            </a:r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31A1408-CD1F-4EB4-8040-81A7813A8538}"/>
              </a:ext>
            </a:extLst>
          </p:cNvPr>
          <p:cNvSpPr/>
          <p:nvPr/>
        </p:nvSpPr>
        <p:spPr>
          <a:xfrm>
            <a:off x="8854941" y="5087747"/>
            <a:ext cx="650449" cy="4495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TP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4BEE2E8-9665-465A-A5E3-246B6D2E3DDD}"/>
              </a:ext>
            </a:extLst>
          </p:cNvPr>
          <p:cNvSpPr/>
          <p:nvPr/>
        </p:nvSpPr>
        <p:spPr>
          <a:xfrm>
            <a:off x="9512059" y="5087748"/>
            <a:ext cx="1288495" cy="44958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/>
              <a:t>Cours + Démo</a:t>
            </a:r>
            <a:endParaRPr lang="en-US" sz="120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7FC23CA-0654-4747-95ED-72532BAB2EE3}"/>
              </a:ext>
            </a:extLst>
          </p:cNvPr>
          <p:cNvSpPr/>
          <p:nvPr/>
        </p:nvSpPr>
        <p:spPr>
          <a:xfrm>
            <a:off x="9512059" y="4389898"/>
            <a:ext cx="1288496" cy="682799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/>
              <a:t>Dask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44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6AB3FD-DF7F-4839-9148-E9F748A29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Back to basic: </a:t>
            </a:r>
            <a:r>
              <a:rPr lang="fr-FR" dirty="0" err="1"/>
              <a:t>numpy</a:t>
            </a:r>
            <a:r>
              <a:rPr lang="fr-FR" dirty="0"/>
              <a:t> </a:t>
            </a:r>
            <a:r>
              <a:rPr lang="fr-FR" dirty="0" err="1"/>
              <a:t>arrays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813534-38F1-4EFC-A760-1323306E0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41317E-40B5-469D-B522-CCC7D981B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515FF7-3C41-418A-BB82-E1D4885E0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5</a:t>
            </a:fld>
            <a:endParaRPr lang="en-US"/>
          </a:p>
        </p:txBody>
      </p:sp>
      <p:pic>
        <p:nvPicPr>
          <p:cNvPr id="7" name="Espace réservé du contenu 7">
            <a:extLst>
              <a:ext uri="{FF2B5EF4-FFF2-40B4-BE49-F238E27FC236}">
                <a16:creationId xmlns:a16="http://schemas.microsoft.com/office/drawing/2014/main" id="{3DD6C0C8-7EDD-48A8-978E-65546639B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7633" y="251308"/>
            <a:ext cx="865500" cy="969857"/>
          </a:xfrm>
          <a:prstGeom prst="rect">
            <a:avLst/>
          </a:prstGeom>
        </p:spPr>
      </p:pic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D051CD9B-990C-422C-A96E-1C07D67C216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Multi-</a:t>
            </a:r>
            <a:r>
              <a:rPr lang="fr-FR" dirty="0" err="1"/>
              <a:t>dimensionnal</a:t>
            </a:r>
            <a:r>
              <a:rPr lang="fr-FR" dirty="0"/>
              <a:t> </a:t>
            </a:r>
            <a:r>
              <a:rPr lang="fr-FR" dirty="0" err="1"/>
              <a:t>arrays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Vectorized</a:t>
            </a:r>
            <a:r>
              <a:rPr lang="fr-FR" dirty="0"/>
              <a:t> </a:t>
            </a:r>
            <a:r>
              <a:rPr lang="fr-FR" dirty="0" err="1"/>
              <a:t>operations</a:t>
            </a:r>
            <a:endParaRPr lang="fr-FR" dirty="0"/>
          </a:p>
          <a:p>
            <a:pPr lvl="1"/>
            <a:r>
              <a:rPr lang="fr-FR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array1 + array2</a:t>
            </a:r>
          </a:p>
          <a:p>
            <a:endParaRPr lang="fr-FR" dirty="0"/>
          </a:p>
          <a:p>
            <a:r>
              <a:rPr lang="fr-FR" dirty="0" err="1"/>
              <a:t>Statistical</a:t>
            </a:r>
            <a:r>
              <a:rPr lang="fr-FR" dirty="0"/>
              <a:t> </a:t>
            </a:r>
            <a:r>
              <a:rPr lang="fr-FR" dirty="0" err="1"/>
              <a:t>operations</a:t>
            </a:r>
            <a:endParaRPr lang="fr-FR" dirty="0"/>
          </a:p>
          <a:p>
            <a:pPr lvl="1"/>
            <a:r>
              <a:rPr lang="fr-FR" dirty="0" err="1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np.mean</a:t>
            </a:r>
            <a:r>
              <a:rPr lang="fr-FR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(</a:t>
            </a:r>
            <a:r>
              <a:rPr lang="fr-FR" dirty="0" err="1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array</a:t>
            </a:r>
            <a:r>
              <a:rPr lang="fr-FR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)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06B7C00-EE18-4C07-9082-5E8F761DE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425" y="2641914"/>
            <a:ext cx="3721156" cy="30702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76442C1-5125-4AA2-9F0E-98F09B5C70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7044" y="2166855"/>
            <a:ext cx="3009524" cy="12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365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6AB3FD-DF7F-4839-9148-E9F748A29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Back to basic: </a:t>
            </a:r>
            <a:r>
              <a:rPr lang="fr-FR" dirty="0" err="1"/>
              <a:t>numpy</a:t>
            </a:r>
            <a:r>
              <a:rPr lang="fr-FR" dirty="0"/>
              <a:t> </a:t>
            </a:r>
            <a:r>
              <a:rPr lang="fr-FR" dirty="0" err="1"/>
              <a:t>arrays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813534-38F1-4EFC-A760-1323306E0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41317E-40B5-469D-B522-CCC7D981B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515FF7-3C41-418A-BB82-E1D4885E0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6</a:t>
            </a:fld>
            <a:endParaRPr lang="en-US"/>
          </a:p>
        </p:txBody>
      </p:sp>
      <p:pic>
        <p:nvPicPr>
          <p:cNvPr id="14" name="Espace réservé du contenu 7">
            <a:extLst>
              <a:ext uri="{FF2B5EF4-FFF2-40B4-BE49-F238E27FC236}">
                <a16:creationId xmlns:a16="http://schemas.microsoft.com/office/drawing/2014/main" id="{1D629BEA-4823-4CFE-99D1-4892B74C1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7633" y="251308"/>
            <a:ext cx="865500" cy="969857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BCD7EEF-78CC-44D2-8963-A5943977B9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b="47630"/>
          <a:stretch/>
        </p:blipFill>
        <p:spPr>
          <a:xfrm>
            <a:off x="3100888" y="1524478"/>
            <a:ext cx="6448175" cy="1538922"/>
          </a:xfrm>
          <a:prstGeom prst="rect">
            <a:avLst/>
          </a:prstGeom>
        </p:spPr>
      </p:pic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B578CBAD-B687-4AA4-8D41-304B8EAEC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66713"/>
            <a:ext cx="10515600" cy="531519"/>
          </a:xfrm>
        </p:spPr>
        <p:txBody>
          <a:bodyPr/>
          <a:lstStyle/>
          <a:p>
            <a:r>
              <a:rPr lang="fr-FR" dirty="0"/>
              <a:t>Access to data not </a:t>
            </a:r>
            <a:r>
              <a:rPr lang="fr-FR" dirty="0" err="1"/>
              <a:t>really</a:t>
            </a:r>
            <a:r>
              <a:rPr lang="fr-FR" dirty="0"/>
              <a:t> intuitive !</a:t>
            </a:r>
            <a:endParaRPr lang="en-US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74B36A06-DA0D-4553-9855-995ADD398A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0213" y="4298943"/>
            <a:ext cx="2481350" cy="104406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7F674925-B67C-4F95-A0B9-C07CAF5AA9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4162" y="4004221"/>
            <a:ext cx="4814712" cy="205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35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9449A5-DFEE-416A-B5E5-BF1D6B188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Share </a:t>
            </a:r>
            <a:r>
              <a:rPr lang="fr-FR" dirty="0" err="1"/>
              <a:t>functionnality</a:t>
            </a:r>
            <a:r>
              <a:rPr lang="fr-FR" dirty="0"/>
              <a:t> 1: </a:t>
            </a:r>
            <a:r>
              <a:rPr lang="fr-FR" dirty="0" err="1"/>
              <a:t>indexing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4FB161-4919-40C5-9D67-655B0F70C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7AB823-5F5C-4D68-A8FB-E61614209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B73065-0105-498B-93E4-CBBB3F3ED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7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E1CBC7-434A-40F4-AC7A-492475533469}"/>
              </a:ext>
            </a:extLst>
          </p:cNvPr>
          <p:cNvSpPr/>
          <p:nvPr/>
        </p:nvSpPr>
        <p:spPr>
          <a:xfrm>
            <a:off x="4046220" y="3467443"/>
            <a:ext cx="2011680" cy="333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57AB45-C5D9-4F5B-8DD7-96268FFED4CF}"/>
              </a:ext>
            </a:extLst>
          </p:cNvPr>
          <p:cNvSpPr/>
          <p:nvPr/>
        </p:nvSpPr>
        <p:spPr>
          <a:xfrm>
            <a:off x="4046220" y="3906904"/>
            <a:ext cx="2011680" cy="333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90F41B-BA1A-48B4-8A6B-045A11A2A623}"/>
              </a:ext>
            </a:extLst>
          </p:cNvPr>
          <p:cNvSpPr/>
          <p:nvPr/>
        </p:nvSpPr>
        <p:spPr>
          <a:xfrm>
            <a:off x="4046220" y="3007703"/>
            <a:ext cx="2011680" cy="333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956AD7-63FF-4BC5-9C8D-6A575777C9CD}"/>
              </a:ext>
            </a:extLst>
          </p:cNvPr>
          <p:cNvSpPr/>
          <p:nvPr/>
        </p:nvSpPr>
        <p:spPr>
          <a:xfrm>
            <a:off x="6141720" y="3467443"/>
            <a:ext cx="2011680" cy="333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120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B4246C-95B2-4579-9A53-E61284A0C04E}"/>
              </a:ext>
            </a:extLst>
          </p:cNvPr>
          <p:cNvSpPr/>
          <p:nvPr/>
        </p:nvSpPr>
        <p:spPr>
          <a:xfrm>
            <a:off x="6141720" y="3906904"/>
            <a:ext cx="2011680" cy="333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40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0DDE52-316D-4981-B6E3-DA83DC7324D5}"/>
              </a:ext>
            </a:extLst>
          </p:cNvPr>
          <p:cNvSpPr/>
          <p:nvPr/>
        </p:nvSpPr>
        <p:spPr>
          <a:xfrm>
            <a:off x="6141720" y="3007703"/>
            <a:ext cx="2011680" cy="333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80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FCA6A9-A591-40E9-A709-E23AA9544F8C}"/>
              </a:ext>
            </a:extLst>
          </p:cNvPr>
          <p:cNvSpPr/>
          <p:nvPr/>
        </p:nvSpPr>
        <p:spPr>
          <a:xfrm>
            <a:off x="8237220" y="3467443"/>
            <a:ext cx="2011680" cy="333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300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A48A75-44E9-4715-9F9E-09EAF6DE5FC1}"/>
              </a:ext>
            </a:extLst>
          </p:cNvPr>
          <p:cNvSpPr/>
          <p:nvPr/>
        </p:nvSpPr>
        <p:spPr>
          <a:xfrm>
            <a:off x="8237220" y="3906904"/>
            <a:ext cx="2011680" cy="333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120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909000-D523-4B2B-8025-8A42C3C31BDF}"/>
              </a:ext>
            </a:extLst>
          </p:cNvPr>
          <p:cNvSpPr/>
          <p:nvPr/>
        </p:nvSpPr>
        <p:spPr>
          <a:xfrm>
            <a:off x="8237220" y="3007703"/>
            <a:ext cx="2011680" cy="333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1000</a:t>
            </a:r>
          </a:p>
        </p:txBody>
      </p: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DCFC3CBA-F4AF-4EF1-9403-92785CABA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32620" y="1357855"/>
            <a:ext cx="2179320" cy="46799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fr-FR" b="1" dirty="0" err="1">
                <a:solidFill>
                  <a:srgbClr val="366D9B"/>
                </a:solidFill>
              </a:rPr>
              <a:t>Numpy</a:t>
            </a:r>
            <a:r>
              <a:rPr lang="fr-FR" b="1" dirty="0">
                <a:solidFill>
                  <a:srgbClr val="366D9B"/>
                </a:solidFill>
              </a:rPr>
              <a:t> </a:t>
            </a:r>
            <a:r>
              <a:rPr lang="fr-FR" b="1" dirty="0" err="1">
                <a:solidFill>
                  <a:srgbClr val="366D9B"/>
                </a:solidFill>
              </a:rPr>
              <a:t>array</a:t>
            </a:r>
            <a:endParaRPr lang="fr-FR" b="1" dirty="0">
              <a:solidFill>
                <a:srgbClr val="366D9B"/>
              </a:solidFill>
            </a:endParaRPr>
          </a:p>
          <a:p>
            <a:pPr marL="914400" lvl="2" indent="0">
              <a:buNone/>
            </a:pPr>
            <a:endParaRPr lang="fr-FR" dirty="0"/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60E2B45C-B1D0-4D52-A34B-EEBAD951F449}"/>
              </a:ext>
            </a:extLst>
          </p:cNvPr>
          <p:cNvCxnSpPr>
            <a:cxnSpLocks/>
          </p:cNvCxnSpPr>
          <p:nvPr/>
        </p:nvCxnSpPr>
        <p:spPr>
          <a:xfrm flipH="1">
            <a:off x="10267950" y="1842241"/>
            <a:ext cx="422910" cy="1237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D75424D-4F51-4EDE-A798-868653DF37F8}"/>
              </a:ext>
            </a:extLst>
          </p:cNvPr>
          <p:cNvSpPr/>
          <p:nvPr/>
        </p:nvSpPr>
        <p:spPr>
          <a:xfrm>
            <a:off x="4046220" y="2368417"/>
            <a:ext cx="2011680" cy="5044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Height</a:t>
            </a:r>
            <a:r>
              <a:rPr lang="fr-FR" dirty="0"/>
              <a:t> (cm)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BC090F-C1E0-4750-B451-2FC737FE9C4B}"/>
              </a:ext>
            </a:extLst>
          </p:cNvPr>
          <p:cNvSpPr/>
          <p:nvPr/>
        </p:nvSpPr>
        <p:spPr>
          <a:xfrm>
            <a:off x="6141720" y="2368417"/>
            <a:ext cx="2011680" cy="5044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Weight</a:t>
            </a:r>
            <a:r>
              <a:rPr lang="fr-FR" dirty="0"/>
              <a:t> (kg)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919701-E4C7-42C6-8879-81FA81EA3815}"/>
              </a:ext>
            </a:extLst>
          </p:cNvPr>
          <p:cNvSpPr/>
          <p:nvPr/>
        </p:nvSpPr>
        <p:spPr>
          <a:xfrm>
            <a:off x="8237220" y="2368416"/>
            <a:ext cx="2011680" cy="5044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Life </a:t>
            </a:r>
            <a:r>
              <a:rPr lang="fr-FR" dirty="0" err="1"/>
              <a:t>expectancy</a:t>
            </a:r>
            <a:r>
              <a:rPr lang="fr-FR" dirty="0"/>
              <a:t> (</a:t>
            </a:r>
            <a:r>
              <a:rPr lang="fr-FR" dirty="0" err="1"/>
              <a:t>years</a:t>
            </a:r>
            <a:r>
              <a:rPr lang="fr-FR" dirty="0"/>
              <a:t>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25BD01-C96D-49C5-9689-13C5D911A66D}"/>
              </a:ext>
            </a:extLst>
          </p:cNvPr>
          <p:cNvSpPr/>
          <p:nvPr/>
        </p:nvSpPr>
        <p:spPr>
          <a:xfrm>
            <a:off x="2270760" y="3007704"/>
            <a:ext cx="1615440" cy="3337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Elf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A438F9-754B-4B9F-909D-5C4C6E86C5FA}"/>
              </a:ext>
            </a:extLst>
          </p:cNvPr>
          <p:cNvSpPr/>
          <p:nvPr/>
        </p:nvSpPr>
        <p:spPr>
          <a:xfrm>
            <a:off x="2270760" y="3467443"/>
            <a:ext cx="1615440" cy="3337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Dwarf</a:t>
            </a:r>
            <a:endParaRPr lang="fr-FR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214B18-7E66-44DA-83F9-449775214811}"/>
              </a:ext>
            </a:extLst>
          </p:cNvPr>
          <p:cNvSpPr/>
          <p:nvPr/>
        </p:nvSpPr>
        <p:spPr>
          <a:xfrm>
            <a:off x="2270760" y="3906904"/>
            <a:ext cx="1615440" cy="3337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Hobbit</a:t>
            </a:r>
          </a:p>
        </p:txBody>
      </p:sp>
      <p:sp>
        <p:nvSpPr>
          <p:cNvPr id="24" name="Espace réservé du contenu 2">
            <a:extLst>
              <a:ext uri="{FF2B5EF4-FFF2-40B4-BE49-F238E27FC236}">
                <a16:creationId xmlns:a16="http://schemas.microsoft.com/office/drawing/2014/main" id="{700345A2-13BB-4F9E-8A17-7ABD368C3AF2}"/>
              </a:ext>
            </a:extLst>
          </p:cNvPr>
          <p:cNvSpPr txBox="1">
            <a:spLocks/>
          </p:cNvSpPr>
          <p:nvPr/>
        </p:nvSpPr>
        <p:spPr>
          <a:xfrm>
            <a:off x="411480" y="1481879"/>
            <a:ext cx="4663440" cy="4679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b="1" dirty="0">
                <a:solidFill>
                  <a:schemeClr val="accent2"/>
                </a:solidFill>
              </a:rPr>
              <a:t>pandas/</a:t>
            </a:r>
            <a:r>
              <a:rPr lang="fr-FR" b="1" dirty="0" err="1">
                <a:solidFill>
                  <a:schemeClr val="accent2"/>
                </a:solidFill>
              </a:rPr>
              <a:t>xarray</a:t>
            </a:r>
            <a:r>
              <a:rPr lang="fr-FR" b="1" dirty="0">
                <a:solidFill>
                  <a:schemeClr val="accent2"/>
                </a:solidFill>
              </a:rPr>
              <a:t> </a:t>
            </a:r>
            <a:r>
              <a:rPr lang="fr-FR" b="1" dirty="0" err="1">
                <a:solidFill>
                  <a:schemeClr val="accent2"/>
                </a:solidFill>
              </a:rPr>
              <a:t>wrapping</a:t>
            </a:r>
            <a:endParaRPr lang="fr-FR" b="1" dirty="0">
              <a:solidFill>
                <a:schemeClr val="accent2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endParaRPr lang="fr-FR" dirty="0"/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C83F03BA-924C-440E-8503-F2063B72B81D}"/>
              </a:ext>
            </a:extLst>
          </p:cNvPr>
          <p:cNvCxnSpPr>
            <a:cxnSpLocks/>
          </p:cNvCxnSpPr>
          <p:nvPr/>
        </p:nvCxnSpPr>
        <p:spPr>
          <a:xfrm flipH="1">
            <a:off x="2209800" y="1858157"/>
            <a:ext cx="60960" cy="710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Espace réservé du contenu 2">
            <a:extLst>
              <a:ext uri="{FF2B5EF4-FFF2-40B4-BE49-F238E27FC236}">
                <a16:creationId xmlns:a16="http://schemas.microsoft.com/office/drawing/2014/main" id="{63BA4CE0-C8CA-4A7E-9BF6-F5AE21A47F71}"/>
              </a:ext>
            </a:extLst>
          </p:cNvPr>
          <p:cNvSpPr txBox="1">
            <a:spLocks/>
          </p:cNvSpPr>
          <p:nvPr/>
        </p:nvSpPr>
        <p:spPr>
          <a:xfrm>
            <a:off x="4874895" y="1910620"/>
            <a:ext cx="4663440" cy="395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200" b="1" dirty="0">
                <a:solidFill>
                  <a:schemeClr val="accent2"/>
                </a:solidFill>
              </a:rPr>
              <a:t>Variable </a:t>
            </a:r>
            <a:r>
              <a:rPr lang="fr-FR" sz="2200" b="1" dirty="0" err="1">
                <a:solidFill>
                  <a:schemeClr val="accent2"/>
                </a:solidFill>
              </a:rPr>
              <a:t>names</a:t>
            </a:r>
            <a:endParaRPr lang="fr-FR" sz="2200" b="1" dirty="0">
              <a:solidFill>
                <a:schemeClr val="accent2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endParaRPr lang="fr-FR" dirty="0"/>
          </a:p>
        </p:txBody>
      </p:sp>
      <p:sp>
        <p:nvSpPr>
          <p:cNvPr id="27" name="Espace réservé du contenu 2">
            <a:extLst>
              <a:ext uri="{FF2B5EF4-FFF2-40B4-BE49-F238E27FC236}">
                <a16:creationId xmlns:a16="http://schemas.microsoft.com/office/drawing/2014/main" id="{0EB6C137-B9A0-44A1-9309-8F78EEAE3D5A}"/>
              </a:ext>
            </a:extLst>
          </p:cNvPr>
          <p:cNvSpPr txBox="1">
            <a:spLocks/>
          </p:cNvSpPr>
          <p:nvPr/>
        </p:nvSpPr>
        <p:spPr>
          <a:xfrm>
            <a:off x="1466850" y="2568242"/>
            <a:ext cx="2320290" cy="395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200" b="1" dirty="0">
                <a:solidFill>
                  <a:schemeClr val="accent2"/>
                </a:solidFill>
              </a:rPr>
              <a:t>Indices</a:t>
            </a:r>
          </a:p>
          <a:p>
            <a:pPr marL="914400" lvl="2" indent="0">
              <a:buFont typeface="Arial" panose="020B0604020202020204" pitchFamily="34" charset="0"/>
              <a:buNone/>
            </a:pPr>
            <a:endParaRPr lang="fr-FR" dirty="0"/>
          </a:p>
        </p:txBody>
      </p: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698FD3C7-D29A-4A40-8797-60A90B0D5519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3695700" y="1893396"/>
            <a:ext cx="1179195" cy="215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Espace réservé du contenu 2">
            <a:extLst>
              <a:ext uri="{FF2B5EF4-FFF2-40B4-BE49-F238E27FC236}">
                <a16:creationId xmlns:a16="http://schemas.microsoft.com/office/drawing/2014/main" id="{F4C406D2-EFAA-4666-96D7-E16805E711AC}"/>
              </a:ext>
            </a:extLst>
          </p:cNvPr>
          <p:cNvSpPr txBox="1">
            <a:spLocks/>
          </p:cNvSpPr>
          <p:nvPr/>
        </p:nvSpPr>
        <p:spPr>
          <a:xfrm>
            <a:off x="838200" y="4449247"/>
            <a:ext cx="10515600" cy="1249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Select data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b="1" dirty="0"/>
              <a:t>indices</a:t>
            </a:r>
          </a:p>
          <a:p>
            <a:r>
              <a:rPr lang="fr-FR" dirty="0"/>
              <a:t>Access variable/dimensions by </a:t>
            </a:r>
            <a:r>
              <a:rPr lang="fr-FR" dirty="0" err="1"/>
              <a:t>their</a:t>
            </a:r>
            <a:r>
              <a:rPr lang="fr-FR" dirty="0"/>
              <a:t> explicit </a:t>
            </a:r>
            <a:r>
              <a:rPr lang="fr-FR" b="1" dirty="0" err="1"/>
              <a:t>names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11224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/>
      <p:bldP spid="26" grpId="0"/>
      <p:bldP spid="27" grpId="0"/>
      <p:bldP spid="2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5249B7-B947-41BB-B27C-E6177B057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Share </a:t>
            </a:r>
            <a:r>
              <a:rPr lang="fr-FR" dirty="0" err="1"/>
              <a:t>functionnality</a:t>
            </a:r>
            <a:r>
              <a:rPr lang="fr-FR" dirty="0"/>
              <a:t> 2: </a:t>
            </a:r>
            <a:r>
              <a:rPr lang="fr-FR" dirty="0" err="1"/>
              <a:t>many</a:t>
            </a:r>
            <a:r>
              <a:rPr lang="fr-FR" dirty="0"/>
              <a:t> formats for </a:t>
            </a:r>
            <a:r>
              <a:rPr lang="fr-FR" dirty="0" err="1"/>
              <a:t>reading</a:t>
            </a:r>
            <a:r>
              <a:rPr lang="fr-FR" dirty="0"/>
              <a:t>/</a:t>
            </a:r>
            <a:r>
              <a:rPr lang="fr-FR" dirty="0" err="1"/>
              <a:t>writing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0E7236-B5C5-423D-8831-1B7F944F0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9022C7-6545-4D25-9F2F-5A3363FF6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3DE71A-0E87-4F19-8297-876806B1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8</a:t>
            </a:fld>
            <a:endParaRPr lang="en-US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43EEC34-CEC2-411F-BF6A-A3A2B6F288B9}"/>
              </a:ext>
            </a:extLst>
          </p:cNvPr>
          <p:cNvSpPr/>
          <p:nvPr/>
        </p:nvSpPr>
        <p:spPr>
          <a:xfrm>
            <a:off x="838200" y="1752214"/>
            <a:ext cx="5066339" cy="375958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7C58959F-6233-41EE-BCF3-0557AD2F6B39}"/>
              </a:ext>
            </a:extLst>
          </p:cNvPr>
          <p:cNvSpPr/>
          <p:nvPr/>
        </p:nvSpPr>
        <p:spPr>
          <a:xfrm>
            <a:off x="6115530" y="1752213"/>
            <a:ext cx="5066339" cy="375958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6BEB2D7-67F6-471C-A1B2-3E5CA5E92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769" y="1752214"/>
            <a:ext cx="2743200" cy="1109067"/>
          </a:xfrm>
          <a:prstGeom prst="rect">
            <a:avLst/>
          </a:prstGeom>
        </p:spPr>
      </p:pic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1563A0C1-1304-4FCA-BCFB-5692D255956B}"/>
              </a:ext>
            </a:extLst>
          </p:cNvPr>
          <p:cNvSpPr txBox="1">
            <a:spLocks/>
          </p:cNvSpPr>
          <p:nvPr/>
        </p:nvSpPr>
        <p:spPr>
          <a:xfrm>
            <a:off x="1190385" y="2864788"/>
            <a:ext cx="4334435" cy="226386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 err="1"/>
              <a:t>Tabular</a:t>
            </a:r>
            <a:r>
              <a:rPr lang="fr-FR" b="1" dirty="0"/>
              <a:t> format</a:t>
            </a:r>
          </a:p>
          <a:p>
            <a:r>
              <a:rPr lang="fr-FR" dirty="0"/>
              <a:t>csv</a:t>
            </a:r>
          </a:p>
          <a:p>
            <a:r>
              <a:rPr lang="fr-FR" dirty="0" err="1"/>
              <a:t>excel</a:t>
            </a:r>
            <a:r>
              <a:rPr lang="fr-FR" dirty="0"/>
              <a:t> (</a:t>
            </a:r>
            <a:r>
              <a:rPr lang="fr-FR" dirty="0" err="1"/>
              <a:t>xls</a:t>
            </a:r>
            <a:r>
              <a:rPr lang="fr-FR" dirty="0"/>
              <a:t>, xlsx)</a:t>
            </a:r>
          </a:p>
          <a:p>
            <a:r>
              <a:rPr lang="fr-FR" dirty="0"/>
              <a:t>txt</a:t>
            </a:r>
          </a:p>
          <a:p>
            <a:r>
              <a:rPr lang="fr-FR" dirty="0" err="1"/>
              <a:t>json</a:t>
            </a:r>
            <a:endParaRPr lang="fr-FR" dirty="0"/>
          </a:p>
          <a:p>
            <a:r>
              <a:rPr lang="fr-FR" dirty="0"/>
              <a:t>…</a:t>
            </a:r>
          </a:p>
          <a:p>
            <a:endParaRPr lang="fr-FR" dirty="0"/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218E0777-597C-43D5-8BE3-D8B711E475F6}"/>
              </a:ext>
            </a:extLst>
          </p:cNvPr>
          <p:cNvSpPr txBox="1">
            <a:spLocks/>
          </p:cNvSpPr>
          <p:nvPr/>
        </p:nvSpPr>
        <p:spPr>
          <a:xfrm>
            <a:off x="6521182" y="2824192"/>
            <a:ext cx="4334435" cy="24928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 err="1"/>
              <a:t>Grid</a:t>
            </a:r>
            <a:r>
              <a:rPr lang="fr-FR" b="1" dirty="0"/>
              <a:t> format</a:t>
            </a:r>
          </a:p>
          <a:p>
            <a:r>
              <a:rPr lang="fr-FR" dirty="0" err="1"/>
              <a:t>Netcdf</a:t>
            </a:r>
            <a:endParaRPr lang="fr-FR" dirty="0"/>
          </a:p>
          <a:p>
            <a:r>
              <a:rPr lang="fr-FR" dirty="0"/>
              <a:t>GRIB</a:t>
            </a:r>
          </a:p>
          <a:p>
            <a:r>
              <a:rPr lang="fr-FR" dirty="0" err="1"/>
              <a:t>geoTIFF</a:t>
            </a:r>
            <a:endParaRPr lang="fr-FR" dirty="0"/>
          </a:p>
          <a:p>
            <a:r>
              <a:rPr lang="fr-FR" dirty="0" err="1"/>
              <a:t>zarr</a:t>
            </a:r>
            <a:endParaRPr lang="fr-FR" dirty="0"/>
          </a:p>
          <a:p>
            <a:r>
              <a:rPr lang="fr-FR" dirty="0"/>
              <a:t>…</a:t>
            </a:r>
          </a:p>
        </p:txBody>
      </p:sp>
      <p:pic>
        <p:nvPicPr>
          <p:cNvPr id="14" name="Graphique 13">
            <a:extLst>
              <a:ext uri="{FF2B5EF4-FFF2-40B4-BE49-F238E27FC236}">
                <a16:creationId xmlns:a16="http://schemas.microsoft.com/office/drawing/2014/main" id="{35F05D2F-4F23-49D0-976A-A226FAC974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06015" y="1659481"/>
            <a:ext cx="2485367" cy="124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852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7F63D3-479A-4ABF-8DA8-A282175B0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Share </a:t>
            </a:r>
            <a:r>
              <a:rPr lang="fr-FR" dirty="0" err="1"/>
              <a:t>functionnality</a:t>
            </a:r>
            <a:r>
              <a:rPr lang="fr-FR" dirty="0"/>
              <a:t> 3: </a:t>
            </a:r>
            <a:r>
              <a:rPr lang="fr-FR" dirty="0" err="1"/>
              <a:t>easy</a:t>
            </a:r>
            <a:r>
              <a:rPr lang="fr-FR" dirty="0"/>
              <a:t> </a:t>
            </a:r>
            <a:r>
              <a:rPr lang="fr-FR" dirty="0" err="1"/>
              <a:t>plotting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E0C51F-AD68-488F-BA7C-F23FBE826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3BAC91-D634-4926-83C1-45764F5AC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A9327C-95A6-4D07-B94D-A29788EEC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9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F7AEDC25-F11D-4BEE-8E8F-7F45468E02CA}"/>
              </a:ext>
            </a:extLst>
          </p:cNvPr>
          <p:cNvSpPr txBox="1">
            <a:spLocks/>
          </p:cNvSpPr>
          <p:nvPr/>
        </p:nvSpPr>
        <p:spPr>
          <a:xfrm>
            <a:off x="738307" y="1446673"/>
            <a:ext cx="10515600" cy="6829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Integrated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b="1" dirty="0" err="1"/>
              <a:t>matplotlib</a:t>
            </a:r>
            <a:r>
              <a:rPr lang="fr-FR" dirty="0"/>
              <a:t> </a:t>
            </a:r>
            <a:r>
              <a:rPr lang="fr-FR" sz="2000" dirty="0"/>
              <a:t>(and </a:t>
            </a:r>
            <a:r>
              <a:rPr lang="fr-FR" sz="2000" dirty="0" err="1"/>
              <a:t>many</a:t>
            </a:r>
            <a:r>
              <a:rPr lang="fr-FR" sz="2000" dirty="0"/>
              <a:t> </a:t>
            </a:r>
            <a:r>
              <a:rPr lang="fr-FR" sz="2000" dirty="0" err="1"/>
              <a:t>other</a:t>
            </a:r>
            <a:r>
              <a:rPr lang="fr-FR" sz="2000" dirty="0"/>
              <a:t> backends like </a:t>
            </a:r>
            <a:r>
              <a:rPr lang="fr-FR" sz="2000" dirty="0" err="1"/>
              <a:t>hvplot</a:t>
            </a:r>
            <a:r>
              <a:rPr lang="fr-FR" sz="2000" dirty="0"/>
              <a:t>, </a:t>
            </a:r>
            <a:r>
              <a:rPr lang="fr-FR" sz="2000" dirty="0" err="1"/>
              <a:t>plotly</a:t>
            </a:r>
            <a:r>
              <a:rPr lang="fr-FR" sz="2000" dirty="0"/>
              <a:t>, …)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5CEB6B01-16B4-401C-B981-ED9E8D925D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5" y="3125024"/>
            <a:ext cx="3257105" cy="2171403"/>
          </a:xfr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37A5DD2-4551-4379-99F9-10B6F89F0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18" y="3211193"/>
            <a:ext cx="2898803" cy="289880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5EFD5FD-0FCF-4DAF-A03F-744D509139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067" y="3296454"/>
            <a:ext cx="3257104" cy="2171402"/>
          </a:xfrm>
          <a:prstGeom prst="rect">
            <a:avLst/>
          </a:prstGeom>
        </p:spPr>
      </p:pic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D646FF33-675C-4886-B227-12EB07F5A597}"/>
              </a:ext>
            </a:extLst>
          </p:cNvPr>
          <p:cNvSpPr txBox="1">
            <a:spLocks/>
          </p:cNvSpPr>
          <p:nvPr/>
        </p:nvSpPr>
        <p:spPr>
          <a:xfrm>
            <a:off x="263651" y="2698841"/>
            <a:ext cx="2777416" cy="3954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 err="1"/>
              <a:t>Categorical</a:t>
            </a:r>
            <a:r>
              <a:rPr lang="fr-FR" dirty="0"/>
              <a:t> plots</a:t>
            </a:r>
          </a:p>
          <a:p>
            <a:endParaRPr lang="fr-FR" dirty="0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055405B3-F2DF-4F1D-80A2-9EB91ABA35D5}"/>
              </a:ext>
            </a:extLst>
          </p:cNvPr>
          <p:cNvSpPr txBox="1">
            <a:spLocks/>
          </p:cNvSpPr>
          <p:nvPr/>
        </p:nvSpPr>
        <p:spPr>
          <a:xfrm>
            <a:off x="3083221" y="2729552"/>
            <a:ext cx="3327460" cy="3954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/>
              <a:t>Time </a:t>
            </a:r>
            <a:r>
              <a:rPr lang="fr-FR" dirty="0" err="1"/>
              <a:t>series</a:t>
            </a:r>
            <a:endParaRPr lang="fr-FR" dirty="0"/>
          </a:p>
          <a:p>
            <a:pPr algn="ctr"/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8474C69B-3E8F-4B86-957E-14BD91E079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071" y="3229714"/>
            <a:ext cx="3042134" cy="2028089"/>
          </a:xfrm>
          <a:prstGeom prst="rect">
            <a:avLst/>
          </a:prstGeom>
        </p:spPr>
      </p:pic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BDD00824-59DB-4A3B-AE2A-01BBB2BF6CFF}"/>
              </a:ext>
            </a:extLst>
          </p:cNvPr>
          <p:cNvSpPr txBox="1">
            <a:spLocks/>
          </p:cNvSpPr>
          <p:nvPr/>
        </p:nvSpPr>
        <p:spPr>
          <a:xfrm>
            <a:off x="7450497" y="2781897"/>
            <a:ext cx="2777416" cy="3954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          </a:t>
            </a:r>
            <a:r>
              <a:rPr lang="fr-FR" dirty="0" err="1"/>
              <a:t>Maps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24834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FCDAB1-8594-4F81-BDC6-C908FB759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differences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641104-5152-49E3-B753-22F764E01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351298-D33C-4163-8137-204F962A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AC9D0B-7E51-4785-8824-88C732B05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10</a:t>
            </a:fld>
            <a:endParaRPr lang="en-US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74463252-1381-4942-8031-AC7A1D606D1A}"/>
              </a:ext>
            </a:extLst>
          </p:cNvPr>
          <p:cNvSpPr/>
          <p:nvPr/>
        </p:nvSpPr>
        <p:spPr>
          <a:xfrm>
            <a:off x="838200" y="1421546"/>
            <a:ext cx="5066339" cy="301214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EF07B1DB-3F41-4B60-B78C-B78308DBE77C}"/>
              </a:ext>
            </a:extLst>
          </p:cNvPr>
          <p:cNvSpPr/>
          <p:nvPr/>
        </p:nvSpPr>
        <p:spPr>
          <a:xfrm>
            <a:off x="6115530" y="1421546"/>
            <a:ext cx="5066339" cy="301214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392BD9C-E9B7-4E9B-9B52-3D90DDA304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769" y="1481045"/>
            <a:ext cx="2743200" cy="1109067"/>
          </a:xfrm>
          <a:prstGeom prst="rect">
            <a:avLst/>
          </a:prstGeom>
        </p:spPr>
      </p:pic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17A5C7AB-7F45-44A7-AE08-157FAB49E240}"/>
              </a:ext>
            </a:extLst>
          </p:cNvPr>
          <p:cNvSpPr txBox="1">
            <a:spLocks/>
          </p:cNvSpPr>
          <p:nvPr/>
        </p:nvSpPr>
        <p:spPr>
          <a:xfrm>
            <a:off x="1159649" y="2471777"/>
            <a:ext cx="4334435" cy="1796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 err="1"/>
              <a:t>Better</a:t>
            </a:r>
            <a:r>
              <a:rPr lang="fr-FR" sz="2000" dirty="0"/>
              <a:t> for </a:t>
            </a:r>
            <a:r>
              <a:rPr lang="fr-FR" sz="2000" b="1" dirty="0">
                <a:solidFill>
                  <a:schemeClr val="accent3"/>
                </a:solidFill>
              </a:rPr>
              <a:t>one dimension </a:t>
            </a:r>
            <a:r>
              <a:rPr lang="fr-FR" sz="2000" dirty="0"/>
              <a:t>data</a:t>
            </a:r>
          </a:p>
          <a:p>
            <a:r>
              <a:rPr lang="fr-FR" sz="2000" dirty="0" err="1"/>
              <a:t>Different</a:t>
            </a:r>
            <a:r>
              <a:rPr lang="fr-FR" sz="2000" dirty="0"/>
              <a:t> data types possible (string, </a:t>
            </a:r>
            <a:r>
              <a:rPr lang="fr-FR" sz="2000" dirty="0" err="1"/>
              <a:t>datetime</a:t>
            </a:r>
            <a:r>
              <a:rPr lang="fr-FR" sz="2000" dirty="0"/>
              <a:t>, </a:t>
            </a:r>
            <a:r>
              <a:rPr lang="fr-FR" sz="2000" dirty="0" err="1"/>
              <a:t>int</a:t>
            </a:r>
            <a:r>
              <a:rPr lang="fr-FR" sz="2000" dirty="0"/>
              <a:t>, </a:t>
            </a:r>
            <a:r>
              <a:rPr lang="fr-FR" sz="2000" dirty="0" err="1"/>
              <a:t>float</a:t>
            </a:r>
            <a:r>
              <a:rPr lang="fr-FR" sz="2000" dirty="0"/>
              <a:t>, …)</a:t>
            </a:r>
          </a:p>
          <a:p>
            <a:r>
              <a:rPr lang="fr-FR" sz="2000" b="1" dirty="0"/>
              <a:t>More </a:t>
            </a:r>
            <a:r>
              <a:rPr lang="fr-FR" sz="2000" b="1" dirty="0" err="1"/>
              <a:t>methods</a:t>
            </a:r>
            <a:r>
              <a:rPr lang="fr-FR" sz="2000" b="1" dirty="0"/>
              <a:t> </a:t>
            </a:r>
            <a:r>
              <a:rPr lang="fr-FR" sz="2000" dirty="0" err="1"/>
              <a:t>available</a:t>
            </a:r>
            <a:endParaRPr lang="fr-FR" sz="2000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DE77BA24-FA98-4E02-9596-01B5E5B3ABB9}"/>
              </a:ext>
            </a:extLst>
          </p:cNvPr>
          <p:cNvSpPr txBox="1">
            <a:spLocks/>
          </p:cNvSpPr>
          <p:nvPr/>
        </p:nvSpPr>
        <p:spPr>
          <a:xfrm>
            <a:off x="6598022" y="2590112"/>
            <a:ext cx="4334435" cy="1321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 err="1"/>
              <a:t>Generalising</a:t>
            </a:r>
            <a:r>
              <a:rPr lang="fr-FR" sz="2000" dirty="0"/>
              <a:t> pandas </a:t>
            </a:r>
            <a:r>
              <a:rPr lang="fr-FR" sz="2000" dirty="0" err="1"/>
              <a:t>with</a:t>
            </a:r>
            <a:r>
              <a:rPr lang="fr-FR" sz="2000" dirty="0"/>
              <a:t> </a:t>
            </a:r>
            <a:r>
              <a:rPr lang="fr-FR" sz="2000" b="1" dirty="0" err="1"/>
              <a:t>several</a:t>
            </a:r>
            <a:r>
              <a:rPr lang="fr-FR" sz="2000" b="1" dirty="0"/>
              <a:t> dimensions</a:t>
            </a:r>
          </a:p>
          <a:p>
            <a:r>
              <a:rPr lang="fr-FR" sz="2000" dirty="0" err="1"/>
              <a:t>Better</a:t>
            </a:r>
            <a:r>
              <a:rPr lang="fr-FR" sz="2000" dirty="0"/>
              <a:t> for </a:t>
            </a:r>
            <a:r>
              <a:rPr lang="fr-FR" sz="2000" b="1" dirty="0" err="1">
                <a:solidFill>
                  <a:schemeClr val="accent3"/>
                </a:solidFill>
              </a:rPr>
              <a:t>geographical</a:t>
            </a:r>
            <a:r>
              <a:rPr lang="fr-FR" sz="2000" b="1" dirty="0">
                <a:solidFill>
                  <a:schemeClr val="accent3"/>
                </a:solidFill>
              </a:rPr>
              <a:t> data </a:t>
            </a:r>
            <a:r>
              <a:rPr lang="fr-FR" sz="2000" dirty="0" err="1"/>
              <a:t>with</a:t>
            </a:r>
            <a:r>
              <a:rPr lang="fr-FR" sz="2000" dirty="0"/>
              <a:t> 3-4 dimensions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4588F4A2-1816-47BD-B5D9-1399728AC94D}"/>
              </a:ext>
            </a:extLst>
          </p:cNvPr>
          <p:cNvSpPr txBox="1">
            <a:spLocks/>
          </p:cNvSpPr>
          <p:nvPr/>
        </p:nvSpPr>
        <p:spPr>
          <a:xfrm>
            <a:off x="1296359" y="4589504"/>
            <a:ext cx="4334435" cy="11857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Great for </a:t>
            </a:r>
            <a:r>
              <a:rPr lang="fr-FR" sz="2000" dirty="0" err="1"/>
              <a:t>categorical</a:t>
            </a:r>
            <a:r>
              <a:rPr lang="fr-FR" sz="2000" dirty="0"/>
              <a:t> data/</a:t>
            </a:r>
            <a:r>
              <a:rPr lang="fr-FR" sz="2000" dirty="0" err="1"/>
              <a:t>timeseries</a:t>
            </a:r>
            <a:endParaRPr lang="fr-FR" dirty="0"/>
          </a:p>
          <a:p>
            <a:endParaRPr lang="fr-FR" dirty="0"/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08F872D0-CCB7-4C7E-BE1A-2C51C4DD4233}"/>
              </a:ext>
            </a:extLst>
          </p:cNvPr>
          <p:cNvSpPr txBox="1">
            <a:spLocks/>
          </p:cNvSpPr>
          <p:nvPr/>
        </p:nvSpPr>
        <p:spPr>
          <a:xfrm>
            <a:off x="6561208" y="4581037"/>
            <a:ext cx="4334435" cy="11857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 err="1"/>
              <a:t>Gridded</a:t>
            </a:r>
            <a:r>
              <a:rPr lang="fr-FR" sz="2000" dirty="0"/>
              <a:t> data </a:t>
            </a:r>
            <a:r>
              <a:rPr lang="fr-FR" sz="2000" dirty="0" err="1"/>
              <a:t>climate</a:t>
            </a:r>
            <a:r>
              <a:rPr lang="fr-FR" sz="2000" dirty="0"/>
              <a:t>/</a:t>
            </a:r>
            <a:r>
              <a:rPr lang="fr-FR" sz="2000" dirty="0" err="1"/>
              <a:t>ocean</a:t>
            </a:r>
            <a:r>
              <a:rPr lang="fr-FR" sz="2000" dirty="0"/>
              <a:t>/</a:t>
            </a:r>
            <a:r>
              <a:rPr lang="fr-FR" sz="2000" dirty="0" err="1"/>
              <a:t>atmosphere</a:t>
            </a:r>
            <a:r>
              <a:rPr lang="fr-FR" sz="2000" dirty="0"/>
              <a:t>/satellite</a:t>
            </a:r>
          </a:p>
          <a:p>
            <a:endParaRPr lang="fr-FR" sz="2000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15" name="Graphique 14">
            <a:extLst>
              <a:ext uri="{FF2B5EF4-FFF2-40B4-BE49-F238E27FC236}">
                <a16:creationId xmlns:a16="http://schemas.microsoft.com/office/drawing/2014/main" id="{2C26477E-1A9E-4BD0-AF3E-E494F2DC3F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06015" y="1414236"/>
            <a:ext cx="2485367" cy="124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711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02D15B-B360-472B-BAC4-85897DF2F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Useful</a:t>
            </a:r>
            <a:r>
              <a:rPr lang="fr-FR" dirty="0"/>
              <a:t> links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F10805-F24D-4A8C-9FAC-373D8DD43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F40AEF-E7A7-408B-9257-935EED625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F0FBC8-A03D-4FEB-852C-1114EB257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11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1FB3C161-262F-403D-AA1C-2AC23850F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838"/>
            <a:ext cx="10515600" cy="3920324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fr-FR" dirty="0">
                <a:hlinkClick r:id="rId2"/>
              </a:rPr>
              <a:t>https://pandas.pydata.org/</a:t>
            </a:r>
            <a:endParaRPr lang="fr-FR" dirty="0"/>
          </a:p>
          <a:p>
            <a:pPr>
              <a:lnSpc>
                <a:spcPct val="200000"/>
              </a:lnSpc>
            </a:pPr>
            <a:r>
              <a:rPr lang="fr-FR" dirty="0">
                <a:hlinkClick r:id="rId3"/>
              </a:rPr>
              <a:t>https://docs.xarray.dev/en/stable/</a:t>
            </a:r>
            <a:endParaRPr lang="fr-FR" dirty="0"/>
          </a:p>
          <a:p>
            <a:pPr>
              <a:lnSpc>
                <a:spcPct val="200000"/>
              </a:lnSpc>
            </a:pPr>
            <a:r>
              <a:rPr lang="fr-FR" dirty="0">
                <a:hlinkClick r:id="rId4"/>
              </a:rPr>
              <a:t>https://gallery.pangeo.io/</a:t>
            </a:r>
            <a:endParaRPr lang="fr-FR" dirty="0"/>
          </a:p>
          <a:p>
            <a:pPr>
              <a:lnSpc>
                <a:spcPct val="200000"/>
              </a:lnSpc>
            </a:pPr>
            <a:r>
              <a:rPr lang="fr-FR" dirty="0">
                <a:hlinkClick r:id="rId5"/>
              </a:rPr>
              <a:t>https://www.dask.org/</a:t>
            </a:r>
            <a:endParaRPr lang="fr-FR" dirty="0"/>
          </a:p>
          <a:p>
            <a:pPr marL="0" indent="0">
              <a:lnSpc>
                <a:spcPct val="200000"/>
              </a:lnSpc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58789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32716645-BBC1-4EA7-97C4-ACCF1FA89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Any</a:t>
            </a:r>
            <a:r>
              <a:rPr lang="fr-FR" dirty="0"/>
              <a:t> question?</a:t>
            </a:r>
            <a:endParaRPr lang="en-US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7E5E3ED-8692-4D14-8CAB-54A2C2748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8D175E-F9F8-4F98-B9D5-DD3C3EE31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49DB21-6240-4583-8C7C-1521E1EEB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AE7D59-AF8C-4A12-9F1E-F691AB540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12</a:t>
            </a:fld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63F2F9B-EF05-4B9C-A6FB-CCA0756B4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3480396"/>
            <a:ext cx="2743200" cy="1109067"/>
          </a:xfrm>
          <a:prstGeom prst="rect">
            <a:avLst/>
          </a:prstGeom>
        </p:spPr>
      </p:pic>
      <p:pic>
        <p:nvPicPr>
          <p:cNvPr id="11" name="Graphique 10">
            <a:extLst>
              <a:ext uri="{FF2B5EF4-FFF2-40B4-BE49-F238E27FC236}">
                <a16:creationId xmlns:a16="http://schemas.microsoft.com/office/drawing/2014/main" id="{94C1F0FB-94C0-42C5-92F8-CE226511A7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10600" y="2514764"/>
            <a:ext cx="2485367" cy="124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538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BCC306FF-27A2-4AD1-9335-17BB81915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Quick introduction to jupyter notebooks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4BC5B1-43E4-466D-A9A6-D3BABAE1A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C8B05D-1CD5-4976-BBE9-CC8E5F43C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6CDB51-3169-4088-BEEF-DF211EF53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13</a:t>
            </a:fld>
            <a:endParaRPr lang="en-US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B777B82C-F9F8-4D63-ADB1-F974563B5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114799" cy="3530147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fr-FR" dirty="0" err="1"/>
              <a:t>Cells</a:t>
            </a:r>
            <a:endParaRPr lang="fr-FR" dirty="0"/>
          </a:p>
          <a:p>
            <a:pPr>
              <a:lnSpc>
                <a:spcPct val="160000"/>
              </a:lnSpc>
            </a:pPr>
            <a:r>
              <a:rPr lang="fr-FR" dirty="0"/>
              <a:t>Code</a:t>
            </a:r>
          </a:p>
          <a:p>
            <a:pPr>
              <a:lnSpc>
                <a:spcPct val="160000"/>
              </a:lnSpc>
            </a:pPr>
            <a:r>
              <a:rPr lang="fr-FR" dirty="0" err="1"/>
              <a:t>Markdown</a:t>
            </a:r>
            <a:endParaRPr lang="fr-FR" dirty="0"/>
          </a:p>
          <a:p>
            <a:pPr>
              <a:lnSpc>
                <a:spcPct val="160000"/>
              </a:lnSpc>
            </a:pPr>
            <a:r>
              <a:rPr lang="fr-FR"/>
              <a:t>Outputs </a:t>
            </a:r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CA0EEAA-1BE6-4C49-9D87-0D96B92B6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342" y="1577976"/>
            <a:ext cx="5984115" cy="4191471"/>
          </a:xfrm>
          <a:prstGeom prst="rect">
            <a:avLst/>
          </a:prstGeom>
        </p:spPr>
      </p:pic>
      <p:grpSp>
        <p:nvGrpSpPr>
          <p:cNvPr id="11" name="Groupe 10">
            <a:extLst>
              <a:ext uri="{FF2B5EF4-FFF2-40B4-BE49-F238E27FC236}">
                <a16:creationId xmlns:a16="http://schemas.microsoft.com/office/drawing/2014/main" id="{4CB0DFE0-87F0-4830-B39C-7C7FB85FB19A}"/>
              </a:ext>
            </a:extLst>
          </p:cNvPr>
          <p:cNvGrpSpPr/>
          <p:nvPr/>
        </p:nvGrpSpPr>
        <p:grpSpPr>
          <a:xfrm>
            <a:off x="2558781" y="2342067"/>
            <a:ext cx="2602561" cy="3167710"/>
            <a:chOff x="2558781" y="2342067"/>
            <a:chExt cx="2602561" cy="3167710"/>
          </a:xfrm>
        </p:grpSpPr>
        <p:cxnSp>
          <p:nvCxnSpPr>
            <p:cNvPr id="12" name="Connecteur droit avec flèche 11">
              <a:extLst>
                <a:ext uri="{FF2B5EF4-FFF2-40B4-BE49-F238E27FC236}">
                  <a16:creationId xmlns:a16="http://schemas.microsoft.com/office/drawing/2014/main" id="{5B50B666-F21B-4CE1-83D5-BE3D0A6D0FD7}"/>
                </a:ext>
              </a:extLst>
            </p:cNvPr>
            <p:cNvCxnSpPr/>
            <p:nvPr/>
          </p:nvCxnSpPr>
          <p:spPr>
            <a:xfrm>
              <a:off x="2558782" y="2353535"/>
              <a:ext cx="2602559" cy="1152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avec flèche 12">
              <a:extLst>
                <a:ext uri="{FF2B5EF4-FFF2-40B4-BE49-F238E27FC236}">
                  <a16:creationId xmlns:a16="http://schemas.microsoft.com/office/drawing/2014/main" id="{EADA0B66-0F82-4771-937D-0706CCA1AECF}"/>
                </a:ext>
              </a:extLst>
            </p:cNvPr>
            <p:cNvCxnSpPr>
              <a:cxnSpLocks/>
            </p:cNvCxnSpPr>
            <p:nvPr/>
          </p:nvCxnSpPr>
          <p:spPr>
            <a:xfrm>
              <a:off x="2558783" y="2345853"/>
              <a:ext cx="2602559" cy="5576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avec flèche 13">
              <a:extLst>
                <a:ext uri="{FF2B5EF4-FFF2-40B4-BE49-F238E27FC236}">
                  <a16:creationId xmlns:a16="http://schemas.microsoft.com/office/drawing/2014/main" id="{3B50CE68-844E-4797-9840-316B90C33E3F}"/>
                </a:ext>
              </a:extLst>
            </p:cNvPr>
            <p:cNvCxnSpPr>
              <a:cxnSpLocks/>
            </p:cNvCxnSpPr>
            <p:nvPr/>
          </p:nvCxnSpPr>
          <p:spPr>
            <a:xfrm>
              <a:off x="2558783" y="2345853"/>
              <a:ext cx="2602559" cy="8814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avec flèche 14">
              <a:extLst>
                <a:ext uri="{FF2B5EF4-FFF2-40B4-BE49-F238E27FC236}">
                  <a16:creationId xmlns:a16="http://schemas.microsoft.com/office/drawing/2014/main" id="{F9B7F29B-D331-4A6E-8968-6ACE39F54779}"/>
                </a:ext>
              </a:extLst>
            </p:cNvPr>
            <p:cNvCxnSpPr>
              <a:cxnSpLocks/>
            </p:cNvCxnSpPr>
            <p:nvPr/>
          </p:nvCxnSpPr>
          <p:spPr>
            <a:xfrm>
              <a:off x="2558782" y="2345852"/>
              <a:ext cx="2602559" cy="11812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avec flèche 15">
              <a:extLst>
                <a:ext uri="{FF2B5EF4-FFF2-40B4-BE49-F238E27FC236}">
                  <a16:creationId xmlns:a16="http://schemas.microsoft.com/office/drawing/2014/main" id="{0A486A32-73F4-4418-A35F-AA3520AB54B7}"/>
                </a:ext>
              </a:extLst>
            </p:cNvPr>
            <p:cNvCxnSpPr>
              <a:cxnSpLocks/>
            </p:cNvCxnSpPr>
            <p:nvPr/>
          </p:nvCxnSpPr>
          <p:spPr>
            <a:xfrm>
              <a:off x="2558781" y="2358580"/>
              <a:ext cx="2602560" cy="2921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avec flèche 16">
              <a:extLst>
                <a:ext uri="{FF2B5EF4-FFF2-40B4-BE49-F238E27FC236}">
                  <a16:creationId xmlns:a16="http://schemas.microsoft.com/office/drawing/2014/main" id="{78B6218B-C526-47D2-B1CB-124914E450BC}"/>
                </a:ext>
              </a:extLst>
            </p:cNvPr>
            <p:cNvCxnSpPr>
              <a:cxnSpLocks/>
            </p:cNvCxnSpPr>
            <p:nvPr/>
          </p:nvCxnSpPr>
          <p:spPr>
            <a:xfrm>
              <a:off x="2558782" y="2342067"/>
              <a:ext cx="2602559" cy="31677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FABEF06D-D11F-49C0-A024-17FD0CF02781}"/>
              </a:ext>
            </a:extLst>
          </p:cNvPr>
          <p:cNvGrpSpPr/>
          <p:nvPr/>
        </p:nvGrpSpPr>
        <p:grpSpPr>
          <a:xfrm>
            <a:off x="2558779" y="2476478"/>
            <a:ext cx="3234982" cy="2886975"/>
            <a:chOff x="2558779" y="2591227"/>
            <a:chExt cx="3234982" cy="2886975"/>
          </a:xfrm>
        </p:grpSpPr>
        <p:cxnSp>
          <p:nvCxnSpPr>
            <p:cNvPr id="19" name="Connecteur droit avec flèche 18">
              <a:extLst>
                <a:ext uri="{FF2B5EF4-FFF2-40B4-BE49-F238E27FC236}">
                  <a16:creationId xmlns:a16="http://schemas.microsoft.com/office/drawing/2014/main" id="{BBD7F80A-BF7B-41FC-9E2F-C0438FD49F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8780" y="2591227"/>
              <a:ext cx="3142773" cy="5745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" name="Connecteur droit avec flèche 19">
              <a:extLst>
                <a:ext uri="{FF2B5EF4-FFF2-40B4-BE49-F238E27FC236}">
                  <a16:creationId xmlns:a16="http://schemas.microsoft.com/office/drawing/2014/main" id="{95C414A6-C563-482A-9DC9-36E2BEA08C33}"/>
                </a:ext>
              </a:extLst>
            </p:cNvPr>
            <p:cNvCxnSpPr>
              <a:cxnSpLocks/>
            </p:cNvCxnSpPr>
            <p:nvPr/>
          </p:nvCxnSpPr>
          <p:spPr>
            <a:xfrm>
              <a:off x="2558780" y="3165822"/>
              <a:ext cx="3142773" cy="2453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" name="Connecteur droit avec flèche 20">
              <a:extLst>
                <a:ext uri="{FF2B5EF4-FFF2-40B4-BE49-F238E27FC236}">
                  <a16:creationId xmlns:a16="http://schemas.microsoft.com/office/drawing/2014/main" id="{220DF0DB-AD77-4CE1-AA12-581555E6C8FF}"/>
                </a:ext>
              </a:extLst>
            </p:cNvPr>
            <p:cNvCxnSpPr>
              <a:cxnSpLocks/>
            </p:cNvCxnSpPr>
            <p:nvPr/>
          </p:nvCxnSpPr>
          <p:spPr>
            <a:xfrm>
              <a:off x="2558779" y="3165822"/>
              <a:ext cx="3234982" cy="23123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C0250067-38DE-40FF-BEE3-2CCE6DA7FE4E}"/>
              </a:ext>
            </a:extLst>
          </p:cNvPr>
          <p:cNvGrpSpPr/>
          <p:nvPr/>
        </p:nvGrpSpPr>
        <p:grpSpPr>
          <a:xfrm>
            <a:off x="2781619" y="2916266"/>
            <a:ext cx="3012142" cy="2376296"/>
            <a:chOff x="2781619" y="2916266"/>
            <a:chExt cx="3012142" cy="2376296"/>
          </a:xfrm>
        </p:grpSpPr>
        <p:cxnSp>
          <p:nvCxnSpPr>
            <p:cNvPr id="23" name="Connecteur droit avec flèche 22">
              <a:extLst>
                <a:ext uri="{FF2B5EF4-FFF2-40B4-BE49-F238E27FC236}">
                  <a16:creationId xmlns:a16="http://schemas.microsoft.com/office/drawing/2014/main" id="{9FA0E367-8FB7-469D-BAE3-463BA10CCD2E}"/>
                </a:ext>
              </a:extLst>
            </p:cNvPr>
            <p:cNvCxnSpPr>
              <a:cxnSpLocks/>
            </p:cNvCxnSpPr>
            <p:nvPr/>
          </p:nvCxnSpPr>
          <p:spPr>
            <a:xfrm>
              <a:off x="2781620" y="3972380"/>
              <a:ext cx="3012141" cy="13201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4" name="Connecteur droit avec flèche 23">
              <a:extLst>
                <a:ext uri="{FF2B5EF4-FFF2-40B4-BE49-F238E27FC236}">
                  <a16:creationId xmlns:a16="http://schemas.microsoft.com/office/drawing/2014/main" id="{B0E40018-8469-4D4B-B903-CED3C5F515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81619" y="2916266"/>
              <a:ext cx="2919934" cy="10561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AE7376AD-BAF6-4F1D-A8CE-F39EBF6DA3E1}"/>
              </a:ext>
            </a:extLst>
          </p:cNvPr>
          <p:cNvGrpSpPr/>
          <p:nvPr/>
        </p:nvGrpSpPr>
        <p:grpSpPr>
          <a:xfrm>
            <a:off x="2781618" y="4458805"/>
            <a:ext cx="3128278" cy="1243789"/>
            <a:chOff x="2781618" y="4458805"/>
            <a:chExt cx="3128278" cy="1243789"/>
          </a:xfrm>
        </p:grpSpPr>
        <p:cxnSp>
          <p:nvCxnSpPr>
            <p:cNvPr id="26" name="Connecteur droit avec flèche 25">
              <a:extLst>
                <a:ext uri="{FF2B5EF4-FFF2-40B4-BE49-F238E27FC236}">
                  <a16:creationId xmlns:a16="http://schemas.microsoft.com/office/drawing/2014/main" id="{BF3F29CA-E733-4E24-9FB4-E89E67ABB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81618" y="4458805"/>
              <a:ext cx="3128278" cy="3089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Connecteur droit avec flèche 26">
              <a:extLst>
                <a:ext uri="{FF2B5EF4-FFF2-40B4-BE49-F238E27FC236}">
                  <a16:creationId xmlns:a16="http://schemas.microsoft.com/office/drawing/2014/main" id="{633D2DE4-ACC9-4B0E-9EE7-F1B7AA9932F2}"/>
                </a:ext>
              </a:extLst>
            </p:cNvPr>
            <p:cNvCxnSpPr>
              <a:cxnSpLocks/>
            </p:cNvCxnSpPr>
            <p:nvPr/>
          </p:nvCxnSpPr>
          <p:spPr>
            <a:xfrm>
              <a:off x="2781618" y="4767756"/>
              <a:ext cx="3128278" cy="9348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7780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theme/theme1.xml><?xml version="1.0" encoding="utf-8"?>
<a:theme xmlns:a="http://schemas.openxmlformats.org/drawingml/2006/main" name="Thème Offic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528</Words>
  <Application>Microsoft Macintosh PowerPoint</Application>
  <PresentationFormat>Widescreen</PresentationFormat>
  <Paragraphs>148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Cascadia Mono SemiBold</vt:lpstr>
      <vt:lpstr>Thème Office</vt:lpstr>
      <vt:lpstr>Python for data analysis in geosciences</vt:lpstr>
      <vt:lpstr>ATTENTION !</vt:lpstr>
      <vt:lpstr>Today’s objectives</vt:lpstr>
      <vt:lpstr>Programme</vt:lpstr>
      <vt:lpstr>Back to basic: numpy arrays</vt:lpstr>
      <vt:lpstr>Back to basic: numpy arrays</vt:lpstr>
      <vt:lpstr>Share functionnality 1: indexing</vt:lpstr>
      <vt:lpstr>Share functionnality 2: many formats for reading/writing</vt:lpstr>
      <vt:lpstr>Share functionnality 3: easy plotting</vt:lpstr>
      <vt:lpstr>Some differences</vt:lpstr>
      <vt:lpstr>Useful links</vt:lpstr>
      <vt:lpstr>Any question?</vt:lpstr>
      <vt:lpstr>Quick introduction to jupyter notebooks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Robin Guillaume-Castel</dc:creator>
  <cp:lastModifiedBy>Robin Guillaume-Castel</cp:lastModifiedBy>
  <cp:revision>24</cp:revision>
  <dcterms:created xsi:type="dcterms:W3CDTF">2024-04-20T09:36:02Z</dcterms:created>
  <dcterms:modified xsi:type="dcterms:W3CDTF">2025-11-20T08:33:13Z</dcterms:modified>
</cp:coreProperties>
</file>