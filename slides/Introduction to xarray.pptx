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351" r:id="rId11"/>
    <p:sldId id="271" r:id="rId12"/>
    <p:sldId id="266" r:id="rId13"/>
    <p:sldId id="267" r:id="rId14"/>
    <p:sldId id="272" r:id="rId15"/>
    <p:sldId id="353" r:id="rId16"/>
    <p:sldId id="273" r:id="rId17"/>
    <p:sldId id="352" r:id="rId18"/>
    <p:sldId id="274" r:id="rId19"/>
    <p:sldId id="275" r:id="rId20"/>
    <p:sldId id="312" r:id="rId21"/>
    <p:sldId id="260" r:id="rId22"/>
    <p:sldId id="269" r:id="rId23"/>
    <p:sldId id="334" r:id="rId24"/>
    <p:sldId id="333" r:id="rId25"/>
    <p:sldId id="336" r:id="rId26"/>
    <p:sldId id="340" r:id="rId27"/>
    <p:sldId id="338" r:id="rId28"/>
    <p:sldId id="339" r:id="rId29"/>
    <p:sldId id="337" r:id="rId30"/>
    <p:sldId id="341" r:id="rId31"/>
    <p:sldId id="335" r:id="rId32"/>
    <p:sldId id="270" r:id="rId33"/>
    <p:sldId id="324" r:id="rId34"/>
    <p:sldId id="313" r:id="rId35"/>
    <p:sldId id="314" r:id="rId36"/>
    <p:sldId id="315" r:id="rId37"/>
    <p:sldId id="325" r:id="rId38"/>
    <p:sldId id="277" r:id="rId39"/>
    <p:sldId id="278" r:id="rId40"/>
    <p:sldId id="318" r:id="rId41"/>
    <p:sldId id="317" r:id="rId42"/>
    <p:sldId id="320" r:id="rId43"/>
    <p:sldId id="316" r:id="rId44"/>
    <p:sldId id="326" r:id="rId45"/>
    <p:sldId id="327" r:id="rId46"/>
    <p:sldId id="328" r:id="rId47"/>
    <p:sldId id="329" r:id="rId48"/>
    <p:sldId id="321" r:id="rId49"/>
    <p:sldId id="319" r:id="rId50"/>
    <p:sldId id="330" r:id="rId51"/>
    <p:sldId id="331" r:id="rId52"/>
    <p:sldId id="322" r:id="rId53"/>
    <p:sldId id="323" r:id="rId54"/>
    <p:sldId id="332" r:id="rId55"/>
    <p:sldId id="342" r:id="rId56"/>
    <p:sldId id="343" r:id="rId57"/>
    <p:sldId id="344" r:id="rId58"/>
    <p:sldId id="345" r:id="rId59"/>
    <p:sldId id="346" r:id="rId60"/>
    <p:sldId id="347" r:id="rId61"/>
    <p:sldId id="349" r:id="rId62"/>
    <p:sldId id="348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87A567A-4BF8-4143-9AE0-8B6E992D438A}">
          <p14:sldIdLst>
            <p14:sldId id="256"/>
            <p14:sldId id="257"/>
          </p14:sldIdLst>
        </p14:section>
        <p14:section name="Part I: Objects" id="{3042426F-1172-478B-8A55-8F8BFCD033EA}">
          <p14:sldIdLst>
            <p14:sldId id="258"/>
            <p14:sldId id="259"/>
            <p14:sldId id="261"/>
            <p14:sldId id="262"/>
            <p14:sldId id="263"/>
            <p14:sldId id="264"/>
            <p14:sldId id="265"/>
            <p14:sldId id="351"/>
            <p14:sldId id="271"/>
            <p14:sldId id="266"/>
            <p14:sldId id="267"/>
            <p14:sldId id="272"/>
            <p14:sldId id="353"/>
            <p14:sldId id="273"/>
            <p14:sldId id="352"/>
            <p14:sldId id="274"/>
            <p14:sldId id="275"/>
            <p14:sldId id="312"/>
            <p14:sldId id="260"/>
            <p14:sldId id="269"/>
          </p14:sldIdLst>
        </p14:section>
        <p14:section name="Part II:" id="{18E4BAA3-8B48-44B2-A16B-804F32B3336E}">
          <p14:sldIdLst>
            <p14:sldId id="334"/>
            <p14:sldId id="333"/>
            <p14:sldId id="336"/>
            <p14:sldId id="340"/>
            <p14:sldId id="338"/>
            <p14:sldId id="339"/>
            <p14:sldId id="337"/>
            <p14:sldId id="341"/>
            <p14:sldId id="335"/>
          </p14:sldIdLst>
        </p14:section>
        <p14:section name="Part III" id="{9F4002EC-F93E-4797-9D18-9A3C4FA923AD}">
          <p14:sldIdLst>
            <p14:sldId id="270"/>
            <p14:sldId id="324"/>
            <p14:sldId id="313"/>
            <p14:sldId id="314"/>
            <p14:sldId id="315"/>
            <p14:sldId id="325"/>
            <p14:sldId id="277"/>
            <p14:sldId id="278"/>
            <p14:sldId id="318"/>
            <p14:sldId id="317"/>
            <p14:sldId id="320"/>
            <p14:sldId id="316"/>
            <p14:sldId id="326"/>
            <p14:sldId id="327"/>
            <p14:sldId id="328"/>
            <p14:sldId id="329"/>
            <p14:sldId id="321"/>
            <p14:sldId id="319"/>
            <p14:sldId id="330"/>
            <p14:sldId id="331"/>
            <p14:sldId id="322"/>
            <p14:sldId id="323"/>
            <p14:sldId id="332"/>
          </p14:sldIdLst>
        </p14:section>
        <p14:section name="Part IV:" id="{72D4E703-79CB-4AE1-9E8B-9C3D01614FAB}">
          <p14:sldIdLst>
            <p14:sldId id="342"/>
            <p14:sldId id="343"/>
            <p14:sldId id="344"/>
            <p14:sldId id="345"/>
            <p14:sldId id="346"/>
            <p14:sldId id="347"/>
            <p14:sldId id="349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565"/>
    <a:srgbClr val="4AC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219E6-1252-C547-BA10-14476A7BCF14}" v="2" dt="2025-11-20T08:35:55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8" autoAdjust="0"/>
    <p:restoredTop sz="96301" autoAdjust="0"/>
  </p:normalViewPr>
  <p:slideViewPr>
    <p:cSldViewPr snapToGrid="0">
      <p:cViewPr varScale="1">
        <p:scale>
          <a:sx n="118" d="100"/>
          <a:sy n="118" d="100"/>
        </p:scale>
        <p:origin x="224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Guillaume-Castel" userId="d00fb1e9-a1ad-4e14-9c90-8ac9508e8689" providerId="ADAL" clId="{9694768D-AE80-5C96-BE9F-2F4CFE4E5900}"/>
    <pc:docChg chg="modMainMaster">
      <pc:chgData name="Robin Guillaume-Castel" userId="d00fb1e9-a1ad-4e14-9c90-8ac9508e8689" providerId="ADAL" clId="{9694768D-AE80-5C96-BE9F-2F4CFE4E5900}" dt="2025-11-20T08:35:55.697" v="1" actId="27636"/>
      <pc:docMkLst>
        <pc:docMk/>
      </pc:docMkLst>
      <pc:sldMasterChg chg="modSldLayout">
        <pc:chgData name="Robin Guillaume-Castel" userId="d00fb1e9-a1ad-4e14-9c90-8ac9508e8689" providerId="ADAL" clId="{9694768D-AE80-5C96-BE9F-2F4CFE4E5900}" dt="2025-11-20T08:35:55.697" v="1" actId="27636"/>
        <pc:sldMasterMkLst>
          <pc:docMk/>
          <pc:sldMasterMk cId="1765427073" sldId="2147483648"/>
        </pc:sldMasterMkLst>
        <pc:sldLayoutChg chg="addSp modSp">
          <pc:chgData name="Robin Guillaume-Castel" userId="d00fb1e9-a1ad-4e14-9c90-8ac9508e8689" providerId="ADAL" clId="{9694768D-AE80-5C96-BE9F-2F4CFE4E5900}" dt="2025-11-20T08:35:55.697" v="1" actId="27636"/>
          <pc:sldLayoutMkLst>
            <pc:docMk/>
            <pc:sldMasterMk cId="1765427073" sldId="2147483648"/>
            <pc:sldLayoutMk cId="155734712" sldId="2147483649"/>
          </pc:sldLayoutMkLst>
          <pc:picChg chg="add mod">
            <ac:chgData name="Robin Guillaume-Castel" userId="d00fb1e9-a1ad-4e14-9c90-8ac9508e8689" providerId="ADAL" clId="{9694768D-AE80-5C96-BE9F-2F4CFE4E5900}" dt="2025-11-20T08:35:55.697" v="1" actId="27636"/>
            <ac:picMkLst>
              <pc:docMk/>
              <pc:sldMasterMk cId="1765427073" sldId="2147483648"/>
              <pc:sldLayoutMk cId="155734712" sldId="2147483649"/>
              <ac:picMk id="8" creationId="{521DBA13-B7CF-A882-A72C-46032DE1511E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C86C1-B24B-41D3-BB9D-3E904495D85B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2BAA7-6BA6-41AC-8BA9-85AA7795B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1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CF6682-B7A5-484B-BA4F-A3B821A58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885" y="1122363"/>
            <a:ext cx="7608815" cy="2387600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4ACFDD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22A88F-EBD5-4450-A303-A74445F46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885" y="3602038"/>
            <a:ext cx="7608815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786370-5239-4653-9781-F3347789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DA206D-7CED-497F-B66A-5128724B7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1BA628-4203-440E-944F-4483FC91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6B84FC-0BAF-4844-8636-C8CE0488CC05}"/>
              </a:ext>
            </a:extLst>
          </p:cNvPr>
          <p:cNvSpPr/>
          <p:nvPr userDrawn="1"/>
        </p:nvSpPr>
        <p:spPr>
          <a:xfrm>
            <a:off x="0" y="0"/>
            <a:ext cx="4038600" cy="6203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21DBA13-B7CF-A882-A72C-46032DE151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688" y="6408248"/>
            <a:ext cx="895254" cy="31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3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6AD083-91B4-4CC9-A334-F2CE314A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F4565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EC88CD-D080-4CA6-9603-7BB3849DE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850"/>
            <a:ext cx="10515600" cy="48431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487B9D-197A-4B42-8CEF-708FF60F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70DB6F-6611-4F7A-8BBB-E39CD0B5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E12619-A6D2-4C5C-8A4A-04C49434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9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B63C30-95A1-475F-8851-B2BDA0A2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chemeClr val="accent5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A9E993-7B3F-4F3E-BB6D-7615198E3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FA7D45-A8BE-4F9C-AAD2-7814A034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B393E4-7A7B-404C-8AD2-648FB56B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0B0C31-DCB8-4D08-9ACB-1D73A334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8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F11C9-FC93-47F5-8548-3623C3E6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E51998-6528-45E5-A2C5-731E1E740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C3A12B-51E6-41B6-B366-5F6E3A202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CDC879-1B84-4791-A7C2-BA9B2B0C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C91D37-74D2-4E54-AF80-EF9D0BDF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E242BC-623D-4978-B9D4-B4E5BE21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1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D0BF0-F364-49A3-991C-34CB12D3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2A9F6A-2C46-45FA-8DCD-BFE5A2CF9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F31FFD-54CE-4FF4-990F-E55B99355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2C91CA3-CE2B-4A2E-8C9E-A021D9473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EE74AC-95E1-4B1C-95C5-E1FBD0C0D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CDFE34-6A37-4C77-B878-D06E9052F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7502617-735C-4416-BA43-5C0CA167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1AB7EEA-AEB5-4B48-B013-255FF8C7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0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462139-7195-4E88-B757-3B07947C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E330A6-0507-4851-A841-56AFFF76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5C88B3-E392-4EB5-B31B-64946BE1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6D0493-DE4C-49CC-8C1F-2281202A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6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F06192-BB26-4894-A26E-D82A5A1F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3EA3B2B-92C2-4A75-A94A-E6EF0A068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F1785C-C313-4288-8C63-74F4C603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4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CB81DB-40BB-437B-B982-473ECD95E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6799C2-7609-48AA-999E-0641626DE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4F20D2-F834-40D6-ADD5-396EAD97D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473E4B-6B21-49CE-8648-48B8C4B6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974C1C-E394-4E03-A171-7B93044A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8E121B-9358-4612-80B8-4DC372E6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5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B6FAB3-9F2B-4C66-B195-0E0DFA40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4C07A02-AB38-4F6C-93E8-5A3F972C3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21A9B3-E7F3-4AFA-ADF2-C17D53D47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C98E8E-71B1-488B-875D-8253B535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3FB54E-BCE4-4ACA-A514-0DBF8E44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948766-94C6-4F60-87BB-8C04519E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9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B7537-47D0-45CA-B4E8-2855C3C7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26030B-74AA-47A0-A3F4-73A30ABB0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BFB816-727A-42D9-A59F-D9D6028C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33E112-9BA1-4451-94A1-2F58634B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54784-29CD-45D4-BD61-CF02C9FE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90DAFD-66EA-46E4-BA67-774A0EFA1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E474AA-D733-42F9-AE29-F31B42F87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E3C5A2-EA21-4431-B71E-406C412B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A12F79-DCE2-4C69-BB69-4535B04B1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9C2E81-C536-43A8-8EFD-024E00D5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8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5B93A2-1C1B-4B85-9E76-1D846A343E2C}"/>
              </a:ext>
            </a:extLst>
          </p:cNvPr>
          <p:cNvSpPr/>
          <p:nvPr userDrawn="1"/>
        </p:nvSpPr>
        <p:spPr>
          <a:xfrm>
            <a:off x="0" y="6196806"/>
            <a:ext cx="12192000" cy="45719"/>
          </a:xfrm>
          <a:prstGeom prst="rect">
            <a:avLst/>
          </a:prstGeom>
          <a:gradFill flip="none" rotWithShape="1">
            <a:gsLst>
              <a:gs pos="0">
                <a:srgbClr val="366D9B">
                  <a:tint val="66000"/>
                  <a:satMod val="160000"/>
                </a:srgbClr>
              </a:gs>
              <a:gs pos="50000">
                <a:srgbClr val="366D9B">
                  <a:tint val="44500"/>
                  <a:satMod val="160000"/>
                </a:srgbClr>
              </a:gs>
              <a:gs pos="100000">
                <a:srgbClr val="366D9B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1ACA714D-FB2E-4664-A02C-B24C3ED6E50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3915" y="6281418"/>
            <a:ext cx="536452" cy="5296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8D7CB7-87F1-471A-B25A-C46A3C1094D8}"/>
              </a:ext>
            </a:extLst>
          </p:cNvPr>
          <p:cNvSpPr/>
          <p:nvPr userDrawn="1"/>
        </p:nvSpPr>
        <p:spPr>
          <a:xfrm>
            <a:off x="0" y="0"/>
            <a:ext cx="12192000" cy="6196806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3356DD7-74EA-4E39-AB1E-B36F1E80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1ACA0E-6B33-4203-BA7A-05452CA56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B4BF38-BCA5-43BC-9682-246AF3237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0FBCD1-240E-4547-A495-9E640CCFF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0DA093-E4A1-4F02-896A-838653565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9978D-9615-424F-9A3D-E3659B09C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2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C77E39-8BDD-478F-A454-6ADBFE30C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Introduction to </a:t>
            </a:r>
            <a:r>
              <a:rPr lang="fr-FR" dirty="0" err="1"/>
              <a:t>xarray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6A38AD-0880-402D-9076-787FA6E8C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i="1" dirty="0" err="1"/>
              <a:t>Managing</a:t>
            </a:r>
            <a:r>
              <a:rPr lang="fr-FR" i="1" dirty="0"/>
              <a:t> and </a:t>
            </a:r>
            <a:r>
              <a:rPr lang="fr-FR" i="1" dirty="0" err="1"/>
              <a:t>analyzing</a:t>
            </a:r>
            <a:r>
              <a:rPr lang="fr-FR" i="1" dirty="0"/>
              <a:t> </a:t>
            </a:r>
            <a:r>
              <a:rPr lang="fr-FR" i="1" dirty="0" err="1"/>
              <a:t>multidimensional</a:t>
            </a:r>
            <a:r>
              <a:rPr lang="fr-FR" i="1" dirty="0"/>
              <a:t> </a:t>
            </a:r>
            <a:r>
              <a:rPr lang="fr-FR" i="1" dirty="0" err="1"/>
              <a:t>datasets</a:t>
            </a:r>
            <a:endParaRPr lang="fr-FR" i="1" dirty="0"/>
          </a:p>
          <a:p>
            <a:endParaRPr lang="fr-FR" i="1" dirty="0"/>
          </a:p>
          <a:p>
            <a:endParaRPr lang="fr-FR" i="1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9F71B7-DF82-4515-ADA2-E2DC0943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CD05F1-2428-4B63-8CC5-04E8FFC1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107ED4-97F7-44D9-8E53-F2B69E0E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</a:t>
            </a:fld>
            <a:endParaRPr lang="en-US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89F2631-D2D3-41CE-A22C-00CFB9409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198" y="2149494"/>
            <a:ext cx="3507163" cy="175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90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9713B-FFA2-4DAF-9A30-F5530BCF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Programme: four blocks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C36FB-0807-42A7-BF94-BAB4211C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88DFC0-1DA1-4570-A8BD-021480B3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49014E-76C9-4AC3-AEB5-CB616DED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9807267-901B-43DB-BD4F-D82810133D1E}"/>
              </a:ext>
            </a:extLst>
          </p:cNvPr>
          <p:cNvSpPr/>
          <p:nvPr/>
        </p:nvSpPr>
        <p:spPr>
          <a:xfrm>
            <a:off x="662355" y="2351457"/>
            <a:ext cx="2584938" cy="1380392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Introduction to </a:t>
            </a:r>
            <a:r>
              <a:rPr lang="fr-FR" dirty="0" err="1"/>
              <a:t>DataArrays</a:t>
            </a:r>
            <a:r>
              <a:rPr lang="fr-FR" dirty="0"/>
              <a:t> and </a:t>
            </a:r>
            <a:r>
              <a:rPr lang="fr-FR" dirty="0" err="1"/>
              <a:t>Datasets</a:t>
            </a:r>
            <a:r>
              <a:rPr lang="fr-FR" dirty="0"/>
              <a:t>, </a:t>
            </a:r>
            <a:r>
              <a:rPr lang="fr-FR" dirty="0" err="1"/>
              <a:t>reading</a:t>
            </a:r>
            <a:r>
              <a:rPr lang="fr-FR" dirty="0"/>
              <a:t>/</a:t>
            </a:r>
            <a:r>
              <a:rPr lang="fr-FR" dirty="0" err="1"/>
              <a:t>writing</a:t>
            </a:r>
            <a:endParaRPr lang="en-US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E709675-C109-434F-9715-C9DB16E81339}"/>
              </a:ext>
            </a:extLst>
          </p:cNvPr>
          <p:cNvSpPr/>
          <p:nvPr/>
        </p:nvSpPr>
        <p:spPr>
          <a:xfrm>
            <a:off x="3364524" y="2351457"/>
            <a:ext cx="2584938" cy="13803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/>
              <a:t>capacities</a:t>
            </a:r>
            <a:endParaRPr lang="en-US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6F649FA-F1F0-4DEE-853C-B6AF53E465D0}"/>
              </a:ext>
            </a:extLst>
          </p:cNvPr>
          <p:cNvSpPr/>
          <p:nvPr/>
        </p:nvSpPr>
        <p:spPr>
          <a:xfrm>
            <a:off x="6066693" y="2351457"/>
            <a:ext cx="2584938" cy="138039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First analyses</a:t>
            </a:r>
            <a:endParaRPr lang="en-US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8C42E70-C3A8-44AE-AB3F-9EA520670D71}"/>
              </a:ext>
            </a:extLst>
          </p:cNvPr>
          <p:cNvSpPr/>
          <p:nvPr/>
        </p:nvSpPr>
        <p:spPr>
          <a:xfrm>
            <a:off x="8768862" y="2351457"/>
            <a:ext cx="2584938" cy="138039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</a:rPr>
              <a:t>Scaling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analysis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br>
              <a:rPr lang="fr-FR" b="1" dirty="0">
                <a:solidFill>
                  <a:schemeClr val="tx1"/>
                </a:solidFill>
              </a:rPr>
            </a:br>
            <a:r>
              <a:rPr lang="fr-FR" b="1" dirty="0" err="1">
                <a:solidFill>
                  <a:schemeClr val="tx1"/>
                </a:solidFill>
              </a:rPr>
              <a:t>with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dask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B253F1C-8942-436B-BB15-87952D4F5BF7}"/>
              </a:ext>
            </a:extLst>
          </p:cNvPr>
          <p:cNvGrpSpPr/>
          <p:nvPr/>
        </p:nvGrpSpPr>
        <p:grpSpPr>
          <a:xfrm>
            <a:off x="3581400" y="4766494"/>
            <a:ext cx="1127464" cy="1114387"/>
            <a:chOff x="7776839" y="2778711"/>
            <a:chExt cx="1127464" cy="1114387"/>
          </a:xfrm>
          <a:solidFill>
            <a:schemeClr val="bg1"/>
          </a:solidFill>
        </p:grpSpPr>
        <p:sp>
          <p:nvSpPr>
            <p:cNvPr id="12" name="Triangle isocèle 11">
              <a:extLst>
                <a:ext uri="{FF2B5EF4-FFF2-40B4-BE49-F238E27FC236}">
                  <a16:creationId xmlns:a16="http://schemas.microsoft.com/office/drawing/2014/main" id="{C6E6446A-0ED3-47B7-8AD3-77D2FE78FA06}"/>
                </a:ext>
              </a:extLst>
            </p:cNvPr>
            <p:cNvSpPr/>
            <p:nvPr/>
          </p:nvSpPr>
          <p:spPr>
            <a:xfrm>
              <a:off x="7776839" y="2778711"/>
              <a:ext cx="1127464" cy="958788"/>
            </a:xfrm>
            <a:prstGeom prst="triangle">
              <a:avLst/>
            </a:prstGeom>
            <a:grp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Espace réservé du contenu 2">
              <a:extLst>
                <a:ext uri="{FF2B5EF4-FFF2-40B4-BE49-F238E27FC236}">
                  <a16:creationId xmlns:a16="http://schemas.microsoft.com/office/drawing/2014/main" id="{3017C377-1E4E-4DE4-BB69-EF2D623A102F}"/>
                </a:ext>
              </a:extLst>
            </p:cNvPr>
            <p:cNvSpPr txBox="1">
              <a:spLocks/>
            </p:cNvSpPr>
            <p:nvPr/>
          </p:nvSpPr>
          <p:spPr>
            <a:xfrm>
              <a:off x="8141241" y="2778711"/>
              <a:ext cx="427238" cy="1114387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fr-FR" sz="6600" dirty="0"/>
                <a:t>!</a:t>
              </a:r>
              <a:endParaRPr lang="fr-FR" sz="8000" dirty="0"/>
            </a:p>
          </p:txBody>
        </p:sp>
      </p:grp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1E3DEBF-668E-48FB-8B56-5A62485A7ECC}"/>
              </a:ext>
            </a:extLst>
          </p:cNvPr>
          <p:cNvSpPr/>
          <p:nvPr/>
        </p:nvSpPr>
        <p:spPr>
          <a:xfrm>
            <a:off x="4814740" y="4981722"/>
            <a:ext cx="3305722" cy="579120"/>
          </a:xfrm>
          <a:prstGeom prst="roundRect">
            <a:avLst/>
          </a:prstGeom>
          <a:solidFill>
            <a:srgbClr val="F7F7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84D1AF-CCE5-4E6C-9B15-22BC92870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274" y="5069200"/>
            <a:ext cx="3136654" cy="40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9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I: </a:t>
            </a:r>
            <a:r>
              <a:rPr lang="fr-FR" dirty="0" err="1"/>
              <a:t>xarray</a:t>
            </a:r>
            <a:r>
              <a:rPr lang="fr-FR" dirty="0"/>
              <a:t> </a:t>
            </a:r>
            <a:r>
              <a:rPr lang="fr-FR" dirty="0" err="1"/>
              <a:t>objects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DataArrays</a:t>
            </a:r>
            <a:r>
              <a:rPr lang="fr-FR" dirty="0"/>
              <a:t> and </a:t>
            </a:r>
            <a:r>
              <a:rPr lang="fr-FR" dirty="0" err="1"/>
              <a:t>Datasets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1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pandas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31D157-F484-4B5E-BDBF-57F09E711DBF}"/>
              </a:ext>
            </a:extLst>
          </p:cNvPr>
          <p:cNvSpPr/>
          <p:nvPr/>
        </p:nvSpPr>
        <p:spPr>
          <a:xfrm>
            <a:off x="838200" y="1825625"/>
            <a:ext cx="10515600" cy="4137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2501CE6-E318-4928-8C9C-1E62E77B1A7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218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solidFill>
                  <a:schemeClr val="bg1"/>
                </a:solidFill>
              </a:rPr>
              <a:t>Multivariable </a:t>
            </a:r>
            <a:r>
              <a:rPr lang="fr-FR" dirty="0" err="1">
                <a:solidFill>
                  <a:schemeClr val="bg1"/>
                </a:solidFill>
              </a:rPr>
              <a:t>objects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dirty="0" err="1">
                <a:solidFill>
                  <a:schemeClr val="bg1"/>
                </a:solidFill>
              </a:rPr>
              <a:t>aligned</a:t>
            </a:r>
            <a:r>
              <a:rPr lang="fr-FR" dirty="0">
                <a:solidFill>
                  <a:schemeClr val="bg1"/>
                </a:solidFill>
              </a:rPr>
              <a:t> on </a:t>
            </a:r>
            <a:r>
              <a:rPr lang="fr-FR" dirty="0" err="1">
                <a:solidFill>
                  <a:schemeClr val="bg1"/>
                </a:solidFill>
              </a:rPr>
              <a:t>similar</a:t>
            </a:r>
            <a:r>
              <a:rPr lang="fr-FR" dirty="0">
                <a:solidFill>
                  <a:schemeClr val="bg1"/>
                </a:solidFill>
              </a:rPr>
              <a:t> axes/indices</a:t>
            </a:r>
          </a:p>
          <a:p>
            <a:pPr algn="ctr"/>
            <a:r>
              <a:rPr lang="fr-FR" sz="3600" b="1" dirty="0" err="1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pd.DataFrame</a:t>
            </a:r>
            <a:endParaRPr lang="fr-FR" sz="3600" b="1" dirty="0">
              <a:solidFill>
                <a:schemeClr val="bg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ctr"/>
            <a:r>
              <a:rPr lang="fr-FR" sz="3600" b="1" dirty="0" err="1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xr.Dataset</a:t>
            </a:r>
            <a:endParaRPr lang="fr-FR" sz="3600" b="1" dirty="0">
              <a:solidFill>
                <a:schemeClr val="bg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3AF432-A48C-40D6-A9CF-6D9D39852CE2}"/>
              </a:ext>
            </a:extLst>
          </p:cNvPr>
          <p:cNvSpPr/>
          <p:nvPr/>
        </p:nvSpPr>
        <p:spPr>
          <a:xfrm>
            <a:off x="1219200" y="3810000"/>
            <a:ext cx="2905125" cy="18097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Single variable </a:t>
            </a:r>
            <a:r>
              <a:rPr lang="fr-FR" dirty="0" err="1">
                <a:solidFill>
                  <a:schemeClr val="tx1"/>
                </a:solidFill>
              </a:rPr>
              <a:t>object</a:t>
            </a:r>
            <a:r>
              <a:rPr lang="fr-FR" dirty="0">
                <a:solidFill>
                  <a:schemeClr val="tx1"/>
                </a:solidFill>
              </a:rPr>
              <a:t>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sz="2800" b="1" dirty="0" err="1">
                <a:solidFill>
                  <a:schemeClr val="tx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pd.Series</a:t>
            </a:r>
            <a:endParaRPr lang="fr-FR" sz="2800" b="1" dirty="0">
              <a:solidFill>
                <a:schemeClr val="tx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xr.DataArray</a:t>
            </a:r>
            <a:endParaRPr lang="fr-FR" sz="1600" b="1" dirty="0">
              <a:solidFill>
                <a:schemeClr val="tx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58FE96-0E14-45FD-8190-567B6EA87BC1}"/>
              </a:ext>
            </a:extLst>
          </p:cNvPr>
          <p:cNvSpPr/>
          <p:nvPr/>
        </p:nvSpPr>
        <p:spPr>
          <a:xfrm>
            <a:off x="4686300" y="3810000"/>
            <a:ext cx="2905125" cy="18097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Single variable </a:t>
            </a:r>
            <a:r>
              <a:rPr lang="fr-FR" dirty="0" err="1">
                <a:solidFill>
                  <a:schemeClr val="tx1"/>
                </a:solidFill>
              </a:rPr>
              <a:t>object</a:t>
            </a:r>
            <a:r>
              <a:rPr lang="fr-FR" dirty="0">
                <a:solidFill>
                  <a:schemeClr val="tx1"/>
                </a:solidFill>
              </a:rPr>
              <a:t>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sz="2800" b="1" dirty="0" err="1">
                <a:solidFill>
                  <a:schemeClr val="tx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pd.Series</a:t>
            </a:r>
            <a:endParaRPr lang="fr-FR" sz="2800" b="1" dirty="0">
              <a:solidFill>
                <a:schemeClr val="tx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xr.DataArray</a:t>
            </a:r>
            <a:endParaRPr lang="fr-FR" sz="1600" b="1" dirty="0">
              <a:solidFill>
                <a:schemeClr val="tx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CD9593-0275-4BC7-A3A5-B45E0131C3FC}"/>
              </a:ext>
            </a:extLst>
          </p:cNvPr>
          <p:cNvSpPr/>
          <p:nvPr/>
        </p:nvSpPr>
        <p:spPr>
          <a:xfrm>
            <a:off x="8153400" y="3810000"/>
            <a:ext cx="2905125" cy="18097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Single variable </a:t>
            </a:r>
            <a:r>
              <a:rPr lang="fr-FR" dirty="0" err="1">
                <a:solidFill>
                  <a:schemeClr val="tx1"/>
                </a:solidFill>
              </a:rPr>
              <a:t>object</a:t>
            </a:r>
            <a:r>
              <a:rPr lang="fr-FR" dirty="0">
                <a:solidFill>
                  <a:schemeClr val="tx1"/>
                </a:solidFill>
              </a:rPr>
              <a:t> 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sz="2800" b="1" dirty="0" err="1">
                <a:solidFill>
                  <a:schemeClr val="tx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pd.Series</a:t>
            </a:r>
            <a:endParaRPr lang="fr-FR" sz="2800" b="1" dirty="0">
              <a:solidFill>
                <a:schemeClr val="tx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xr.DataArray</a:t>
            </a:r>
            <a:endParaRPr lang="fr-FR" sz="1600" b="1" dirty="0">
              <a:solidFill>
                <a:schemeClr val="tx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11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xr.DataArray</a:t>
            </a:r>
            <a:r>
              <a:rPr lang="fr-FR" dirty="0"/>
              <a:t>: </a:t>
            </a:r>
            <a:r>
              <a:rPr lang="fr-FR" sz="2400" dirty="0" err="1"/>
              <a:t>presentation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</a:t>
            </a:fld>
            <a:endParaRPr lang="en-US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265EB925-C014-46AC-9CC4-311FD5B8F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056" y="1470230"/>
            <a:ext cx="10515600" cy="955019"/>
          </a:xfrm>
        </p:spPr>
        <p:txBody>
          <a:bodyPr>
            <a:normAutofit/>
          </a:bodyPr>
          <a:lstStyle/>
          <a:p>
            <a:r>
              <a:rPr lang="fr-FR" dirty="0" err="1"/>
              <a:t>Array</a:t>
            </a:r>
            <a:r>
              <a:rPr lang="fr-FR" dirty="0"/>
              <a:t> of values </a:t>
            </a:r>
            <a:r>
              <a:rPr lang="fr-FR" dirty="0" err="1"/>
              <a:t>representing</a:t>
            </a:r>
            <a:r>
              <a:rPr lang="fr-FR" dirty="0"/>
              <a:t> a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unique</a:t>
            </a:r>
            <a:r>
              <a:rPr lang="fr-FR" dirty="0"/>
              <a:t> variable: </a:t>
            </a:r>
          </a:p>
          <a:p>
            <a:pPr lvl="1"/>
            <a:r>
              <a:rPr lang="fr-FR" dirty="0"/>
              <a:t>« </a:t>
            </a:r>
            <a:r>
              <a:rPr lang="fr-FR" dirty="0" err="1"/>
              <a:t>Wrapping</a:t>
            </a:r>
            <a:r>
              <a:rPr lang="fr-FR" dirty="0"/>
              <a:t> » </a:t>
            </a:r>
            <a:r>
              <a:rPr lang="fr-FR" dirty="0" err="1"/>
              <a:t>around</a:t>
            </a:r>
            <a:r>
              <a:rPr lang="fr-FR" dirty="0"/>
              <a:t> a </a:t>
            </a:r>
            <a:r>
              <a:rPr lang="fr-FR" dirty="0" err="1"/>
              <a:t>numpy</a:t>
            </a:r>
            <a:r>
              <a:rPr lang="fr-FR" dirty="0"/>
              <a:t> </a:t>
            </a:r>
            <a:r>
              <a:rPr lang="fr-FR" dirty="0" err="1"/>
              <a:t>array</a:t>
            </a:r>
            <a:endParaRPr lang="fr-FR" dirty="0"/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705A82DD-D4E0-4D0B-ADB9-A4EF28F8E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983" y="3728017"/>
            <a:ext cx="1438275" cy="1438275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B9E10A4-6F91-4017-9321-680BAC4CF685}"/>
              </a:ext>
            </a:extLst>
          </p:cNvPr>
          <p:cNvSpPr txBox="1"/>
          <p:nvPr/>
        </p:nvSpPr>
        <p:spPr>
          <a:xfrm>
            <a:off x="3289206" y="5191086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Dimension 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CF0CB97-7308-468A-A461-ED4921D0E7BD}"/>
              </a:ext>
            </a:extLst>
          </p:cNvPr>
          <p:cNvSpPr txBox="1"/>
          <p:nvPr/>
        </p:nvSpPr>
        <p:spPr>
          <a:xfrm rot="16200000">
            <a:off x="2314758" y="4280377"/>
            <a:ext cx="1579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Dimension 2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BE08865-E42F-4E13-B9F1-254B65EC2726}"/>
              </a:ext>
            </a:extLst>
          </p:cNvPr>
          <p:cNvSpPr txBox="1"/>
          <p:nvPr/>
        </p:nvSpPr>
        <p:spPr>
          <a:xfrm rot="17887944">
            <a:off x="4111053" y="4081903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Dimension 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39D2561-BD9B-49F6-BCF1-0DFE5AD28259}"/>
              </a:ext>
            </a:extLst>
          </p:cNvPr>
          <p:cNvSpPr txBox="1"/>
          <p:nvPr/>
        </p:nvSpPr>
        <p:spPr>
          <a:xfrm>
            <a:off x="1021475" y="3170353"/>
            <a:ext cx="421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Data: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numpy</a:t>
            </a:r>
            <a:r>
              <a:rPr lang="fr-FR" dirty="0"/>
              <a:t> </a:t>
            </a:r>
            <a:r>
              <a:rPr lang="fr-FR" dirty="0" err="1"/>
              <a:t>array</a:t>
            </a:r>
            <a:r>
              <a:rPr lang="fr-FR" dirty="0"/>
              <a:t> 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E6D62E96-0DD0-4CBD-85C6-AFB1A37BAB84}"/>
              </a:ext>
            </a:extLst>
          </p:cNvPr>
          <p:cNvCxnSpPr/>
          <p:nvPr/>
        </p:nvCxnSpPr>
        <p:spPr>
          <a:xfrm>
            <a:off x="2919873" y="3530954"/>
            <a:ext cx="623141" cy="24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 23">
            <a:extLst>
              <a:ext uri="{FF2B5EF4-FFF2-40B4-BE49-F238E27FC236}">
                <a16:creationId xmlns:a16="http://schemas.microsoft.com/office/drawing/2014/main" id="{43050B83-A9EF-4359-97E5-1D920FE32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763" y="5453715"/>
            <a:ext cx="933333" cy="314286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1CFCD4A7-DE00-451F-BF8A-5D148A9CF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763" y="3289443"/>
            <a:ext cx="1238095" cy="32381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2D909302-3A6C-4E2E-AB94-78F4AC3BD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764" y="4387704"/>
            <a:ext cx="1238095" cy="314286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9DFA1196-16AA-4021-AD38-6DCF8B6201AB}"/>
              </a:ext>
            </a:extLst>
          </p:cNvPr>
          <p:cNvSpPr txBox="1"/>
          <p:nvPr/>
        </p:nvSpPr>
        <p:spPr>
          <a:xfrm>
            <a:off x="6414738" y="2795793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Coordinate</a:t>
            </a:r>
            <a:r>
              <a:rPr lang="fr-FR" dirty="0"/>
              <a:t> 1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189E915-6266-4242-9818-41950FC79029}"/>
              </a:ext>
            </a:extLst>
          </p:cNvPr>
          <p:cNvSpPr txBox="1"/>
          <p:nvPr/>
        </p:nvSpPr>
        <p:spPr>
          <a:xfrm>
            <a:off x="6414738" y="3792208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Coordinate</a:t>
            </a:r>
            <a:r>
              <a:rPr lang="fr-FR" dirty="0"/>
              <a:t> 2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6BC2A2E-1380-4AF8-B6C8-D69DE1878234}"/>
              </a:ext>
            </a:extLst>
          </p:cNvPr>
          <p:cNvSpPr txBox="1"/>
          <p:nvPr/>
        </p:nvSpPr>
        <p:spPr>
          <a:xfrm>
            <a:off x="6414738" y="4877083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Coordinate</a:t>
            </a:r>
            <a:r>
              <a:rPr lang="fr-FR" dirty="0"/>
              <a:t> 3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E918430-A580-4D99-9DEE-CEF6CAD50D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52" y="3717492"/>
            <a:ext cx="1238095" cy="1450338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5806F67D-B73E-4723-9C2C-2B50A07BAB40}"/>
              </a:ext>
            </a:extLst>
          </p:cNvPr>
          <p:cNvSpPr txBox="1"/>
          <p:nvPr/>
        </p:nvSpPr>
        <p:spPr>
          <a:xfrm>
            <a:off x="9032952" y="2795793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Attributes</a:t>
            </a:r>
            <a:r>
              <a:rPr lang="fr-FR" dirty="0"/>
              <a:t>: </a:t>
            </a:r>
            <a:r>
              <a:rPr lang="fr-FR" dirty="0" err="1"/>
              <a:t>additional</a:t>
            </a:r>
            <a:r>
              <a:rPr lang="fr-FR" dirty="0"/>
              <a:t> </a:t>
            </a:r>
            <a:r>
              <a:rPr lang="fr-FR" dirty="0" err="1"/>
              <a:t>metadata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144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7" grpId="0"/>
      <p:bldP spid="30" grpId="0"/>
      <p:bldP spid="31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EEEDCF20-8BFD-4789-9C59-8B4D7093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412"/>
            <a:ext cx="10515600" cy="1111006"/>
          </a:xfrm>
        </p:spPr>
        <p:txBody>
          <a:bodyPr/>
          <a:lstStyle/>
          <a:p>
            <a:r>
              <a:rPr lang="fr-FR" dirty="0"/>
              <a:t>Exemple of a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/>
          <a:lstStyle/>
          <a:p>
            <a:r>
              <a:rPr lang="fr-FR" dirty="0" err="1"/>
              <a:t>xr.DataArray</a:t>
            </a:r>
            <a:r>
              <a:rPr lang="fr-FR" dirty="0"/>
              <a:t>: </a:t>
            </a:r>
            <a:r>
              <a:rPr lang="fr-FR" sz="2400" dirty="0" err="1"/>
              <a:t>presentation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6</a:t>
            </a:fld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7CB0ACD-362F-4B06-BAFC-2690851C6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87767"/>
            <a:ext cx="7656512" cy="376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4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xr.DataArray</a:t>
            </a:r>
            <a:r>
              <a:rPr lang="fr-FR" dirty="0"/>
              <a:t>: </a:t>
            </a:r>
            <a:r>
              <a:rPr lang="fr-FR" sz="2400" dirty="0" err="1"/>
              <a:t>creating</a:t>
            </a:r>
            <a:r>
              <a:rPr lang="fr-FR" sz="2400" dirty="0"/>
              <a:t> an </a:t>
            </a:r>
            <a:r>
              <a:rPr lang="fr-FR" sz="2400" dirty="0" err="1"/>
              <a:t>object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7</a:t>
            </a:fld>
            <a:endParaRPr lang="en-US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0928B9B6-2CE7-413F-B901-56180F326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96" y="1601549"/>
            <a:ext cx="10789204" cy="4351338"/>
          </a:xfrm>
        </p:spPr>
        <p:txBody>
          <a:bodyPr/>
          <a:lstStyle/>
          <a:p>
            <a:r>
              <a:rPr lang="fr-FR" dirty="0"/>
              <a:t>Source: an n-</a:t>
            </a:r>
            <a:r>
              <a:rPr lang="fr-FR" dirty="0" err="1"/>
              <a:t>dimensional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numpy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array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dirty="0"/>
              <a:t>+ n </a:t>
            </a:r>
            <a:r>
              <a:rPr lang="fr-FR" dirty="0" err="1"/>
              <a:t>lists</a:t>
            </a:r>
            <a:r>
              <a:rPr lang="fr-FR" dirty="0"/>
              <a:t> of </a:t>
            </a:r>
            <a:r>
              <a:rPr lang="fr-FR" b="1" dirty="0" err="1"/>
              <a:t>coordinates</a:t>
            </a:r>
            <a:endParaRPr lang="fr-FR" b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Use </a:t>
            </a:r>
            <a:r>
              <a:rPr lang="fr-FR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xr.DataArray</a:t>
            </a:r>
            <a:r>
              <a:rPr lang="fr-FR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8E452CC-F303-4B43-BEAE-E2AECC054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62" y="2139950"/>
            <a:ext cx="2962275" cy="10096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909F62A-D74A-4374-9BDA-5648B14DD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32" y="4443598"/>
            <a:ext cx="6029325" cy="1438275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93252AC4-C7B7-4839-B957-DD020418E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37" y="3708401"/>
            <a:ext cx="3556581" cy="213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3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xr.DataArray</a:t>
            </a:r>
            <a:r>
              <a:rPr lang="fr-FR" dirty="0"/>
              <a:t>: </a:t>
            </a:r>
            <a:r>
              <a:rPr lang="fr-FR" sz="2400" dirty="0" err="1"/>
              <a:t>adding</a:t>
            </a:r>
            <a:r>
              <a:rPr lang="fr-FR" sz="2400" dirty="0"/>
              <a:t> </a:t>
            </a:r>
            <a:r>
              <a:rPr lang="fr-FR" sz="2400" dirty="0" err="1"/>
              <a:t>attributes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8</a:t>
            </a:fld>
            <a:endParaRPr lang="en-US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09186BA1-5F02-4E51-92C4-65EDF3E8E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549"/>
            <a:ext cx="10515600" cy="4351338"/>
          </a:xfrm>
        </p:spPr>
        <p:txBody>
          <a:bodyPr/>
          <a:lstStyle/>
          <a:p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DataArray.attrs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dictionnary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modified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0E16A84E-1592-4ADF-B797-CDDB3BF71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37" y="2253099"/>
            <a:ext cx="5800725" cy="59055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999E2CB1-9AE1-4799-9A84-F854D99E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199300"/>
            <a:ext cx="3854449" cy="267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5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xr.DataArray</a:t>
            </a:r>
            <a:r>
              <a:rPr lang="fr-FR" dirty="0"/>
              <a:t>: </a:t>
            </a:r>
            <a:r>
              <a:rPr lang="fr-FR" sz="2400" dirty="0" err="1"/>
              <a:t>accessing</a:t>
            </a:r>
            <a:r>
              <a:rPr lang="fr-FR" sz="2400" dirty="0"/>
              <a:t> the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9</a:t>
            </a:fld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8E817CA7-1F4C-47AC-B9E3-8E81F4BFA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549"/>
            <a:ext cx="10515600" cy="42785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3600" b="1" dirty="0" err="1">
                <a:solidFill>
                  <a:srgbClr val="FF0000"/>
                </a:solidFill>
              </a:rPr>
              <a:t>Xarray</a:t>
            </a:r>
            <a:r>
              <a:rPr lang="fr-FR" sz="3600" b="1" dirty="0">
                <a:solidFill>
                  <a:srgbClr val="FF0000"/>
                </a:solidFill>
              </a:rPr>
              <a:t> basics ! </a:t>
            </a:r>
          </a:p>
          <a:p>
            <a:pPr marL="457200" lvl="1" indent="0" algn="ctr">
              <a:buNone/>
            </a:pPr>
            <a:r>
              <a:rPr lang="fr-FR" sz="3200" b="1" dirty="0">
                <a:solidFill>
                  <a:srgbClr val="FF0000"/>
                </a:solidFill>
              </a:rPr>
              <a:t>Access data </a:t>
            </a:r>
            <a:r>
              <a:rPr lang="fr-FR" sz="3200" b="1" dirty="0" err="1">
                <a:solidFill>
                  <a:srgbClr val="FF0000"/>
                </a:solidFill>
              </a:rPr>
              <a:t>using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err="1">
                <a:solidFill>
                  <a:srgbClr val="FF0000"/>
                </a:solidFill>
              </a:rPr>
              <a:t>coordinates</a:t>
            </a:r>
            <a:endParaRPr lang="fr-FR" sz="3200" dirty="0"/>
          </a:p>
          <a:p>
            <a:pPr marL="0" indent="0" algn="ctr">
              <a:buNone/>
            </a:pPr>
            <a:endParaRPr lang="fr-FR" sz="36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FF66511-E073-4DE0-B09D-E5876DF66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058" y="3037114"/>
            <a:ext cx="3703884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2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xr.DataArray</a:t>
            </a:r>
            <a:r>
              <a:rPr lang="fr-FR" dirty="0"/>
              <a:t>: </a:t>
            </a:r>
            <a:r>
              <a:rPr lang="fr-FR" sz="2400" dirty="0" err="1"/>
              <a:t>accessing</a:t>
            </a:r>
            <a:r>
              <a:rPr lang="fr-FR" sz="2400" dirty="0"/>
              <a:t> the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10</a:t>
            </a:fld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8E817CA7-1F4C-47AC-B9E3-8E81F4BFA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348"/>
            <a:ext cx="10515600" cy="42785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works</a:t>
            </a:r>
            <a:r>
              <a:rPr lang="fr-FR" dirty="0"/>
              <a:t> for a </a:t>
            </a:r>
            <a:r>
              <a:rPr lang="fr-FR" dirty="0" err="1"/>
              <a:t>list</a:t>
            </a:r>
            <a:r>
              <a:rPr lang="fr-FR" dirty="0"/>
              <a:t> of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multiple</a:t>
            </a:r>
            <a:r>
              <a:rPr lang="fr-FR" dirty="0"/>
              <a:t> </a:t>
            </a:r>
            <a:r>
              <a:rPr lang="fr-FR" dirty="0" err="1"/>
              <a:t>coordinates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Select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position</a:t>
            </a:r>
            <a:r>
              <a:rPr lang="fr-FR" dirty="0"/>
              <a:t> (like in </a:t>
            </a:r>
            <a:r>
              <a:rPr lang="fr-FR" dirty="0" err="1"/>
              <a:t>numpy</a:t>
            </a:r>
            <a:r>
              <a:rPr lang="fr-FR" dirty="0"/>
              <a:t>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Access the </a:t>
            </a:r>
            <a:r>
              <a:rPr lang="fr-FR" dirty="0" err="1"/>
              <a:t>numpy</a:t>
            </a:r>
            <a:r>
              <a:rPr lang="fr-FR" dirty="0"/>
              <a:t> </a:t>
            </a:r>
            <a:r>
              <a:rPr lang="fr-FR" b="1" dirty="0" err="1"/>
              <a:t>array</a:t>
            </a:r>
            <a:endParaRPr lang="fr-FR" b="1" dirty="0"/>
          </a:p>
          <a:p>
            <a:pPr marL="0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b="1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C33EECE-6CA6-4AA8-97E4-3A542FCE4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299" y="2367598"/>
            <a:ext cx="5527131" cy="38153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EF83408-37C1-4E6D-8AA3-F06564DC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719586"/>
            <a:ext cx="4352858" cy="38928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C904EC8-4AF8-4F3C-BE95-39F72CD9A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5280032"/>
            <a:ext cx="2335674" cy="38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0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xr.Dataset</a:t>
            </a:r>
            <a:r>
              <a:rPr lang="fr-FR" dirty="0"/>
              <a:t>: </a:t>
            </a:r>
            <a:r>
              <a:rPr lang="fr-FR" sz="2400" dirty="0" err="1"/>
              <a:t>presentation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11</a:t>
            </a:fld>
            <a:endParaRPr lang="en-US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1299566-4538-4E25-8474-060FAFAE9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046" y="2183431"/>
            <a:ext cx="6910156" cy="3482830"/>
          </a:xfrm>
          <a:prstGeom prst="rect">
            <a:avLst/>
          </a:prstGeom>
        </p:spPr>
      </p:pic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FBA01CB6-019C-470F-8FAF-FE5D557D90A2}"/>
              </a:ext>
            </a:extLst>
          </p:cNvPr>
          <p:cNvSpPr txBox="1">
            <a:spLocks/>
          </p:cNvSpPr>
          <p:nvPr/>
        </p:nvSpPr>
        <p:spPr>
          <a:xfrm>
            <a:off x="776056" y="1470230"/>
            <a:ext cx="10515600" cy="1002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Multiple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shared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dimensions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7FE8FDC6-4069-4566-8580-845118378BA1}"/>
              </a:ext>
            </a:extLst>
          </p:cNvPr>
          <p:cNvSpPr txBox="1">
            <a:spLocks/>
          </p:cNvSpPr>
          <p:nvPr/>
        </p:nvSpPr>
        <p:spPr>
          <a:xfrm>
            <a:off x="5721102" y="5790912"/>
            <a:ext cx="4451598" cy="395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>
                <a:solidFill>
                  <a:schemeClr val="accent2"/>
                </a:solidFill>
              </a:rPr>
              <a:t>Dimensions of </a:t>
            </a:r>
            <a:r>
              <a:rPr lang="fr-FR" sz="2200" b="1" dirty="0" err="1">
                <a:solidFill>
                  <a:schemeClr val="accent2"/>
                </a:solidFill>
              </a:rPr>
              <a:t>each</a:t>
            </a:r>
            <a:r>
              <a:rPr lang="fr-FR" sz="2200" b="1" dirty="0">
                <a:solidFill>
                  <a:schemeClr val="accent2"/>
                </a:solidFill>
              </a:rPr>
              <a:t> </a:t>
            </a:r>
            <a:r>
              <a:rPr lang="fr-FR" sz="2200" b="1" dirty="0" err="1">
                <a:solidFill>
                  <a:schemeClr val="accent2"/>
                </a:solidFill>
              </a:rPr>
              <a:t>DataArray</a:t>
            </a:r>
            <a:endParaRPr lang="fr-FR" sz="2200" b="1" dirty="0">
              <a:solidFill>
                <a:schemeClr val="accent2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B74BB415-0AC3-46D2-A03B-7BB5263B5D14}"/>
              </a:ext>
            </a:extLst>
          </p:cNvPr>
          <p:cNvSpPr txBox="1">
            <a:spLocks/>
          </p:cNvSpPr>
          <p:nvPr/>
        </p:nvSpPr>
        <p:spPr>
          <a:xfrm>
            <a:off x="1166340" y="4609651"/>
            <a:ext cx="2320290" cy="395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 err="1">
                <a:solidFill>
                  <a:schemeClr val="accent1"/>
                </a:solidFill>
              </a:rPr>
              <a:t>xr.DataArray</a:t>
            </a:r>
            <a:endParaRPr lang="fr-FR" sz="2200" b="1" dirty="0">
              <a:solidFill>
                <a:schemeClr val="accent1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C66663E-AAF6-4884-8354-F31ACBD1B16E}"/>
              </a:ext>
            </a:extLst>
          </p:cNvPr>
          <p:cNvCxnSpPr>
            <a:cxnSpLocks/>
          </p:cNvCxnSpPr>
          <p:nvPr/>
        </p:nvCxnSpPr>
        <p:spPr>
          <a:xfrm>
            <a:off x="2887083" y="5009117"/>
            <a:ext cx="1377963" cy="174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0625868-927D-426C-AA6F-7792BDABC543}"/>
              </a:ext>
            </a:extLst>
          </p:cNvPr>
          <p:cNvCxnSpPr>
            <a:cxnSpLocks/>
          </p:cNvCxnSpPr>
          <p:nvPr/>
        </p:nvCxnSpPr>
        <p:spPr>
          <a:xfrm flipV="1">
            <a:off x="2887082" y="4807533"/>
            <a:ext cx="1377964" cy="94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B0D355D7-7723-4AF6-AA36-C20D214D5BB5}"/>
              </a:ext>
            </a:extLst>
          </p:cNvPr>
          <p:cNvCxnSpPr>
            <a:cxnSpLocks/>
          </p:cNvCxnSpPr>
          <p:nvPr/>
        </p:nvCxnSpPr>
        <p:spPr>
          <a:xfrm flipV="1">
            <a:off x="2891524" y="4544335"/>
            <a:ext cx="1373522" cy="263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28AC9FEE-9EC5-41C1-9DD5-064AC1EFCCCD}"/>
              </a:ext>
            </a:extLst>
          </p:cNvPr>
          <p:cNvCxnSpPr>
            <a:cxnSpLocks/>
          </p:cNvCxnSpPr>
          <p:nvPr/>
        </p:nvCxnSpPr>
        <p:spPr>
          <a:xfrm flipH="1" flipV="1">
            <a:off x="7112001" y="5184037"/>
            <a:ext cx="533399" cy="60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CBBE107D-6017-4A39-93E4-9057FA1D2713}"/>
              </a:ext>
            </a:extLst>
          </p:cNvPr>
          <p:cNvSpPr txBox="1">
            <a:spLocks/>
          </p:cNvSpPr>
          <p:nvPr/>
        </p:nvSpPr>
        <p:spPr>
          <a:xfrm>
            <a:off x="2033657" y="5768295"/>
            <a:ext cx="2320290" cy="3957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200" b="1" dirty="0">
                <a:solidFill>
                  <a:srgbClr val="366D9B"/>
                </a:solidFill>
              </a:rPr>
              <a:t>Global </a:t>
            </a:r>
            <a:r>
              <a:rPr lang="fr-FR" sz="2200" b="1" dirty="0" err="1">
                <a:solidFill>
                  <a:srgbClr val="366D9B"/>
                </a:solidFill>
              </a:rPr>
              <a:t>attributes</a:t>
            </a:r>
            <a:endParaRPr lang="fr-FR" sz="2200" b="1" dirty="0">
              <a:solidFill>
                <a:srgbClr val="366D9B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dirty="0"/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036A6DE-31AE-423C-8C5B-EFDD2B97B717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3193802" y="5486139"/>
            <a:ext cx="1071244" cy="282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15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xr.Dataset</a:t>
            </a:r>
            <a:r>
              <a:rPr lang="fr-FR" dirty="0"/>
              <a:t>: </a:t>
            </a:r>
            <a:r>
              <a:rPr lang="fr-FR" sz="2400" dirty="0" err="1"/>
              <a:t>creating</a:t>
            </a:r>
            <a:r>
              <a:rPr lang="fr-FR" sz="2400" dirty="0"/>
              <a:t> an </a:t>
            </a:r>
            <a:r>
              <a:rPr lang="fr-FR" sz="2400" dirty="0" err="1"/>
              <a:t>object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12</a:t>
            </a:fld>
            <a:endParaRPr lang="en-US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FBF9F815-02D3-48B7-9F42-0DE1E9B15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140" y="1561068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fr-FR" dirty="0"/>
              <a:t>Sources:  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An ensemble of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DataArrays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None/>
            </a:pPr>
            <a:endParaRPr lang="fr-FR" dirty="0"/>
          </a:p>
          <a:p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xr.Dataset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B89133B-A1CD-4981-8E88-965DC5627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95" y="3990649"/>
            <a:ext cx="6154009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1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xr.Dataset</a:t>
            </a:r>
            <a:r>
              <a:rPr lang="fr-FR" dirty="0"/>
              <a:t>: </a:t>
            </a:r>
            <a:r>
              <a:rPr lang="fr-FR" sz="2400" dirty="0" err="1"/>
              <a:t>access</a:t>
            </a:r>
            <a:r>
              <a:rPr lang="fr-FR" sz="2400" dirty="0"/>
              <a:t> the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13</a:t>
            </a:fld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3BE9ED58-1576-4246-8F5B-7CD16BDC8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129" y="1816140"/>
            <a:ext cx="8454016" cy="4359196"/>
          </a:xfrm>
        </p:spPr>
        <p:txBody>
          <a:bodyPr/>
          <a:lstStyle/>
          <a:p>
            <a:r>
              <a:rPr lang="fr-FR" b="1" dirty="0"/>
              <a:t>Access one </a:t>
            </a:r>
            <a:r>
              <a:rPr lang="fr-FR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endParaRPr lang="fr-FR" b="1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fr-FR" b="1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access</a:t>
            </a:r>
            <a:r>
              <a:rPr lang="fr-FR" dirty="0"/>
              <a:t> are </a:t>
            </a:r>
            <a:r>
              <a:rPr lang="fr-FR" b="1" dirty="0" err="1"/>
              <a:t>similar</a:t>
            </a:r>
            <a:r>
              <a:rPr lang="fr-FR" dirty="0"/>
              <a:t> to a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r>
              <a:rPr lang="fr-FR" dirty="0"/>
              <a:t>:</a:t>
            </a:r>
          </a:p>
          <a:p>
            <a:pPr lvl="1"/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dataset.sel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(latitude=…)</a:t>
            </a:r>
          </a:p>
          <a:p>
            <a:pPr lvl="1"/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dataset.isel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(longitude=[..])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918C93B-4A08-488C-9444-F818E22D4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006" y="2860674"/>
            <a:ext cx="3653987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7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DAFD0689-EC4E-437C-8DCC-0C57DE2F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xr.Dataset</a:t>
            </a:r>
            <a:r>
              <a:rPr lang="fr-FR" dirty="0"/>
              <a:t>: </a:t>
            </a:r>
            <a:r>
              <a:rPr lang="fr-FR" sz="2400" dirty="0"/>
              <a:t>append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A9D4F-2127-4B41-B8C5-0A0118F7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08115C-7D55-4B6F-9C14-244EA1A4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EE7E1-AF43-4932-BE64-3C402A4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14</a:t>
            </a:fld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B0AED062-1C6A-4C5A-8158-5A103720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41054" cy="4598987"/>
          </a:xfrm>
        </p:spPr>
        <p:txBody>
          <a:bodyPr>
            <a:normAutofit/>
          </a:bodyPr>
          <a:lstStyle/>
          <a:p>
            <a:r>
              <a:rPr lang="fr-FR" b="1" dirty="0" err="1"/>
              <a:t>Add</a:t>
            </a:r>
            <a:r>
              <a:rPr lang="fr-FR" b="1" dirty="0"/>
              <a:t> a </a:t>
            </a:r>
            <a:r>
              <a:rPr lang="fr-FR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r>
              <a:rPr lang="fr-FR" b="1" dirty="0"/>
              <a:t> as a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new variable</a:t>
            </a:r>
          </a:p>
          <a:p>
            <a:pPr lvl="1"/>
            <a:r>
              <a:rPr lang="fr-FR" dirty="0" err="1"/>
              <a:t>Add</a:t>
            </a:r>
            <a:r>
              <a:rPr lang="fr-FR" dirty="0"/>
              <a:t> a variable as 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wanted</a:t>
            </a:r>
            <a:r>
              <a:rPr lang="fr-FR" dirty="0"/>
              <a:t> to </a:t>
            </a:r>
            <a:r>
              <a:rPr lang="fr-FR" dirty="0" err="1"/>
              <a:t>access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: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sz="1200" dirty="0"/>
          </a:p>
          <a:p>
            <a:r>
              <a:rPr lang="fr-FR" dirty="0"/>
              <a:t>This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b="1" dirty="0"/>
              <a:t>replace</a:t>
            </a:r>
            <a:r>
              <a:rPr lang="fr-FR" dirty="0"/>
              <a:t> the values of a </a:t>
            </a:r>
            <a:r>
              <a:rPr lang="fr-FR" dirty="0" err="1"/>
              <a:t>given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EF49B73-F1AF-4E32-B535-E66D1C443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31" y="3252787"/>
            <a:ext cx="5562582" cy="48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7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F6D862-080C-4224-B954-D708194E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Operations on </a:t>
            </a:r>
            <a:r>
              <a:rPr lang="fr-FR" dirty="0" err="1"/>
              <a:t>coordinates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99F27-AFCB-4E69-879F-F3C2D57C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66565-DA5D-4EF4-B38B-9471CABD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86F45-E6BD-4337-A8D6-EBCFC0E8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15</a:t>
            </a:fld>
            <a:endParaRPr lang="en-US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EBDD06A7-BB2A-4655-BCE8-487068A6F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8" y="1347525"/>
            <a:ext cx="11289508" cy="3334940"/>
          </a:xfrm>
        </p:spPr>
        <p:txBody>
          <a:bodyPr>
            <a:normAutofit/>
          </a:bodyPr>
          <a:lstStyle/>
          <a:p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Simple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operations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between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DataArrays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based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on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coordinates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</a:p>
          <a:p>
            <a:pPr marL="0" indent="0">
              <a:buNone/>
            </a:pP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		   DataArray1**2 + DataArray2/12</a:t>
            </a:r>
          </a:p>
          <a:p>
            <a:pPr marL="0" indent="0">
              <a:buNone/>
            </a:pPr>
            <a:endParaRPr lang="fr-FR" dirty="0"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None/>
            </a:pPr>
            <a:endParaRPr lang="fr-FR" dirty="0"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fr-FR" dirty="0" err="1">
                <a:ea typeface="Cascadia Code SemiBold" panose="020B0609020000020004" pitchFamily="49" charset="0"/>
                <a:cs typeface="Cascadia Code SemiBold" panose="020B0609020000020004" pitchFamily="49" charset="0"/>
              </a:rPr>
              <a:t>Create</a:t>
            </a:r>
            <a:r>
              <a:rPr lang="fr-FR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b="1" dirty="0">
                <a:solidFill>
                  <a:schemeClr val="accent3">
                    <a:lumMod val="75000"/>
                  </a:schemeClr>
                </a:solidFill>
                <a:ea typeface="Cascadia Code SemiBold" panose="020B0609020000020004" pitchFamily="49" charset="0"/>
                <a:cs typeface="Cascadia Code SemiBold" panose="020B0609020000020004" pitchFamily="49" charset="0"/>
              </a:rPr>
              <a:t>new variables </a:t>
            </a:r>
            <a:r>
              <a:rPr lang="fr-FR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in a </a:t>
            </a:r>
            <a:r>
              <a:rPr lang="fr-FR" dirty="0" err="1"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</a:t>
            </a:r>
            <a:r>
              <a:rPr lang="fr-FR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>
                <a:ea typeface="Cascadia Code SemiBold" panose="020B0609020000020004" pitchFamily="49" charset="0"/>
                <a:cs typeface="Cascadia Code SemiBold" panose="020B0609020000020004" pitchFamily="49" charset="0"/>
              </a:rPr>
              <a:t>from</a:t>
            </a:r>
            <a:r>
              <a:rPr lang="fr-FR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b="1" dirty="0" err="1">
                <a:ea typeface="Cascadia Code SemiBold" panose="020B0609020000020004" pitchFamily="49" charset="0"/>
                <a:cs typeface="Cascadia Code SemiBold" panose="020B0609020000020004" pitchFamily="49" charset="0"/>
              </a:rPr>
              <a:t>existing</a:t>
            </a:r>
            <a:r>
              <a:rPr lang="fr-FR" b="1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 variables</a:t>
            </a:r>
            <a:r>
              <a:rPr lang="fr-FR" dirty="0">
                <a:ea typeface="Cascadia Code SemiBold" panose="020B0609020000020004" pitchFamily="49" charset="0"/>
                <a:cs typeface="Cascadia Code SemiBold" panose="020B0609020000020004" pitchFamily="49" charset="0"/>
              </a:rPr>
              <a:t>:</a:t>
            </a:r>
            <a:endParaRPr lang="fr-FR" b="1" dirty="0">
              <a:solidFill>
                <a:schemeClr val="accent2">
                  <a:lumMod val="75000"/>
                </a:schemeClr>
              </a:solidFill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None/>
            </a:pP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77706D-E548-425E-BE39-352034774238}"/>
              </a:ext>
            </a:extLst>
          </p:cNvPr>
          <p:cNvSpPr/>
          <p:nvPr/>
        </p:nvSpPr>
        <p:spPr>
          <a:xfrm>
            <a:off x="1182377" y="4826910"/>
            <a:ext cx="101279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</a:t>
            </a:r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[‘</a:t>
            </a:r>
            <a:r>
              <a:rPr lang="fr-FR" sz="24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new_variable</a:t>
            </a:r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’] = </a:t>
            </a:r>
            <a:r>
              <a:rPr lang="fr-FR" sz="24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</a:t>
            </a:r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[‘old_v1’]**2 + </a:t>
            </a:r>
            <a:r>
              <a:rPr lang="fr-FR" sz="24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</a:t>
            </a:r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[‘old_v2’]/12</a:t>
            </a:r>
          </a:p>
        </p:txBody>
      </p:sp>
    </p:spTree>
    <p:extLst>
      <p:ext uri="{BB962C8B-B14F-4D97-AF65-F5344CB8AC3E}">
        <p14:creationId xmlns:p14="http://schemas.microsoft.com/office/powerpoint/2010/main" val="100555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8F13B-5765-44DC-B6FD-8BD2F0E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Combine </a:t>
            </a:r>
            <a:r>
              <a:rPr lang="fr-FR" dirty="0" err="1"/>
              <a:t>dataarrays</a:t>
            </a:r>
            <a:r>
              <a:rPr lang="fr-FR" dirty="0"/>
              <a:t> or </a:t>
            </a:r>
            <a:r>
              <a:rPr lang="fr-FR" dirty="0" err="1"/>
              <a:t>datasets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CFE2F-AD8A-4043-AC55-AE0335B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F4DDE-563B-422B-9B95-ED6CF155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C64A0-A6F0-4BDA-928D-F578827B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16</a:t>
            </a:fld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94BDF59D-7A0C-4F7A-80F7-703B13C3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316" y="1957132"/>
            <a:ext cx="10515600" cy="2943735"/>
          </a:xfrm>
        </p:spPr>
        <p:txBody>
          <a:bodyPr>
            <a:normAutofit/>
          </a:bodyPr>
          <a:lstStyle/>
          <a:p>
            <a:r>
              <a:rPr lang="fr-FR" dirty="0" err="1"/>
              <a:t>Concatenate</a:t>
            </a:r>
            <a:r>
              <a:rPr lang="fr-FR" dirty="0"/>
              <a:t> </a:t>
            </a:r>
            <a:r>
              <a:rPr lang="fr-FR" dirty="0" err="1"/>
              <a:t>along</a:t>
            </a:r>
            <a:r>
              <a:rPr lang="fr-FR" dirty="0"/>
              <a:t> </a:t>
            </a:r>
            <a:r>
              <a:rPr lang="fr-FR" b="1" dirty="0" err="1"/>
              <a:t>existing</a:t>
            </a:r>
            <a:r>
              <a:rPr lang="fr-FR" b="1" dirty="0"/>
              <a:t> dimensions</a:t>
            </a:r>
          </a:p>
          <a:p>
            <a:pPr lvl="1"/>
            <a:r>
              <a:rPr lang="fr-FR" dirty="0"/>
              <a:t>Example: </a:t>
            </a:r>
            <a:r>
              <a:rPr lang="fr-FR" dirty="0" err="1"/>
              <a:t>different</a:t>
            </a:r>
            <a:r>
              <a:rPr lang="fr-FR" dirty="0"/>
              <a:t> times but </a:t>
            </a:r>
            <a:r>
              <a:rPr lang="fr-FR" dirty="0" err="1"/>
              <a:t>similar</a:t>
            </a:r>
            <a:r>
              <a:rPr lang="fr-FR" dirty="0"/>
              <a:t> </a:t>
            </a:r>
            <a:r>
              <a:rPr lang="fr-FR" dirty="0" err="1"/>
              <a:t>geographical</a:t>
            </a:r>
            <a:r>
              <a:rPr lang="fr-FR" dirty="0"/>
              <a:t> </a:t>
            </a:r>
            <a:r>
              <a:rPr lang="fr-FR" dirty="0" err="1"/>
              <a:t>grids</a:t>
            </a:r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r>
              <a:rPr lang="fr-FR" dirty="0" err="1"/>
              <a:t>Concatenate</a:t>
            </a:r>
            <a:r>
              <a:rPr lang="fr-FR" dirty="0"/>
              <a:t> </a:t>
            </a:r>
            <a:r>
              <a:rPr lang="fr-FR" dirty="0" err="1"/>
              <a:t>along</a:t>
            </a:r>
            <a:r>
              <a:rPr lang="fr-FR" dirty="0"/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new dimensions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8ED95B2-03F7-4BD8-94E4-4CA6C979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543" y="2902937"/>
            <a:ext cx="5598581" cy="36512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9EFC461-27C5-4524-80B9-B1563D7F3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308" y="4304480"/>
            <a:ext cx="6375616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5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8F13B-5765-44DC-B6FD-8BD2F0E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Combine </a:t>
            </a:r>
            <a:r>
              <a:rPr lang="fr-FR" dirty="0" err="1"/>
              <a:t>dataarrays</a:t>
            </a:r>
            <a:r>
              <a:rPr lang="fr-FR" dirty="0"/>
              <a:t> or </a:t>
            </a:r>
            <a:r>
              <a:rPr lang="fr-FR" dirty="0" err="1"/>
              <a:t>datasets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CFE2F-AD8A-4043-AC55-AE0335B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F4DDE-563B-422B-9B95-ED6CF155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C64A0-A6F0-4BDA-928D-F578827B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17</a:t>
            </a:fld>
            <a:endParaRPr lang="en-US"/>
          </a:p>
        </p:txBody>
      </p:sp>
      <p:sp>
        <p:nvSpPr>
          <p:cNvPr id="8" name="Parallélogramme 7">
            <a:extLst>
              <a:ext uri="{FF2B5EF4-FFF2-40B4-BE49-F238E27FC236}">
                <a16:creationId xmlns:a16="http://schemas.microsoft.com/office/drawing/2014/main" id="{0E927095-425C-40A1-AA2C-B7A393E03D36}"/>
              </a:ext>
            </a:extLst>
          </p:cNvPr>
          <p:cNvSpPr/>
          <p:nvPr/>
        </p:nvSpPr>
        <p:spPr>
          <a:xfrm rot="20718159">
            <a:off x="-27093" y="3471208"/>
            <a:ext cx="2008414" cy="1404257"/>
          </a:xfrm>
          <a:prstGeom prst="parallelogram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élogramme 11">
            <a:extLst>
              <a:ext uri="{FF2B5EF4-FFF2-40B4-BE49-F238E27FC236}">
                <a16:creationId xmlns:a16="http://schemas.microsoft.com/office/drawing/2014/main" id="{1451018D-21FA-4EC3-96FC-30FDA8FBBD1C}"/>
              </a:ext>
            </a:extLst>
          </p:cNvPr>
          <p:cNvSpPr/>
          <p:nvPr/>
        </p:nvSpPr>
        <p:spPr>
          <a:xfrm rot="20718159">
            <a:off x="887311" y="3471208"/>
            <a:ext cx="2008414" cy="1404257"/>
          </a:xfrm>
          <a:prstGeom prst="parallelogram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rallélogramme 12">
            <a:extLst>
              <a:ext uri="{FF2B5EF4-FFF2-40B4-BE49-F238E27FC236}">
                <a16:creationId xmlns:a16="http://schemas.microsoft.com/office/drawing/2014/main" id="{F41C40A3-0438-4E2B-96D9-9A26B90173E0}"/>
              </a:ext>
            </a:extLst>
          </p:cNvPr>
          <p:cNvSpPr/>
          <p:nvPr/>
        </p:nvSpPr>
        <p:spPr>
          <a:xfrm rot="20718159">
            <a:off x="1801712" y="3471208"/>
            <a:ext cx="2008414" cy="1404257"/>
          </a:xfrm>
          <a:prstGeom prst="parallelogram">
            <a:avLst/>
          </a:prstGeom>
          <a:solidFill>
            <a:schemeClr val="accent3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759751E-C431-48D7-BA77-353BAA81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79" y="1877589"/>
            <a:ext cx="4776834" cy="8890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3A3E38A-2542-4EBD-851A-609434EC5FA7}"/>
              </a:ext>
            </a:extLst>
          </p:cNvPr>
          <p:cNvSpPr/>
          <p:nvPr/>
        </p:nvSpPr>
        <p:spPr>
          <a:xfrm rot="20913329">
            <a:off x="256817" y="4154384"/>
            <a:ext cx="728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ds1</a:t>
            </a: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B9AEFD-65BA-467A-BEAF-BE9491E906EC}"/>
              </a:ext>
            </a:extLst>
          </p:cNvPr>
          <p:cNvSpPr/>
          <p:nvPr/>
        </p:nvSpPr>
        <p:spPr>
          <a:xfrm rot="20913329">
            <a:off x="1258389" y="4120458"/>
            <a:ext cx="88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</a:t>
            </a:r>
            <a:r>
              <a:rPr lang="en-US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endParaRPr lang="fr-FR" sz="24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FFE324-6202-4748-9AFF-57F6AD325276}"/>
              </a:ext>
            </a:extLst>
          </p:cNvPr>
          <p:cNvSpPr/>
          <p:nvPr/>
        </p:nvSpPr>
        <p:spPr>
          <a:xfrm rot="20913329">
            <a:off x="2286335" y="4154384"/>
            <a:ext cx="728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ds3</a:t>
            </a: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4B0F48A8-1B9D-471D-AA3A-7B80AD1CC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80236"/>
            <a:ext cx="5827422" cy="88783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ADB5D24-DC78-490A-A7B2-261FB3CD9152}"/>
              </a:ext>
            </a:extLst>
          </p:cNvPr>
          <p:cNvSpPr/>
          <p:nvPr/>
        </p:nvSpPr>
        <p:spPr>
          <a:xfrm rot="20710178">
            <a:off x="2151028" y="4934804"/>
            <a:ext cx="15408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longitude</a:t>
            </a: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0B613C-13F7-413E-B496-19F22A6F4751}"/>
              </a:ext>
            </a:extLst>
          </p:cNvPr>
          <p:cNvSpPr/>
          <p:nvPr/>
        </p:nvSpPr>
        <p:spPr>
          <a:xfrm rot="16200000">
            <a:off x="3143483" y="3787431"/>
            <a:ext cx="1390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latitude</a:t>
            </a: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19EF1DC5-0B4A-46D2-A2B1-A720C424B05D}"/>
              </a:ext>
            </a:extLst>
          </p:cNvPr>
          <p:cNvSpPr/>
          <p:nvPr/>
        </p:nvSpPr>
        <p:spPr>
          <a:xfrm>
            <a:off x="4540915" y="4172959"/>
            <a:ext cx="2542325" cy="405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0D91A4-3A3F-4F96-93A3-432011C8871B}"/>
              </a:ext>
            </a:extLst>
          </p:cNvPr>
          <p:cNvSpPr/>
          <p:nvPr/>
        </p:nvSpPr>
        <p:spPr>
          <a:xfrm>
            <a:off x="4015368" y="4934803"/>
            <a:ext cx="39517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xr.concat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([ds1,ds2,ds3], </a:t>
            </a:r>
          </a:p>
          <a:p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	    </a:t>
            </a: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dim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=‘time’)</a:t>
            </a: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442D6D46-D2F4-4DD4-BEC4-3E48E74C1278}"/>
              </a:ext>
            </a:extLst>
          </p:cNvPr>
          <p:cNvSpPr/>
          <p:nvPr/>
        </p:nvSpPr>
        <p:spPr>
          <a:xfrm flipH="1">
            <a:off x="8610599" y="3484045"/>
            <a:ext cx="1924969" cy="1734489"/>
          </a:xfrm>
          <a:prstGeom prst="cube">
            <a:avLst>
              <a:gd name="adj" fmla="val 34414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BE69CC-6802-4D6D-8392-FC9937A08A95}"/>
              </a:ext>
            </a:extLst>
          </p:cNvPr>
          <p:cNvSpPr/>
          <p:nvPr/>
        </p:nvSpPr>
        <p:spPr>
          <a:xfrm>
            <a:off x="9338430" y="4306784"/>
            <a:ext cx="5469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</a:t>
            </a: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28A04C-1352-4FB1-ADE8-0C3687D19967}"/>
              </a:ext>
            </a:extLst>
          </p:cNvPr>
          <p:cNvSpPr/>
          <p:nvPr/>
        </p:nvSpPr>
        <p:spPr>
          <a:xfrm>
            <a:off x="9114972" y="5209989"/>
            <a:ext cx="15408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longitude</a:t>
            </a: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89AA11-7701-4C45-97AA-68A4368CA0E8}"/>
              </a:ext>
            </a:extLst>
          </p:cNvPr>
          <p:cNvSpPr/>
          <p:nvPr/>
        </p:nvSpPr>
        <p:spPr>
          <a:xfrm rot="16200000">
            <a:off x="10040561" y="4441026"/>
            <a:ext cx="1390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latitude</a:t>
            </a: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B6F3A0-406A-4CE7-B2C9-2E364D7E0B75}"/>
              </a:ext>
            </a:extLst>
          </p:cNvPr>
          <p:cNvSpPr/>
          <p:nvPr/>
        </p:nvSpPr>
        <p:spPr>
          <a:xfrm rot="2700000">
            <a:off x="8294539" y="4814186"/>
            <a:ext cx="7873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time</a:t>
            </a:r>
            <a:endParaRPr lang="en-US" sz="1600" b="1" dirty="0">
              <a:solidFill>
                <a:srgbClr val="FF0000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153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8F13B-5765-44DC-B6FD-8BD2F0E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Reading/</a:t>
            </a:r>
            <a:r>
              <a:rPr lang="fr-FR" dirty="0" err="1"/>
              <a:t>writing</a:t>
            </a:r>
            <a:r>
              <a:rPr lang="fr-FR" dirty="0"/>
              <a:t> files: </a:t>
            </a:r>
            <a:r>
              <a:rPr lang="fr-FR" dirty="0" err="1"/>
              <a:t>supported</a:t>
            </a:r>
            <a:r>
              <a:rPr lang="fr-FR" dirty="0"/>
              <a:t> formats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CFE2F-AD8A-4043-AC55-AE0335B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F4DDE-563B-422B-9B95-ED6CF155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C64A0-A6F0-4BDA-928D-F578827B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18</a:t>
            </a:fld>
            <a:endParaRPr lang="en-US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A522319C-9297-4752-98A9-A2BD0002DBC3}"/>
              </a:ext>
            </a:extLst>
          </p:cNvPr>
          <p:cNvSpPr txBox="1">
            <a:spLocks/>
          </p:cNvSpPr>
          <p:nvPr/>
        </p:nvSpPr>
        <p:spPr>
          <a:xfrm>
            <a:off x="990600" y="13821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Xarray</a:t>
            </a:r>
            <a:r>
              <a:rPr lang="fr-FR" dirty="0"/>
              <a:t> supports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format for </a:t>
            </a:r>
            <a:r>
              <a:rPr lang="fr-FR" dirty="0" err="1"/>
              <a:t>reading</a:t>
            </a:r>
            <a:r>
              <a:rPr lang="fr-FR" dirty="0"/>
              <a:t> and </a:t>
            </a:r>
            <a:r>
              <a:rPr lang="fr-FR" dirty="0" err="1"/>
              <a:t>writing</a:t>
            </a:r>
            <a:endParaRPr lang="fr-FR" dirty="0"/>
          </a:p>
          <a:p>
            <a:pPr lvl="1"/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netCDF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examples</a:t>
            </a:r>
            <a:endParaRPr lang="fr-FR" dirty="0"/>
          </a:p>
          <a:p>
            <a:pPr lvl="2"/>
            <a:r>
              <a:rPr lang="fr-FR" dirty="0"/>
              <a:t>GRIB</a:t>
            </a:r>
            <a:endParaRPr lang="fr-FR" i="1" dirty="0"/>
          </a:p>
          <a:p>
            <a:pPr lvl="2"/>
            <a:r>
              <a:rPr lang="fr-FR" dirty="0" err="1"/>
              <a:t>geoTIFF</a:t>
            </a:r>
            <a:endParaRPr lang="fr-FR" dirty="0"/>
          </a:p>
          <a:p>
            <a:pPr lvl="2"/>
            <a:r>
              <a:rPr lang="fr-FR" dirty="0" err="1"/>
              <a:t>zarr</a:t>
            </a:r>
            <a:endParaRPr lang="fr-FR" dirty="0"/>
          </a:p>
          <a:p>
            <a:pPr lvl="2"/>
            <a:r>
              <a:rPr lang="fr-FR" dirty="0"/>
              <a:t>…</a:t>
            </a:r>
          </a:p>
          <a:p>
            <a:r>
              <a:rPr lang="fr-FR" dirty="0" err="1"/>
              <a:t>Optimized</a:t>
            </a:r>
            <a:r>
              <a:rPr lang="fr-FR" dirty="0"/>
              <a:t> for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gridded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data</a:t>
            </a:r>
          </a:p>
          <a:p>
            <a:r>
              <a:rPr lang="fr-FR" dirty="0"/>
              <a:t>Can open </a:t>
            </a:r>
            <a:r>
              <a:rPr lang="fr-FR" dirty="0" err="1"/>
              <a:t>directly</a:t>
            </a:r>
            <a:r>
              <a:rPr lang="fr-FR" dirty="0"/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online</a:t>
            </a:r>
            <a:r>
              <a:rPr lang="fr-FR" dirty="0"/>
              <a:t> (</a:t>
            </a:r>
            <a:r>
              <a:rPr lang="fr-FR" dirty="0" err="1"/>
              <a:t>OpenDAP</a:t>
            </a:r>
            <a:r>
              <a:rPr lang="fr-FR" dirty="0"/>
              <a:t>, cloud </a:t>
            </a:r>
            <a:r>
              <a:rPr lang="fr-FR" dirty="0" err="1"/>
              <a:t>buckets</a:t>
            </a:r>
            <a:r>
              <a:rPr lang="fr-FR" dirty="0"/>
              <a:t>, …)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804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8F13B-5765-44DC-B6FD-8BD2F0E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Reading/</a:t>
            </a:r>
            <a:r>
              <a:rPr lang="fr-FR" dirty="0" err="1"/>
              <a:t>writing</a:t>
            </a:r>
            <a:r>
              <a:rPr lang="fr-FR" dirty="0"/>
              <a:t> files: </a:t>
            </a:r>
            <a:r>
              <a:rPr lang="fr-FR" dirty="0" err="1"/>
              <a:t>reading</a:t>
            </a:r>
            <a:r>
              <a:rPr lang="fr-FR" dirty="0"/>
              <a:t> a file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CFE2F-AD8A-4043-AC55-AE0335B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F4DDE-563B-422B-9B95-ED6CF155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C64A0-A6F0-4BDA-928D-F578827B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19</a:t>
            </a:fld>
            <a:endParaRPr lang="en-US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78CF95C-542B-443B-8D91-1E0D788E5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043"/>
            <a:ext cx="10515600" cy="5265953"/>
          </a:xfrm>
        </p:spPr>
        <p:txBody>
          <a:bodyPr>
            <a:normAutofit/>
          </a:bodyPr>
          <a:lstStyle/>
          <a:p>
            <a:r>
              <a:rPr lang="fr-FR" dirty="0"/>
              <a:t>To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open</a:t>
            </a:r>
            <a:r>
              <a:rPr lang="fr-FR" dirty="0"/>
              <a:t> a </a:t>
            </a:r>
            <a:r>
              <a:rPr lang="fr-FR" dirty="0" err="1"/>
              <a:t>netcdf</a:t>
            </a:r>
            <a:r>
              <a:rPr lang="fr-FR" dirty="0"/>
              <a:t> file, use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xr.open_dataset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There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open_dataarray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/>
              <a:t>if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one</a:t>
            </a:r>
            <a:r>
              <a:rPr lang="fr-FR" dirty="0"/>
              <a:t> variable</a:t>
            </a:r>
          </a:p>
          <a:p>
            <a:endParaRPr lang="fr-FR" dirty="0"/>
          </a:p>
          <a:p>
            <a:r>
              <a:rPr lang="fr-FR" b="1" dirty="0"/>
              <a:t>Reading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multiple files </a:t>
            </a:r>
            <a:r>
              <a:rPr lang="fr-FR" b="1" dirty="0" err="1"/>
              <a:t>with</a:t>
            </a:r>
            <a:r>
              <a:rPr lang="fr-FR" b="1" dirty="0"/>
              <a:t> </a:t>
            </a:r>
            <a:r>
              <a:rPr lang="fr-FR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xr.open_mfdataset</a:t>
            </a:r>
            <a:r>
              <a:rPr lang="fr-FR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</a:t>
            </a:r>
          </a:p>
          <a:p>
            <a:pPr lvl="1"/>
            <a:endParaRPr lang="fr-FR" dirty="0"/>
          </a:p>
          <a:p>
            <a:pPr lvl="1"/>
            <a:r>
              <a:rPr lang="fr-FR" dirty="0" err="1"/>
              <a:t>With</a:t>
            </a:r>
            <a:r>
              <a:rPr lang="fr-FR" dirty="0"/>
              <a:t> a pattern</a:t>
            </a:r>
          </a:p>
          <a:p>
            <a:pPr lvl="1"/>
            <a:endParaRPr lang="fr-FR" dirty="0"/>
          </a:p>
          <a:p>
            <a:pPr lvl="1"/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list</a:t>
            </a:r>
            <a:r>
              <a:rPr lang="fr-FR" dirty="0"/>
              <a:t> of </a:t>
            </a:r>
            <a:r>
              <a:rPr lang="fr-FR" dirty="0" err="1"/>
              <a:t>paths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E844170-960A-4331-A4BA-EA18959A7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1976443"/>
            <a:ext cx="7372350" cy="32385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F7D0BE1-D411-4F2D-B3EA-B5E7907E7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714" y="4698074"/>
            <a:ext cx="5144218" cy="44773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93E9CE4-F140-4A8F-B947-0754604A7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714" y="5539258"/>
            <a:ext cx="7325747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0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8F13B-5765-44DC-B6FD-8BD2F0E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Reading/</a:t>
            </a:r>
            <a:r>
              <a:rPr lang="fr-FR" dirty="0" err="1"/>
              <a:t>writing</a:t>
            </a:r>
            <a:r>
              <a:rPr lang="fr-FR" dirty="0"/>
              <a:t> files: </a:t>
            </a:r>
            <a:r>
              <a:rPr lang="fr-FR" dirty="0" err="1"/>
              <a:t>writing</a:t>
            </a:r>
            <a:r>
              <a:rPr lang="fr-FR" dirty="0"/>
              <a:t> a file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DCFE2F-AD8A-4043-AC55-AE0335BF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5F4DDE-563B-422B-9B95-ED6CF155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C64A0-A6F0-4BDA-928D-F578827B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20</a:t>
            </a:fld>
            <a:endParaRPr lang="en-US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E1F28E3D-0BD4-4AD4-91F4-1E5281229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9403"/>
            <a:ext cx="10515600" cy="2464630"/>
          </a:xfrm>
        </p:spPr>
        <p:txBody>
          <a:bodyPr>
            <a:normAutofit/>
          </a:bodyPr>
          <a:lstStyle/>
          <a:p>
            <a:r>
              <a:rPr lang="fr-FR" dirty="0"/>
              <a:t>To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save</a:t>
            </a:r>
            <a:r>
              <a:rPr lang="fr-FR" dirty="0"/>
              <a:t> a file, use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Dataset.to_format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FB176E1-4F2F-42C1-BD7C-207004413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915" y="3079749"/>
            <a:ext cx="360952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55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7562C3-E782-4BEE-87E9-2FF72717B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I: </a:t>
            </a:r>
            <a:r>
              <a:rPr lang="fr-FR" dirty="0" err="1"/>
              <a:t>Summary</a:t>
            </a:r>
            <a:r>
              <a:rPr lang="fr-FR" dirty="0"/>
              <a:t> of </a:t>
            </a:r>
            <a:r>
              <a:rPr lang="fr-FR" dirty="0" err="1"/>
              <a:t>xarray</a:t>
            </a:r>
            <a:r>
              <a:rPr lang="fr-FR" dirty="0"/>
              <a:t> </a:t>
            </a:r>
            <a:r>
              <a:rPr lang="fr-FR" dirty="0" err="1"/>
              <a:t>objects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3F8C3-7640-4E31-AA5A-26759359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54C725-F919-440F-BEEB-71D83780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28A61C-FE54-43F0-87D4-695AF58E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21</a:t>
            </a:fld>
            <a:endParaRPr lang="en-US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7B338790-7723-476C-8AA1-5E180F9F5DE7}"/>
              </a:ext>
            </a:extLst>
          </p:cNvPr>
          <p:cNvSpPr txBox="1">
            <a:spLocks/>
          </p:cNvSpPr>
          <p:nvPr/>
        </p:nvSpPr>
        <p:spPr>
          <a:xfrm>
            <a:off x="762000" y="3362851"/>
            <a:ext cx="10045700" cy="1096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2000" b="1" dirty="0" err="1">
                <a:solidFill>
                  <a:schemeClr val="bg2">
                    <a:lumMod val="7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r>
              <a:rPr lang="fr-FR" sz="2000" b="1" dirty="0">
                <a:solidFill>
                  <a:schemeClr val="bg2">
                    <a:lumMod val="75000"/>
                  </a:schemeClr>
                </a:solidFill>
              </a:rPr>
              <a:t>:</a:t>
            </a:r>
            <a:r>
              <a:rPr lang="fr-FR" sz="2000" b="1" dirty="0"/>
              <a:t> </a:t>
            </a:r>
            <a:r>
              <a:rPr lang="fr-FR" sz="2000" dirty="0"/>
              <a:t>for a unique variable (</a:t>
            </a:r>
            <a:r>
              <a:rPr lang="fr-FR" sz="2000" dirty="0" err="1"/>
              <a:t>equivalent</a:t>
            </a:r>
            <a:r>
              <a:rPr lang="fr-FR" sz="2000" dirty="0"/>
              <a:t> to </a:t>
            </a: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pd.Series</a:t>
            </a:r>
            <a:r>
              <a:rPr lang="fr-FR" sz="2000" dirty="0"/>
              <a:t>)</a:t>
            </a:r>
            <a:br>
              <a:rPr lang="fr-FR" sz="2000" b="1" dirty="0"/>
            </a:br>
            <a:r>
              <a:rPr lang="fr-FR" sz="2000" b="1" dirty="0" err="1">
                <a:solidFill>
                  <a:schemeClr val="bg2">
                    <a:lumMod val="7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</a:t>
            </a:r>
            <a:r>
              <a:rPr lang="fr-FR" sz="2000" b="1" dirty="0">
                <a:solidFill>
                  <a:schemeClr val="bg2">
                    <a:lumMod val="75000"/>
                  </a:schemeClr>
                </a:solidFill>
              </a:rPr>
              <a:t>:</a:t>
            </a:r>
            <a:r>
              <a:rPr lang="fr-FR" sz="2000" b="1" dirty="0"/>
              <a:t> </a:t>
            </a:r>
            <a:r>
              <a:rPr lang="fr-FR" sz="2000" dirty="0"/>
              <a:t>for multiple variables on the </a:t>
            </a:r>
            <a:r>
              <a:rPr lang="fr-FR" sz="2000" dirty="0" err="1"/>
              <a:t>same</a:t>
            </a:r>
            <a:r>
              <a:rPr lang="fr-FR" sz="2000" dirty="0"/>
              <a:t> « </a:t>
            </a:r>
            <a:r>
              <a:rPr lang="fr-FR" sz="2000" dirty="0" err="1"/>
              <a:t>grid</a:t>
            </a:r>
            <a:r>
              <a:rPr lang="fr-FR" sz="2000" dirty="0"/>
              <a:t> » (</a:t>
            </a:r>
            <a:r>
              <a:rPr lang="fr-FR" sz="2000" dirty="0" err="1"/>
              <a:t>equivalent</a:t>
            </a:r>
            <a:r>
              <a:rPr lang="fr-FR" sz="2000" dirty="0"/>
              <a:t> to </a:t>
            </a: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pd.DataFrame</a:t>
            </a:r>
            <a:r>
              <a:rPr lang="fr-FR" sz="2000" dirty="0"/>
              <a:t>)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FE81FE9-75E4-46F0-B872-0BC06139B733}"/>
              </a:ext>
            </a:extLst>
          </p:cNvPr>
          <p:cNvSpPr txBox="1">
            <a:spLocks/>
          </p:cNvSpPr>
          <p:nvPr/>
        </p:nvSpPr>
        <p:spPr>
          <a:xfrm>
            <a:off x="838200" y="1361603"/>
            <a:ext cx="10515600" cy="189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Wrap </a:t>
            </a:r>
            <a:r>
              <a:rPr lang="fr-FR" sz="2400" dirty="0" err="1"/>
              <a:t>numpy</a:t>
            </a:r>
            <a:r>
              <a:rPr lang="fr-FR" sz="2400" dirty="0"/>
              <a:t> </a:t>
            </a:r>
            <a:r>
              <a:rPr lang="fr-FR" sz="2400" dirty="0" err="1"/>
              <a:t>arrays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:</a:t>
            </a:r>
          </a:p>
          <a:p>
            <a:r>
              <a:rPr lang="fr-FR" sz="2400" b="1" dirty="0">
                <a:solidFill>
                  <a:schemeClr val="bg2">
                    <a:lumMod val="75000"/>
                  </a:schemeClr>
                </a:solidFill>
              </a:rPr>
              <a:t>Dimensions</a:t>
            </a:r>
            <a:r>
              <a:rPr lang="fr-FR" sz="2400" b="1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have </a:t>
            </a:r>
            <a:r>
              <a:rPr lang="fr-FR" sz="2400" dirty="0" err="1"/>
              <a:t>names</a:t>
            </a:r>
            <a:r>
              <a:rPr lang="fr-FR" sz="2400" dirty="0"/>
              <a:t> (</a:t>
            </a:r>
            <a:r>
              <a:rPr lang="fr-FR" sz="2400" dirty="0" err="1"/>
              <a:t>lon</a:t>
            </a:r>
            <a:r>
              <a:rPr lang="fr-FR" sz="2400" dirty="0"/>
              <a:t>, </a:t>
            </a:r>
            <a:r>
              <a:rPr lang="fr-FR" sz="2400" dirty="0" err="1"/>
              <a:t>lat</a:t>
            </a:r>
            <a:r>
              <a:rPr lang="fr-FR" sz="2400" dirty="0"/>
              <a:t>, time, </a:t>
            </a:r>
            <a:r>
              <a:rPr lang="fr-FR" sz="2400" dirty="0" err="1"/>
              <a:t>depth</a:t>
            </a:r>
            <a:r>
              <a:rPr lang="fr-FR" sz="2400" dirty="0"/>
              <a:t>, altitude, …)</a:t>
            </a:r>
          </a:p>
          <a:p>
            <a:r>
              <a:rPr lang="fr-FR" sz="2400" b="1" dirty="0" err="1">
                <a:solidFill>
                  <a:schemeClr val="bg2">
                    <a:lumMod val="75000"/>
                  </a:schemeClr>
                </a:solidFill>
              </a:rPr>
              <a:t>Coordinates</a:t>
            </a:r>
            <a:r>
              <a:rPr lang="fr-FR" sz="2400" b="1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have values</a:t>
            </a:r>
          </a:p>
          <a:p>
            <a:r>
              <a:rPr lang="fr-FR" sz="2400" b="1" dirty="0" err="1">
                <a:solidFill>
                  <a:schemeClr val="bg2">
                    <a:lumMod val="75000"/>
                  </a:schemeClr>
                </a:solidFill>
              </a:rPr>
              <a:t>Attributes</a:t>
            </a:r>
            <a:endParaRPr lang="en-US" sz="2400" b="1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4E9F0CB2-577F-428F-A4D7-80D8E1D5ADB1}"/>
              </a:ext>
            </a:extLst>
          </p:cNvPr>
          <p:cNvSpPr txBox="1">
            <a:spLocks/>
          </p:cNvSpPr>
          <p:nvPr/>
        </p:nvSpPr>
        <p:spPr>
          <a:xfrm>
            <a:off x="762000" y="4912243"/>
            <a:ext cx="10515600" cy="1096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Access data </a:t>
            </a:r>
            <a:r>
              <a:rPr lang="fr-FR" sz="2400" dirty="0" err="1"/>
              <a:t>using</a:t>
            </a:r>
            <a:r>
              <a:rPr lang="fr-FR" sz="2400" dirty="0"/>
              <a:t> variable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names</a:t>
            </a:r>
            <a:r>
              <a:rPr lang="fr-FR" sz="2400" dirty="0"/>
              <a:t> and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coordinates</a:t>
            </a: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sz="2400" b="1" dirty="0"/>
              <a:t>	</a:t>
            </a:r>
            <a:r>
              <a:rPr lang="fr-FR" sz="2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ds.temperature.sel</a:t>
            </a:r>
            <a:r>
              <a:rPr lang="fr-FR" sz="2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2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lon</a:t>
            </a:r>
            <a:r>
              <a:rPr lang="fr-FR" sz="2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=54, </a:t>
            </a:r>
            <a:r>
              <a:rPr lang="fr-FR" sz="2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lat</a:t>
            </a:r>
            <a:r>
              <a:rPr lang="fr-FR" sz="2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=[12,13,14])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06423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EAA23-8FAF-464A-BD24-B0D824A4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I: </a:t>
            </a:r>
            <a:r>
              <a:rPr lang="fr-FR" dirty="0" err="1"/>
              <a:t>Practicals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ECCBA89-5EAB-46BE-B4C1-11FAEEB8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Go to the jupyter notebook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E46FC8-F97D-4FC3-B5C2-97E518CE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BA270A-B6D4-4016-A15B-D199084B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9ACDE-3862-4B83-B484-7583F443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22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C8EBC2-9478-4733-90A1-8B6F9257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4" y="1560391"/>
            <a:ext cx="3679181" cy="42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39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II: </a:t>
            </a:r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/>
              <a:t>capacities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91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BBA9CF5-A1A4-4221-A9DF-4544168B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DataArrays</a:t>
            </a: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13C961E8-FECA-4FFA-8526-A8545689C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405"/>
            <a:ext cx="10515600" cy="836963"/>
          </a:xfrm>
        </p:spPr>
        <p:txBody>
          <a:bodyPr/>
          <a:lstStyle/>
          <a:p>
            <a:r>
              <a:rPr lang="fr-FR" dirty="0"/>
              <a:t>As pandas, </a:t>
            </a:r>
            <a:r>
              <a:rPr lang="fr-FR" dirty="0" err="1"/>
              <a:t>xarray</a:t>
            </a:r>
            <a:r>
              <a:rPr lang="fr-FR" dirty="0"/>
              <a:t> </a:t>
            </a:r>
            <a:r>
              <a:rPr lang="fr-FR" dirty="0" err="1"/>
              <a:t>integrates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3">
                    <a:lumMod val="75000"/>
                  </a:schemeClr>
                </a:solidFill>
              </a:rPr>
              <a:t>matplotlib</a:t>
            </a:r>
            <a:r>
              <a:rPr lang="fr-FR" b="1" dirty="0"/>
              <a:t> </a:t>
            </a:r>
            <a:r>
              <a:rPr lang="fr-FR" dirty="0"/>
              <a:t>(+ </a:t>
            </a:r>
            <a:r>
              <a:rPr lang="fr-FR" dirty="0" err="1"/>
              <a:t>other</a:t>
            </a:r>
            <a:r>
              <a:rPr lang="fr-FR" dirty="0"/>
              <a:t> backends)</a:t>
            </a:r>
            <a:endParaRPr lang="en-US" b="1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E41C16-4B4F-49E3-B748-DE136DAF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4C10EA-51D9-4846-A97C-B6F03EC76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AC6DE7-3DEF-439D-BFC9-4457C6A6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24</a:t>
            </a:fld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9C29F89-A1CF-402E-B96C-634CB4D2D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948" y="1741695"/>
            <a:ext cx="4275146" cy="3776532"/>
          </a:xfrm>
          <a:prstGeom prst="rect">
            <a:avLst/>
          </a:prstGeom>
        </p:spPr>
      </p:pic>
      <p:sp>
        <p:nvSpPr>
          <p:cNvPr id="10" name="Espace réservé du contenu 7">
            <a:extLst>
              <a:ext uri="{FF2B5EF4-FFF2-40B4-BE49-F238E27FC236}">
                <a16:creationId xmlns:a16="http://schemas.microsoft.com/office/drawing/2014/main" id="{0BE3E4FE-598F-428F-8F4B-73186FF82ED7}"/>
              </a:ext>
            </a:extLst>
          </p:cNvPr>
          <p:cNvSpPr txBox="1">
            <a:spLocks/>
          </p:cNvSpPr>
          <p:nvPr/>
        </p:nvSpPr>
        <p:spPr>
          <a:xfrm>
            <a:off x="838200" y="5633035"/>
            <a:ext cx="10515600" cy="83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Plot shows </a:t>
            </a:r>
            <a:r>
              <a:rPr lang="fr-FR" b="1" dirty="0" err="1">
                <a:solidFill>
                  <a:schemeClr val="accent3">
                    <a:lumMod val="75000"/>
                  </a:schemeClr>
                </a:solidFill>
              </a:rPr>
              <a:t>coordinates</a:t>
            </a:r>
            <a:r>
              <a:rPr lang="fr-FR" dirty="0"/>
              <a:t>, </a:t>
            </a:r>
            <a:r>
              <a:rPr lang="fr-FR" b="1" dirty="0">
                <a:solidFill>
                  <a:schemeClr val="accent3">
                    <a:lumMod val="75000"/>
                  </a:schemeClr>
                </a:solidFill>
              </a:rPr>
              <a:t>dimensions</a:t>
            </a:r>
            <a:r>
              <a:rPr lang="fr-FR" dirty="0"/>
              <a:t> and </a:t>
            </a:r>
            <a:r>
              <a:rPr lang="fr-FR" b="1" dirty="0" err="1">
                <a:solidFill>
                  <a:schemeClr val="accent3">
                    <a:lumMod val="75000"/>
                  </a:schemeClr>
                </a:solidFill>
              </a:rPr>
              <a:t>attributes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86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17891-07FD-4C22-9AD9-DDCA2137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DataArrays</a:t>
            </a:r>
            <a:r>
              <a:rPr lang="fr-FR" dirty="0"/>
              <a:t>: </a:t>
            </a:r>
            <a:r>
              <a:rPr lang="fr-FR" sz="2400" dirty="0"/>
              <a:t>default </a:t>
            </a:r>
            <a:r>
              <a:rPr lang="fr-FR" sz="2400" dirty="0" err="1"/>
              <a:t>behaviour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AC5DFA-71DB-43CF-8308-35A1AE7E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1B0F24-5BF5-4A25-881C-75CB8463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E2EA0-C566-4567-8A6A-94BCC922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25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DA66469-C017-4489-8176-A73D20EFD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2" y="1935221"/>
            <a:ext cx="3888847" cy="3697538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D8BA4EF-1B98-44EB-ABC1-27F68C33514E}"/>
              </a:ext>
            </a:extLst>
          </p:cNvPr>
          <p:cNvSpPr txBox="1">
            <a:spLocks/>
          </p:cNvSpPr>
          <p:nvPr/>
        </p:nvSpPr>
        <p:spPr>
          <a:xfrm>
            <a:off x="807635" y="1551753"/>
            <a:ext cx="3011983" cy="47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dirty="0">
                <a:solidFill>
                  <a:schemeClr val="accent3">
                    <a:lumMod val="75000"/>
                  </a:schemeClr>
                </a:solidFill>
              </a:rPr>
              <a:t>Line plot </a:t>
            </a:r>
            <a:r>
              <a:rPr lang="fr-FR" sz="2000" dirty="0"/>
              <a:t>for 1d data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F04C5F9-752A-4C28-8B31-7451945AAEF6}"/>
              </a:ext>
            </a:extLst>
          </p:cNvPr>
          <p:cNvSpPr txBox="1">
            <a:spLocks/>
          </p:cNvSpPr>
          <p:nvPr/>
        </p:nvSpPr>
        <p:spPr>
          <a:xfrm>
            <a:off x="4443019" y="1551753"/>
            <a:ext cx="3305961" cy="47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</a:rPr>
              <a:t>Quadmesh</a:t>
            </a:r>
            <a:r>
              <a:rPr lang="fr-FR" sz="2000" dirty="0"/>
              <a:t> for 2D data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ECD62B2-1291-41C4-BB6C-B165CD55E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010" y="1977163"/>
            <a:ext cx="3625980" cy="3578129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A3226CE1-EB57-4FCB-A0E4-6B9C7FB4EE1C}"/>
              </a:ext>
            </a:extLst>
          </p:cNvPr>
          <p:cNvSpPr txBox="1">
            <a:spLocks/>
          </p:cNvSpPr>
          <p:nvPr/>
        </p:nvSpPr>
        <p:spPr>
          <a:xfrm>
            <a:off x="8286480" y="1570070"/>
            <a:ext cx="3534308" cy="47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</a:rPr>
              <a:t>Histogram</a:t>
            </a:r>
            <a:r>
              <a:rPr lang="fr-FR" sz="2000" dirty="0"/>
              <a:t> if more </a:t>
            </a:r>
            <a:r>
              <a:rPr lang="fr-FR" sz="2000" dirty="0" err="1"/>
              <a:t>than</a:t>
            </a:r>
            <a:r>
              <a:rPr lang="fr-FR" sz="2000" dirty="0"/>
              <a:t> 2D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DAF560F-3BA4-42E4-A52C-D8F6405DC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479" y="2124614"/>
            <a:ext cx="3762654" cy="343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99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17891-07FD-4C22-9AD9-DDCA2137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DataArrays</a:t>
            </a:r>
            <a:r>
              <a:rPr lang="fr-FR" dirty="0"/>
              <a:t>: </a:t>
            </a:r>
            <a:r>
              <a:rPr lang="fr-FR" sz="2400" dirty="0"/>
              <a:t>possible 2D plots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AC5DFA-71DB-43CF-8308-35A1AE7E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1B0F24-5BF5-4A25-881C-75CB8463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E2EA0-C566-4567-8A6A-94BCC922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26</a:t>
            </a:fld>
            <a:endParaRPr lang="en-US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D8BA4EF-1B98-44EB-ABC1-27F68C33514E}"/>
              </a:ext>
            </a:extLst>
          </p:cNvPr>
          <p:cNvSpPr txBox="1">
            <a:spLocks/>
          </p:cNvSpPr>
          <p:nvPr/>
        </p:nvSpPr>
        <p:spPr>
          <a:xfrm>
            <a:off x="291277" y="1109093"/>
            <a:ext cx="3524943" cy="742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DataArray.plot.quadmesh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r>
              <a:rPr lang="fr-FR" sz="1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br>
              <a:rPr lang="fr-FR" sz="2000" b="1" dirty="0">
                <a:solidFill>
                  <a:schemeClr val="accent3">
                    <a:lumMod val="75000"/>
                  </a:schemeClr>
                </a:solidFill>
              </a:rPr>
            </a:br>
            <a:endParaRPr lang="fr-FR" sz="20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A1C6264-5A2C-4223-A133-12E4E79307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92"/>
          <a:stretch/>
        </p:blipFill>
        <p:spPr>
          <a:xfrm>
            <a:off x="89350" y="1470604"/>
            <a:ext cx="3912755" cy="284722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B14EDC7-BCD9-4A86-933C-D7769CB26C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837"/>
          <a:stretch/>
        </p:blipFill>
        <p:spPr>
          <a:xfrm>
            <a:off x="4002105" y="1517024"/>
            <a:ext cx="3985745" cy="284722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B70A5C6-FF1F-4024-9854-6E7A753249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367"/>
          <a:stretch/>
        </p:blipFill>
        <p:spPr>
          <a:xfrm>
            <a:off x="7996234" y="1470604"/>
            <a:ext cx="4114800" cy="2893646"/>
          </a:xfrm>
          <a:prstGeom prst="rect">
            <a:avLst/>
          </a:prstGeom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1092653F-89AB-4BE2-AD8D-8129B07FDB43}"/>
              </a:ext>
            </a:extLst>
          </p:cNvPr>
          <p:cNvSpPr txBox="1">
            <a:spLocks/>
          </p:cNvSpPr>
          <p:nvPr/>
        </p:nvSpPr>
        <p:spPr>
          <a:xfrm>
            <a:off x="4232506" y="1109093"/>
            <a:ext cx="3524943" cy="742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DataArray.plot.contourf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r>
              <a:rPr lang="fr-FR" sz="1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br>
              <a:rPr lang="fr-FR" sz="2000" b="1" dirty="0">
                <a:solidFill>
                  <a:schemeClr val="accent3">
                    <a:lumMod val="75000"/>
                  </a:schemeClr>
                </a:solidFill>
              </a:rPr>
            </a:br>
            <a:endParaRPr lang="fr-FR" sz="2000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0DCE820B-FBE4-4AA7-AD3D-BE69BD8EF9A7}"/>
              </a:ext>
            </a:extLst>
          </p:cNvPr>
          <p:cNvSpPr txBox="1">
            <a:spLocks/>
          </p:cNvSpPr>
          <p:nvPr/>
        </p:nvSpPr>
        <p:spPr>
          <a:xfrm>
            <a:off x="8291162" y="1107348"/>
            <a:ext cx="3524943" cy="742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DataArray.plot.contour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r>
              <a:rPr lang="fr-FR" sz="1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br>
              <a:rPr lang="fr-FR" sz="2000" b="1" dirty="0">
                <a:solidFill>
                  <a:schemeClr val="accent3">
                    <a:lumMod val="75000"/>
                  </a:schemeClr>
                </a:solidFill>
              </a:rPr>
            </a:br>
            <a:endParaRPr lang="fr-FR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9370CE-697C-4902-AE9A-3A75DC0611FC}"/>
              </a:ext>
            </a:extLst>
          </p:cNvPr>
          <p:cNvSpPr/>
          <p:nvPr/>
        </p:nvSpPr>
        <p:spPr>
          <a:xfrm>
            <a:off x="3581400" y="-2218840"/>
            <a:ext cx="445506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Important </a:t>
            </a:r>
            <a:r>
              <a:rPr lang="fr-FR" b="1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keywords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x,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levels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number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of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levels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or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list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cmap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add_colorbar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True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/False</a:t>
            </a:r>
            <a:endParaRPr lang="en-US" dirty="0">
              <a:latin typeface="+mj-lt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8EF0215-A8A6-47B0-A9A3-9A9066C7A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401025"/>
              </p:ext>
            </p:extLst>
          </p:nvPr>
        </p:nvGraphicFramePr>
        <p:xfrm>
          <a:off x="291277" y="4892219"/>
          <a:ext cx="11722896" cy="119741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930724">
                  <a:extLst>
                    <a:ext uri="{9D8B030D-6E8A-4147-A177-3AD203B41FA5}">
                      <a16:colId xmlns:a16="http://schemas.microsoft.com/office/drawing/2014/main" val="157604057"/>
                    </a:ext>
                  </a:extLst>
                </a:gridCol>
                <a:gridCol w="2930724">
                  <a:extLst>
                    <a:ext uri="{9D8B030D-6E8A-4147-A177-3AD203B41FA5}">
                      <a16:colId xmlns:a16="http://schemas.microsoft.com/office/drawing/2014/main" val="2360922364"/>
                    </a:ext>
                  </a:extLst>
                </a:gridCol>
                <a:gridCol w="2930724">
                  <a:extLst>
                    <a:ext uri="{9D8B030D-6E8A-4147-A177-3AD203B41FA5}">
                      <a16:colId xmlns:a16="http://schemas.microsoft.com/office/drawing/2014/main" val="4284637500"/>
                    </a:ext>
                  </a:extLst>
                </a:gridCol>
                <a:gridCol w="2930724">
                  <a:extLst>
                    <a:ext uri="{9D8B030D-6E8A-4147-A177-3AD203B41FA5}">
                      <a16:colId xmlns:a16="http://schemas.microsoft.com/office/drawing/2014/main" val="2828507627"/>
                    </a:ext>
                  </a:extLst>
                </a:gridCol>
              </a:tblGrid>
              <a:tr h="269923">
                <a:tc>
                  <a:txBody>
                    <a:bodyPr/>
                    <a:lstStyle/>
                    <a:p>
                      <a:r>
                        <a:rPr lang="fr-FR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x=‘longitude’</a:t>
                      </a:r>
                      <a:endParaRPr lang="en-US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dirty="0"/>
                        <a:t>Variable in x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levels</a:t>
                      </a:r>
                      <a:r>
                        <a:rPr lang="fr-FR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=10</a:t>
                      </a:r>
                      <a:endParaRPr lang="en-US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0" dirty="0" err="1"/>
                        <a:t>Number</a:t>
                      </a:r>
                      <a:r>
                        <a:rPr lang="fr-FR" b="0" dirty="0"/>
                        <a:t> of </a:t>
                      </a:r>
                      <a:r>
                        <a:rPr lang="fr-FR" b="0" dirty="0" err="1"/>
                        <a:t>levels</a:t>
                      </a:r>
                      <a:r>
                        <a:rPr lang="fr-FR" b="0" dirty="0"/>
                        <a:t> or </a:t>
                      </a:r>
                      <a:r>
                        <a:rPr lang="fr-FR" b="0" dirty="0" err="1"/>
                        <a:t>list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112685"/>
                  </a:ext>
                </a:extLst>
              </a:tr>
              <a:tr h="269923">
                <a:tc>
                  <a:txBody>
                    <a:bodyPr/>
                    <a:lstStyle/>
                    <a:p>
                      <a:r>
                        <a:rPr lang="fr-FR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y=‘</a:t>
                      </a:r>
                      <a:r>
                        <a:rPr lang="fr-FR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depth</a:t>
                      </a:r>
                      <a:r>
                        <a:rPr lang="fr-FR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’</a:t>
                      </a:r>
                      <a:endParaRPr lang="en-US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Variable in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cmap</a:t>
                      </a:r>
                      <a:r>
                        <a:rPr lang="fr-FR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=‘magma’</a:t>
                      </a:r>
                      <a:endParaRPr lang="en-US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Changes </a:t>
                      </a:r>
                      <a:r>
                        <a:rPr lang="fr-FR" dirty="0" err="1"/>
                        <a:t>colormap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867848"/>
                  </a:ext>
                </a:extLst>
              </a:tr>
              <a:tr h="465895"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yincrease</a:t>
                      </a:r>
                      <a:r>
                        <a:rPr lang="fr-FR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=</a:t>
                      </a:r>
                      <a:r>
                        <a:rPr lang="fr-FR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True</a:t>
                      </a:r>
                      <a:endParaRPr lang="en-US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Reverses y values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robust</a:t>
                      </a:r>
                      <a:r>
                        <a:rPr lang="fr-FR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=</a:t>
                      </a:r>
                      <a:r>
                        <a:rPr lang="fr-FR" dirty="0" err="1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True</a:t>
                      </a:r>
                      <a:endParaRPr lang="en-US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Truncates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extreme</a:t>
                      </a:r>
                      <a:r>
                        <a:rPr lang="fr-FR" dirty="0"/>
                        <a:t> values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580380"/>
                  </a:ext>
                </a:extLst>
              </a:tr>
            </a:tbl>
          </a:graphicData>
        </a:graphic>
      </p:graphicFrame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6E5FAC1E-E9BD-48DB-8E5C-0134FD9DC87B}"/>
              </a:ext>
            </a:extLst>
          </p:cNvPr>
          <p:cNvSpPr txBox="1">
            <a:spLocks/>
          </p:cNvSpPr>
          <p:nvPr/>
        </p:nvSpPr>
        <p:spPr>
          <a:xfrm>
            <a:off x="4243054" y="4521108"/>
            <a:ext cx="3524943" cy="742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b="1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Important key </a:t>
            </a:r>
            <a:r>
              <a:rPr lang="fr-FR" sz="1800" b="1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words</a:t>
            </a:r>
            <a:r>
              <a:rPr lang="fr-FR" sz="1800" b="1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</a:t>
            </a:r>
            <a:endParaRPr lang="fr-FR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8719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17891-07FD-4C22-9AD9-DDCA2137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DataArrays</a:t>
            </a:r>
            <a:r>
              <a:rPr lang="fr-FR" dirty="0"/>
              <a:t>: </a:t>
            </a:r>
            <a:r>
              <a:rPr lang="fr-FR" sz="2400" dirty="0" err="1"/>
              <a:t>reduce</a:t>
            </a:r>
            <a:r>
              <a:rPr lang="fr-FR" sz="2400" dirty="0"/>
              <a:t> plot dimension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AC5DFA-71DB-43CF-8308-35A1AE7E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1B0F24-5BF5-4A25-881C-75CB8463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E2EA0-C566-4567-8A6A-94BCC922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27</a:t>
            </a:fld>
            <a:endParaRPr lang="en-US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D8BA4EF-1B98-44EB-ABC1-27F68C33514E}"/>
              </a:ext>
            </a:extLst>
          </p:cNvPr>
          <p:cNvSpPr txBox="1">
            <a:spLocks/>
          </p:cNvSpPr>
          <p:nvPr/>
        </p:nvSpPr>
        <p:spPr>
          <a:xfrm>
            <a:off x="807635" y="1551753"/>
            <a:ext cx="7169302" cy="47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Plot 2D data as </a:t>
            </a:r>
            <a:r>
              <a:rPr lang="fr-FR" sz="2000" b="1" dirty="0">
                <a:solidFill>
                  <a:srgbClr val="0070C0"/>
                </a:solidFill>
              </a:rPr>
              <a:t>multiple line plots </a:t>
            </a:r>
            <a:r>
              <a:rPr lang="fr-FR" sz="2000" dirty="0" err="1"/>
              <a:t>with</a:t>
            </a:r>
            <a:r>
              <a:rPr lang="fr-FR" sz="2000" dirty="0"/>
              <a:t> the </a:t>
            </a:r>
            <a:r>
              <a:rPr lang="fr-FR" sz="2000" dirty="0" err="1"/>
              <a:t>keword</a:t>
            </a:r>
            <a:r>
              <a:rPr lang="fr-FR" sz="2000" dirty="0"/>
              <a:t> 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hue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99C4A38-3014-437C-9520-83F3C45B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26" y="2236724"/>
            <a:ext cx="5034461" cy="355373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1CB680C-5DBD-452A-8377-D75701C5D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247" y="2236724"/>
            <a:ext cx="5479627" cy="369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9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17891-07FD-4C22-9AD9-DDCA2137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DataArrays</a:t>
            </a:r>
            <a:r>
              <a:rPr lang="fr-FR" dirty="0"/>
              <a:t>: </a:t>
            </a:r>
            <a:r>
              <a:rPr lang="fr-FR" sz="2400" dirty="0" err="1"/>
              <a:t>reduce</a:t>
            </a:r>
            <a:r>
              <a:rPr lang="fr-FR" sz="2400" dirty="0"/>
              <a:t> plot dimension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AC5DFA-71DB-43CF-8308-35A1AE7E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1B0F24-5BF5-4A25-881C-75CB8463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E2EA0-C566-4567-8A6A-94BCC922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28</a:t>
            </a:fld>
            <a:endParaRPr lang="en-US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D8BA4EF-1B98-44EB-ABC1-27F68C33514E}"/>
              </a:ext>
            </a:extLst>
          </p:cNvPr>
          <p:cNvSpPr txBox="1">
            <a:spLocks/>
          </p:cNvSpPr>
          <p:nvPr/>
        </p:nvSpPr>
        <p:spPr>
          <a:xfrm>
            <a:off x="807635" y="1201311"/>
            <a:ext cx="8131828" cy="47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Plot 3D data as </a:t>
            </a:r>
            <a:r>
              <a:rPr lang="fr-FR" sz="2000" b="1" dirty="0">
                <a:solidFill>
                  <a:srgbClr val="0070C0"/>
                </a:solidFill>
              </a:rPr>
              <a:t>multiple 2D plots </a:t>
            </a:r>
            <a:r>
              <a:rPr lang="fr-FR" sz="2000" dirty="0" err="1"/>
              <a:t>with</a:t>
            </a:r>
            <a:r>
              <a:rPr lang="fr-FR" sz="2000" dirty="0"/>
              <a:t> the </a:t>
            </a:r>
            <a:r>
              <a:rPr lang="fr-FR" sz="2000" dirty="0" err="1"/>
              <a:t>kewords</a:t>
            </a:r>
            <a:r>
              <a:rPr lang="fr-FR" sz="2000" dirty="0"/>
              <a:t> 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col/</a:t>
            </a: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row</a:t>
            </a:r>
            <a:endParaRPr lang="fr-FR" sz="20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68CE891-60B0-4848-9134-D153B4D6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1873937"/>
            <a:ext cx="7459116" cy="3143689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861DDC49-C788-4354-A311-924765CA7B09}"/>
              </a:ext>
            </a:extLst>
          </p:cNvPr>
          <p:cNvSpPr txBox="1">
            <a:spLocks/>
          </p:cNvSpPr>
          <p:nvPr/>
        </p:nvSpPr>
        <p:spPr>
          <a:xfrm>
            <a:off x="807635" y="5492636"/>
            <a:ext cx="8131828" cy="47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Use </a:t>
            </a: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col_wrap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=5 </a:t>
            </a:r>
            <a:r>
              <a:rPr lang="fr-FR" sz="2000" dirty="0"/>
              <a:t>if </a:t>
            </a:r>
            <a:r>
              <a:rPr lang="fr-FR" sz="2000" dirty="0" err="1"/>
              <a:t>there</a:t>
            </a:r>
            <a:r>
              <a:rPr lang="fr-FR" sz="2000" dirty="0"/>
              <a:t> are </a:t>
            </a:r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</a:rPr>
              <a:t>two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</a:rPr>
              <a:t>many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</a:rPr>
              <a:t>columns</a:t>
            </a:r>
            <a:endParaRPr lang="fr-FR" sz="2000" b="1" dirty="0">
              <a:solidFill>
                <a:schemeClr val="accent3">
                  <a:lumMod val="75000"/>
                </a:schemeClr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01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C8B91C-FAB9-44F6-BA6E-9803AED0F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Plotting</a:t>
            </a:r>
            <a:r>
              <a:rPr lang="fr-FR" dirty="0"/>
              <a:t> </a:t>
            </a:r>
            <a:r>
              <a:rPr lang="fr-FR" dirty="0" err="1"/>
              <a:t>datasets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5280DB-8940-458E-BCBE-A58984D3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87F690-B859-4ABD-87C8-177A8B04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8558B7-FA8C-4900-8E44-DC660673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29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897D459-9D2A-4471-8CC1-B5F4D00A5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213" y="1101087"/>
            <a:ext cx="113538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You can plot </a:t>
            </a:r>
            <a:r>
              <a:rPr lang="fr-FR" sz="2400" dirty="0" err="1"/>
              <a:t>relationship</a:t>
            </a:r>
            <a:r>
              <a:rPr lang="fr-FR" sz="2400" dirty="0"/>
              <a:t> </a:t>
            </a:r>
            <a:r>
              <a:rPr lang="fr-FR" sz="2400" dirty="0" err="1"/>
              <a:t>between</a:t>
            </a:r>
            <a:r>
              <a:rPr lang="fr-FR" sz="2400" dirty="0"/>
              <a:t> </a:t>
            </a:r>
            <a:r>
              <a:rPr lang="fr-FR" sz="2400" b="1" dirty="0" err="1">
                <a:solidFill>
                  <a:schemeClr val="accent3">
                    <a:lumMod val="75000"/>
                  </a:schemeClr>
                </a:solidFill>
              </a:rPr>
              <a:t>different</a:t>
            </a: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 variables </a:t>
            </a:r>
            <a:r>
              <a:rPr lang="fr-FR" sz="2400" dirty="0"/>
              <a:t>of the </a:t>
            </a:r>
            <a:r>
              <a:rPr lang="fr-FR" sz="2400" b="1" dirty="0" err="1"/>
              <a:t>same</a:t>
            </a:r>
            <a:r>
              <a:rPr lang="fr-FR" sz="2400" b="1" dirty="0"/>
              <a:t> </a:t>
            </a:r>
            <a:r>
              <a:rPr lang="fr-FR" sz="2400" b="1" dirty="0" err="1"/>
              <a:t>dataset</a:t>
            </a:r>
            <a:endParaRPr lang="fr-FR" sz="24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004CB68-5FBB-4D9F-B3AE-72A5CFA5B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4" y="2286000"/>
            <a:ext cx="4092819" cy="347091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E163EFF-6CE0-4143-93BE-4CA3C903E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300" y="2279119"/>
            <a:ext cx="3830810" cy="354781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6965106-EC91-48B4-BB44-DCF5F4E36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395" y="2286000"/>
            <a:ext cx="3911556" cy="3470913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F9A992DC-20CF-49C9-97BC-5B7CAD490D50}"/>
              </a:ext>
            </a:extLst>
          </p:cNvPr>
          <p:cNvSpPr txBox="1">
            <a:spLocks/>
          </p:cNvSpPr>
          <p:nvPr/>
        </p:nvSpPr>
        <p:spPr>
          <a:xfrm>
            <a:off x="291277" y="1854338"/>
            <a:ext cx="3524943" cy="742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Dataset.plot.scatter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x,y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r>
              <a:rPr lang="fr-FR" sz="1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fr-FR" sz="2000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F1924300-86FD-49EB-9283-344CED11D131}"/>
              </a:ext>
            </a:extLst>
          </p:cNvPr>
          <p:cNvSpPr txBox="1">
            <a:spLocks/>
          </p:cNvSpPr>
          <p:nvPr/>
        </p:nvSpPr>
        <p:spPr>
          <a:xfrm>
            <a:off x="4232506" y="1854338"/>
            <a:ext cx="3720368" cy="742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Dataset.plot.quiver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x,y,u,v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r>
              <a:rPr lang="fr-FR" sz="1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fr-FR" sz="2000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06729DCC-B959-447C-A498-A06BA23CD883}"/>
              </a:ext>
            </a:extLst>
          </p:cNvPr>
          <p:cNvSpPr txBox="1">
            <a:spLocks/>
          </p:cNvSpPr>
          <p:nvPr/>
        </p:nvSpPr>
        <p:spPr>
          <a:xfrm>
            <a:off x="7959494" y="1852593"/>
            <a:ext cx="4188280" cy="742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Dataset.plot.streamplot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x,y,u,v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50084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AC558-D37C-4F4C-B219-4A34A01E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Bonus: </a:t>
            </a:r>
            <a:r>
              <a:rPr lang="fr-FR" dirty="0" err="1"/>
              <a:t>integration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cartopy</a:t>
            </a: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1422FBE5-6A60-4F2C-A9D6-61240FC2E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29895"/>
            <a:ext cx="3841220" cy="1954906"/>
          </a:xfr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97CF32-AB0A-4B40-87F3-9180B924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6A0620-5B34-4949-BA18-8CCD728E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53BC03-E80C-4330-A3D5-EFD3E830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30</a:t>
            </a:fld>
            <a:endParaRPr lang="en-US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4D68A47-F36B-4217-9A57-9C624BF9C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473" y="3731848"/>
            <a:ext cx="5350042" cy="223243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F2B40A9-A755-4401-B458-52DA1CC50C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8607"/>
          <a:stretch/>
        </p:blipFill>
        <p:spPr>
          <a:xfrm>
            <a:off x="349781" y="1383176"/>
            <a:ext cx="5028336" cy="41597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55EC8CC-8A2F-4665-86F8-2969B1946A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840" b="57305"/>
          <a:stretch/>
        </p:blipFill>
        <p:spPr>
          <a:xfrm>
            <a:off x="349781" y="2288341"/>
            <a:ext cx="5028336" cy="101703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42F4EBF-1CFB-4917-B996-BFF7C8191C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6552" b="20599"/>
          <a:stretch/>
        </p:blipFill>
        <p:spPr>
          <a:xfrm>
            <a:off x="349781" y="3731849"/>
            <a:ext cx="5028336" cy="119941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1F08709-624F-4A89-BB7D-18E4F06995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3259"/>
          <a:stretch/>
        </p:blipFill>
        <p:spPr>
          <a:xfrm>
            <a:off x="349781" y="5354360"/>
            <a:ext cx="5028336" cy="611263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1C3AD95D-EBAE-408A-822A-46D16FBE7178}"/>
              </a:ext>
            </a:extLst>
          </p:cNvPr>
          <p:cNvSpPr txBox="1">
            <a:spLocks/>
          </p:cNvSpPr>
          <p:nvPr/>
        </p:nvSpPr>
        <p:spPr>
          <a:xfrm>
            <a:off x="291277" y="1012065"/>
            <a:ext cx="3524943" cy="742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Import </a:t>
            </a:r>
            <a:r>
              <a:rPr lang="fr-FR" sz="18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cartopy</a:t>
            </a:r>
            <a:endParaRPr lang="fr-FR" sz="2000" dirty="0">
              <a:latin typeface="+mj-lt"/>
            </a:endParaRP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BF853279-9196-4E65-9124-D4A834999846}"/>
              </a:ext>
            </a:extLst>
          </p:cNvPr>
          <p:cNvSpPr txBox="1">
            <a:spLocks/>
          </p:cNvSpPr>
          <p:nvPr/>
        </p:nvSpPr>
        <p:spPr>
          <a:xfrm>
            <a:off x="291277" y="2012234"/>
            <a:ext cx="3524943" cy="338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Prepare</a:t>
            </a:r>
            <a:r>
              <a:rPr lang="fr-FR" sz="18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figure</a:t>
            </a:r>
            <a:endParaRPr lang="fr-FR" sz="2000" dirty="0">
              <a:latin typeface="+mj-lt"/>
            </a:endParaRPr>
          </a:p>
        </p:txBody>
      </p:sp>
      <p:sp>
        <p:nvSpPr>
          <p:cNvPr id="19" name="Flèche : gauche 18">
            <a:extLst>
              <a:ext uri="{FF2B5EF4-FFF2-40B4-BE49-F238E27FC236}">
                <a16:creationId xmlns:a16="http://schemas.microsoft.com/office/drawing/2014/main" id="{DD5EAE43-E2ED-45B1-946D-1460823ECFBF}"/>
              </a:ext>
            </a:extLst>
          </p:cNvPr>
          <p:cNvSpPr/>
          <p:nvPr/>
        </p:nvSpPr>
        <p:spPr>
          <a:xfrm>
            <a:off x="5378117" y="2726036"/>
            <a:ext cx="541420" cy="33694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5B965EAA-C57A-4779-ABC9-EED3AA558A0F}"/>
              </a:ext>
            </a:extLst>
          </p:cNvPr>
          <p:cNvSpPr txBox="1">
            <a:spLocks/>
          </p:cNvSpPr>
          <p:nvPr/>
        </p:nvSpPr>
        <p:spPr>
          <a:xfrm>
            <a:off x="5919537" y="2726036"/>
            <a:ext cx="3524943" cy="338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1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Declare</a:t>
            </a:r>
            <a:r>
              <a:rPr lang="fr-FR" sz="1800" b="1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1800" b="1" dirty="0">
                <a:solidFill>
                  <a:srgbClr val="FF0000"/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projection</a:t>
            </a:r>
            <a:endParaRPr lang="fr-FR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3F59CFB4-E043-4595-92CD-C32C68017959}"/>
              </a:ext>
            </a:extLst>
          </p:cNvPr>
          <p:cNvSpPr txBox="1">
            <a:spLocks/>
          </p:cNvSpPr>
          <p:nvPr/>
        </p:nvSpPr>
        <p:spPr>
          <a:xfrm>
            <a:off x="291276" y="3429000"/>
            <a:ext cx="3524943" cy="338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Plot data</a:t>
            </a:r>
            <a:endParaRPr lang="fr-FR" sz="2000" dirty="0">
              <a:latin typeface="+mj-lt"/>
            </a:endParaRPr>
          </a:p>
        </p:txBody>
      </p:sp>
      <p:sp>
        <p:nvSpPr>
          <p:cNvPr id="22" name="Flèche : gauche 21">
            <a:extLst>
              <a:ext uri="{FF2B5EF4-FFF2-40B4-BE49-F238E27FC236}">
                <a16:creationId xmlns:a16="http://schemas.microsoft.com/office/drawing/2014/main" id="{09470004-B89A-4F61-A797-035B08EDB7EC}"/>
              </a:ext>
            </a:extLst>
          </p:cNvPr>
          <p:cNvSpPr/>
          <p:nvPr/>
        </p:nvSpPr>
        <p:spPr>
          <a:xfrm rot="3062511">
            <a:off x="3038716" y="4664943"/>
            <a:ext cx="383888" cy="33694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92429F96-324D-45C6-9F82-457A37C7FF25}"/>
              </a:ext>
            </a:extLst>
          </p:cNvPr>
          <p:cNvSpPr txBox="1">
            <a:spLocks/>
          </p:cNvSpPr>
          <p:nvPr/>
        </p:nvSpPr>
        <p:spPr>
          <a:xfrm>
            <a:off x="3343147" y="4924066"/>
            <a:ext cx="3524943" cy="338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1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Declare</a:t>
            </a:r>
            <a:r>
              <a:rPr lang="fr-FR" sz="1800" b="1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1800" b="1" dirty="0" err="1">
                <a:solidFill>
                  <a:srgbClr val="FF0000"/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coordinate</a:t>
            </a:r>
            <a:r>
              <a:rPr lang="fr-FR" sz="1800" b="1" dirty="0">
                <a:solidFill>
                  <a:srgbClr val="FF0000"/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system</a:t>
            </a:r>
            <a:endParaRPr lang="fr-FR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1DE77607-3D2F-43FE-80A5-262FF9954171}"/>
              </a:ext>
            </a:extLst>
          </p:cNvPr>
          <p:cNvSpPr txBox="1">
            <a:spLocks/>
          </p:cNvSpPr>
          <p:nvPr/>
        </p:nvSpPr>
        <p:spPr>
          <a:xfrm>
            <a:off x="291276" y="5064739"/>
            <a:ext cx="3524943" cy="338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Change </a:t>
            </a:r>
            <a:r>
              <a:rPr lang="fr-FR" sz="18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limits</a:t>
            </a:r>
            <a:r>
              <a:rPr lang="fr-FR" sz="18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fr-FR" sz="18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add</a:t>
            </a:r>
            <a:r>
              <a:rPr lang="fr-FR" sz="1800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fr-FR" sz="1800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coastline</a:t>
            </a:r>
            <a:endParaRPr lang="fr-F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969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EAA23-8FAF-464A-BD24-B0D824A4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II: </a:t>
            </a:r>
            <a:r>
              <a:rPr lang="fr-FR" dirty="0" err="1"/>
              <a:t>Practicals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ECCBA89-5EAB-46BE-B4C1-11FAEEB8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Go to the jupyter notebook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E46FC8-F97D-4FC3-B5C2-97E518CE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BA270A-B6D4-4016-A15B-D199084B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9ACDE-3862-4B83-B484-7583F443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31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C8EBC2-9478-4733-90A1-8B6F9257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4" y="1560391"/>
            <a:ext cx="3679181" cy="42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41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III: First analyses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Data </a:t>
            </a:r>
            <a:r>
              <a:rPr lang="fr-FR" dirty="0" err="1"/>
              <a:t>selection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operations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Aggregations</a:t>
            </a:r>
            <a:r>
              <a:rPr lang="fr-FR" dirty="0"/>
              <a:t>, …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93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III: First analyses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Data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selection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operations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Aggregations</a:t>
            </a:r>
            <a:r>
              <a:rPr lang="fr-FR" dirty="0"/>
              <a:t>, …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862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F6D862-080C-4224-B954-D708194E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Selecting</a:t>
            </a:r>
            <a:r>
              <a:rPr lang="fr-FR" dirty="0"/>
              <a:t>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99F27-AFCB-4E69-879F-F3C2D57C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66565-DA5D-4EF4-B38B-9471CABD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86F45-E6BD-4337-A8D6-EBCFC0E8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34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08934E-7328-4E7C-8610-031CA2C5B265}"/>
              </a:ext>
            </a:extLst>
          </p:cNvPr>
          <p:cNvSpPr/>
          <p:nvPr/>
        </p:nvSpPr>
        <p:spPr>
          <a:xfrm>
            <a:off x="838200" y="1593907"/>
            <a:ext cx="5146964" cy="11485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A68D0E74-3756-4818-9E84-16D57AA17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255" y="1690688"/>
            <a:ext cx="4806340" cy="1051799"/>
          </a:xfrm>
        </p:spPr>
        <p:txBody>
          <a:bodyPr/>
          <a:lstStyle/>
          <a:p>
            <a:r>
              <a:rPr lang="fr-FR" dirty="0"/>
              <a:t>Select by </a:t>
            </a:r>
            <a:r>
              <a:rPr lang="fr-FR" b="1" dirty="0" err="1">
                <a:solidFill>
                  <a:srgbClr val="7030A0"/>
                </a:solidFill>
              </a:rPr>
              <a:t>coordinates</a:t>
            </a:r>
            <a:endParaRPr lang="fr-FR" b="1" dirty="0">
              <a:solidFill>
                <a:srgbClr val="7030A0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2A5BCE73-4854-4264-8521-54733571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676" y="2229516"/>
            <a:ext cx="2424550" cy="353580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270C33A3-43EB-437B-9915-B87128562745}"/>
              </a:ext>
            </a:extLst>
          </p:cNvPr>
          <p:cNvGrpSpPr/>
          <p:nvPr/>
        </p:nvGrpSpPr>
        <p:grpSpPr>
          <a:xfrm>
            <a:off x="6647574" y="1593908"/>
            <a:ext cx="4706226" cy="1148579"/>
            <a:chOff x="6647574" y="1593908"/>
            <a:chExt cx="4706226" cy="1148579"/>
          </a:xfrm>
          <a:solidFill>
            <a:schemeClr val="bg2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6A308E-D138-44ED-8D3C-B70CE2E3A949}"/>
                </a:ext>
              </a:extLst>
            </p:cNvPr>
            <p:cNvSpPr/>
            <p:nvPr/>
          </p:nvSpPr>
          <p:spPr>
            <a:xfrm>
              <a:off x="6647574" y="1593908"/>
              <a:ext cx="4662881" cy="1148579"/>
            </a:xfrm>
            <a:prstGeom prst="rect">
              <a:avLst/>
            </a:prstGeom>
            <a:grpFill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Espace réservé du contenu 2">
              <a:extLst>
                <a:ext uri="{FF2B5EF4-FFF2-40B4-BE49-F238E27FC236}">
                  <a16:creationId xmlns:a16="http://schemas.microsoft.com/office/drawing/2014/main" id="{F6609EB4-DF9E-4F38-8723-D7F19778FB15}"/>
                </a:ext>
              </a:extLst>
            </p:cNvPr>
            <p:cNvSpPr txBox="1">
              <a:spLocks/>
            </p:cNvSpPr>
            <p:nvPr/>
          </p:nvSpPr>
          <p:spPr>
            <a:xfrm>
              <a:off x="6864991" y="1690689"/>
              <a:ext cx="4488809" cy="718016"/>
            </a:xfrm>
            <a:prstGeom prst="rect">
              <a:avLst/>
            </a:prstGeom>
            <a:grpFill/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Select by </a:t>
              </a:r>
              <a:r>
                <a:rPr lang="fr-FR" b="1" dirty="0">
                  <a:solidFill>
                    <a:srgbClr val="7030A0"/>
                  </a:solidFill>
                </a:rPr>
                <a:t>position</a:t>
              </a:r>
            </a:p>
          </p:txBody>
        </p: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342E81FA-8FDE-478A-823B-9A17F0089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1416" y="2245180"/>
              <a:ext cx="1786513" cy="314527"/>
            </a:xfrm>
            <a:prstGeom prst="rect">
              <a:avLst/>
            </a:prstGeom>
            <a:grpFill/>
          </p:spPr>
        </p:pic>
      </p:grp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A04D9313-E5A6-4C83-981C-15B72C357295}"/>
              </a:ext>
            </a:extLst>
          </p:cNvPr>
          <p:cNvSpPr txBox="1">
            <a:spLocks/>
          </p:cNvSpPr>
          <p:nvPr/>
        </p:nvSpPr>
        <p:spPr>
          <a:xfrm>
            <a:off x="838200" y="3028426"/>
            <a:ext cx="10515600" cy="27975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b="1" dirty="0"/>
              <a:t>Unique</a:t>
            </a:r>
            <a:r>
              <a:rPr lang="fr-FR" dirty="0"/>
              <a:t> </a:t>
            </a:r>
            <a:r>
              <a:rPr lang="fr-FR" dirty="0" err="1"/>
              <a:t>selection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 err="1"/>
              <a:t>Selection</a:t>
            </a:r>
            <a:r>
              <a:rPr lang="fr-FR" dirty="0"/>
              <a:t> </a:t>
            </a:r>
            <a:r>
              <a:rPr lang="fr-FR" b="1" dirty="0" err="1"/>
              <a:t>from</a:t>
            </a:r>
            <a:r>
              <a:rPr lang="fr-FR" b="1" dirty="0"/>
              <a:t> </a:t>
            </a:r>
            <a:r>
              <a:rPr lang="fr-FR" b="1" dirty="0" err="1"/>
              <a:t>list</a:t>
            </a:r>
            <a:endParaRPr lang="fr-FR" b="1" dirty="0"/>
          </a:p>
          <a:p>
            <a:pPr>
              <a:lnSpc>
                <a:spcPct val="150000"/>
              </a:lnSpc>
            </a:pPr>
            <a:r>
              <a:rPr lang="fr-FR" b="1" dirty="0" err="1"/>
              <a:t>Multicriteria</a:t>
            </a:r>
            <a:endParaRPr lang="fr-FR" b="1" dirty="0"/>
          </a:p>
          <a:p>
            <a:pPr>
              <a:lnSpc>
                <a:spcPct val="150000"/>
              </a:lnSpc>
            </a:pPr>
            <a:r>
              <a:rPr lang="fr-FR" b="1" dirty="0" err="1"/>
              <a:t>Nearest</a:t>
            </a:r>
            <a:r>
              <a:rPr lang="fr-FR" b="1" dirty="0"/>
              <a:t> </a:t>
            </a:r>
            <a:r>
              <a:rPr lang="fr-FR" b="1" dirty="0" err="1"/>
              <a:t>neighbour</a:t>
            </a:r>
            <a:endParaRPr lang="fr-FR" b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686B8CF0-E3BB-4BE6-8B93-F48D670A7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654" y="3104524"/>
            <a:ext cx="2424550" cy="35358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832B649-28EF-4770-855D-E4AEFD6B7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085" y="3886783"/>
            <a:ext cx="2185337" cy="326545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A07CAB0E-2118-44ED-BB34-5D7433C9C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085" y="4604141"/>
            <a:ext cx="3761301" cy="326544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EBE8C846-3F9F-4F58-B253-BB8448C9E3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3489" y="3910468"/>
            <a:ext cx="4316064" cy="32654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D5917BC-628F-4F79-817F-691AB024B3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1067" y="5333213"/>
            <a:ext cx="3979533" cy="2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2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build="p"/>
      <p:bldP spid="2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F6D862-080C-4224-B954-D708194E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Selecting</a:t>
            </a:r>
            <a:r>
              <a:rPr lang="fr-FR" dirty="0"/>
              <a:t>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99F27-AFCB-4E69-879F-F3C2D57C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66565-DA5D-4EF4-B38B-9471CABD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86F45-E6BD-4337-A8D6-EBCFC0E8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35</a:t>
            </a:fld>
            <a:endParaRPr lang="en-US"/>
          </a:p>
        </p:txBody>
      </p:sp>
      <p:sp>
        <p:nvSpPr>
          <p:cNvPr id="21" name="Espace réservé du contenu 18">
            <a:extLst>
              <a:ext uri="{FF2B5EF4-FFF2-40B4-BE49-F238E27FC236}">
                <a16:creationId xmlns:a16="http://schemas.microsoft.com/office/drawing/2014/main" id="{7BFF04EA-59D4-47AF-B343-732B9E07E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180"/>
            <a:ext cx="10515600" cy="435133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Range</a:t>
            </a:r>
            <a:r>
              <a:rPr lang="fr-FR" dirty="0"/>
              <a:t> of </a:t>
            </a:r>
            <a:r>
              <a:rPr lang="fr-FR" dirty="0" err="1"/>
              <a:t>coordinates</a:t>
            </a:r>
            <a:r>
              <a:rPr lang="fr-FR" dirty="0"/>
              <a:t>: </a:t>
            </a:r>
            <a:r>
              <a:rPr lang="fr-FR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slice(</a:t>
            </a:r>
            <a:r>
              <a:rPr lang="fr-FR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beginning</a:t>
            </a:r>
            <a:r>
              <a:rPr lang="fr-FR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end)</a:t>
            </a:r>
          </a:p>
          <a:p>
            <a:pPr lvl="1"/>
            <a:r>
              <a:rPr lang="fr-FR" dirty="0"/>
              <a:t>Select </a:t>
            </a:r>
            <a:r>
              <a:rPr lang="fr-FR" b="1" dirty="0"/>
              <a:t>all values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beginning</a:t>
            </a:r>
            <a:r>
              <a:rPr lang="fr-FR" dirty="0"/>
              <a:t> and end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Temporal</a:t>
            </a:r>
            <a:r>
              <a:rPr lang="fr-FR" dirty="0"/>
              <a:t> </a:t>
            </a:r>
            <a:r>
              <a:rPr lang="fr-FR" dirty="0" err="1"/>
              <a:t>selection</a:t>
            </a:r>
            <a:r>
              <a:rPr lang="fr-FR" dirty="0"/>
              <a:t> (</a:t>
            </a:r>
            <a:r>
              <a:rPr lang="fr-FR" dirty="0" err="1"/>
              <a:t>similar</a:t>
            </a:r>
            <a:r>
              <a:rPr lang="fr-FR" dirty="0"/>
              <a:t> to pandas):</a:t>
            </a:r>
          </a:p>
          <a:p>
            <a:pPr lvl="1"/>
            <a:endParaRPr lang="fr-FR" sz="1400" dirty="0"/>
          </a:p>
          <a:p>
            <a:pPr lvl="1"/>
            <a:r>
              <a:rPr lang="fr-FR" b="1" dirty="0"/>
              <a:t>Exact</a:t>
            </a:r>
            <a:r>
              <a:rPr lang="fr-FR" dirty="0"/>
              <a:t> </a:t>
            </a:r>
            <a:r>
              <a:rPr lang="fr-FR" dirty="0" err="1"/>
              <a:t>selection</a:t>
            </a:r>
            <a:endParaRPr lang="fr-FR" dirty="0"/>
          </a:p>
          <a:p>
            <a:pPr lvl="1"/>
            <a:endParaRPr lang="fr-FR" sz="1400" dirty="0"/>
          </a:p>
          <a:p>
            <a:pPr lvl="1"/>
            <a:r>
              <a:rPr lang="fr-FR" dirty="0" err="1"/>
              <a:t>Selection</a:t>
            </a:r>
            <a:r>
              <a:rPr lang="fr-FR" dirty="0"/>
              <a:t> of a </a:t>
            </a:r>
            <a:r>
              <a:rPr lang="fr-FR" b="1" dirty="0" err="1"/>
              <a:t>period</a:t>
            </a:r>
            <a:endParaRPr lang="fr-FR" b="1" dirty="0"/>
          </a:p>
          <a:p>
            <a:pPr lvl="1"/>
            <a:endParaRPr lang="fr-FR" sz="1400" dirty="0"/>
          </a:p>
          <a:p>
            <a:pPr lvl="1"/>
            <a:r>
              <a:rPr lang="fr-FR" dirty="0" err="1"/>
              <a:t>Selection</a:t>
            </a:r>
            <a:r>
              <a:rPr lang="fr-FR" dirty="0"/>
              <a:t> of a </a:t>
            </a:r>
            <a:r>
              <a:rPr lang="fr-FR" b="1" dirty="0"/>
              <a:t>time </a:t>
            </a:r>
            <a:r>
              <a:rPr lang="fr-FR" b="1" dirty="0" err="1"/>
              <a:t>span</a:t>
            </a:r>
            <a:endParaRPr lang="fr-FR" b="1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D9A2E7A6-13E3-4E33-A1F1-78EB614CE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17" y="2562304"/>
            <a:ext cx="2983966" cy="305734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E020E69A-1340-4B0D-A97A-BA966D7C9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584" y="4001961"/>
            <a:ext cx="2241399" cy="257211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4FA7B8E-5416-4A32-BED5-16F19809C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584" y="4684544"/>
            <a:ext cx="1735277" cy="238158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4B1AE1C3-0336-43EE-98C9-F7B0CC72C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584" y="5302731"/>
            <a:ext cx="3219899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3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F6D862-080C-4224-B954-D708194E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Selecting</a:t>
            </a:r>
            <a:r>
              <a:rPr lang="fr-FR" dirty="0"/>
              <a:t> data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99F27-AFCB-4E69-879F-F3C2D57C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66565-DA5D-4EF4-B38B-9471CABD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86F45-E6BD-4337-A8D6-EBCFC0E8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36</a:t>
            </a:fld>
            <a:endParaRPr lang="en-US"/>
          </a:p>
        </p:txBody>
      </p:sp>
      <p:sp>
        <p:nvSpPr>
          <p:cNvPr id="13" name="Espace réservé du contenu 18">
            <a:extLst>
              <a:ext uri="{FF2B5EF4-FFF2-40B4-BE49-F238E27FC236}">
                <a16:creationId xmlns:a16="http://schemas.microsoft.com/office/drawing/2014/main" id="{BEC441CC-7EE7-4A3A-AB3B-5A052535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59" y="1452646"/>
            <a:ext cx="11748191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Masking</a:t>
            </a:r>
            <a:r>
              <a:rPr lang="fr-FR" dirty="0"/>
              <a:t> data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Dataset.where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fr-FR" dirty="0"/>
              <a:t>Selects the data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fulfill</a:t>
            </a:r>
            <a:r>
              <a:rPr lang="fr-FR" dirty="0"/>
              <a:t> a certain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condition</a:t>
            </a:r>
            <a:r>
              <a:rPr lang="fr-FR" dirty="0"/>
              <a:t>, the </a:t>
            </a:r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NaN.</a:t>
            </a:r>
          </a:p>
          <a:p>
            <a:pPr lvl="1">
              <a:lnSpc>
                <a:spcPct val="100000"/>
              </a:lnSpc>
            </a:pPr>
            <a:r>
              <a:rPr lang="fr-FR" dirty="0"/>
              <a:t>The condition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a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boolean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dataarray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dirty="0"/>
              <a:t>(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True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/False</a:t>
            </a:r>
            <a:r>
              <a:rPr lang="fr-FR" dirty="0"/>
              <a:t>) on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coordinates</a:t>
            </a:r>
            <a:endParaRPr lang="fr-FR" dirty="0"/>
          </a:p>
          <a:p>
            <a:pPr lvl="1">
              <a:lnSpc>
                <a:spcPct val="100000"/>
              </a:lnSpc>
            </a:pPr>
            <a:endParaRPr lang="fr-FR" dirty="0"/>
          </a:p>
          <a:p>
            <a:pPr lvl="1">
              <a:lnSpc>
                <a:spcPct val="100000"/>
              </a:lnSpc>
            </a:pPr>
            <a:endParaRPr lang="fr-FR" dirty="0"/>
          </a:p>
          <a:p>
            <a:pPr lvl="1">
              <a:lnSpc>
                <a:spcPct val="100000"/>
              </a:lnSpc>
            </a:pPr>
            <a:r>
              <a:rPr lang="fr-FR" dirty="0" err="1"/>
              <a:t>When</a:t>
            </a:r>
            <a:r>
              <a:rPr lang="fr-FR" dirty="0"/>
              <a:t> the condition </a:t>
            </a:r>
            <a:r>
              <a:rPr lang="fr-FR" dirty="0" err="1"/>
              <a:t>is</a:t>
            </a:r>
            <a:r>
              <a:rPr lang="fr-FR" dirty="0"/>
              <a:t> on the </a:t>
            </a:r>
            <a:r>
              <a:rPr lang="fr-FR" b="1" dirty="0" err="1"/>
              <a:t>coordinates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extract</a:t>
            </a:r>
            <a:r>
              <a:rPr lang="fr-FR" dirty="0"/>
              <a:t> the data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drop=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True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lvl="1">
              <a:lnSpc>
                <a:spcPct val="100000"/>
              </a:lnSpc>
            </a:pPr>
            <a:endParaRPr lang="fr-FR" dirty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D40D6AE-97B3-478C-8BB6-64BC583D4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49" y="3487073"/>
            <a:ext cx="2690973" cy="29571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9935076-CE87-4686-A73A-104F2FE98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900" y="3487073"/>
            <a:ext cx="3911468" cy="29571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93E8E8A-9D79-449D-AD89-0CED2C3DA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204" y="5008051"/>
            <a:ext cx="4274430" cy="39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5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III: First analyses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Data </a:t>
            </a:r>
            <a:r>
              <a:rPr lang="fr-FR" dirty="0" err="1"/>
              <a:t>selection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Statistical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operations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Aggregations</a:t>
            </a:r>
            <a:r>
              <a:rPr lang="fr-FR" dirty="0"/>
              <a:t>, …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30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0F6D862-080C-4224-B954-D708194E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Numpy</a:t>
            </a:r>
            <a:r>
              <a:rPr lang="fr-FR" dirty="0"/>
              <a:t>-like </a:t>
            </a:r>
            <a:r>
              <a:rPr lang="fr-FR" dirty="0" err="1"/>
              <a:t>operations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99F27-AFCB-4E69-879F-F3C2D57C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166565-DA5D-4EF4-B38B-9471CABD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86F45-E6BD-4337-A8D6-EBCFC0E8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38</a:t>
            </a:fld>
            <a:endParaRPr lang="en-US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EBDD06A7-BB2A-4655-BCE8-487068A6F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8" y="1347524"/>
            <a:ext cx="11070990" cy="4758703"/>
          </a:xfrm>
        </p:spPr>
        <p:txBody>
          <a:bodyPr>
            <a:normAutofit/>
          </a:bodyPr>
          <a:lstStyle/>
          <a:p>
            <a:r>
              <a:rPr lang="fr-FR" dirty="0"/>
              <a:t>Use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DataArray.operation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(‘dimension’) </a:t>
            </a:r>
            <a:r>
              <a:rPr lang="fr-FR" dirty="0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for one </a:t>
            </a:r>
            <a:r>
              <a:rPr lang="fr-FR" dirty="0" err="1"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object</a:t>
            </a:r>
            <a:endParaRPr lang="fr-FR" dirty="0">
              <a:latin typeface="+mj-lt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Same</a:t>
            </a:r>
            <a:r>
              <a:rPr lang="fr-FR" dirty="0"/>
              <a:t> for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Datasets</a:t>
            </a:r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fr-FR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fr-FR" dirty="0" err="1"/>
              <a:t>Generally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as in pandas</a:t>
            </a:r>
          </a:p>
          <a:p>
            <a:pPr lvl="1"/>
            <a:r>
              <a:rPr lang="fr-FR" sz="12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(),</a:t>
            </a:r>
            <a:r>
              <a:rPr lang="fr-FR" sz="12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sum</a:t>
            </a:r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(), min(), max(), </a:t>
            </a:r>
            <a:r>
              <a:rPr lang="fr-FR" sz="12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median</a:t>
            </a:r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pPr lvl="1"/>
            <a:r>
              <a:rPr lang="fr-FR" sz="12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idxmax</a:t>
            </a:r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(), </a:t>
            </a:r>
            <a:r>
              <a:rPr lang="fr-FR" sz="12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idxmin</a:t>
            </a:r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(), </a:t>
            </a:r>
            <a:r>
              <a:rPr lang="fr-FR" sz="12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argmin</a:t>
            </a:r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(), </a:t>
            </a:r>
            <a:r>
              <a:rPr lang="fr-FR" sz="12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argmax</a:t>
            </a:r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pPr lvl="1"/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quantile([q1,q2, … ])</a:t>
            </a:r>
          </a:p>
          <a:p>
            <a:pPr lvl="1"/>
            <a:r>
              <a:rPr lang="fr-FR" sz="12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count() 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0CB9754-5AAA-4DAB-A107-FAA626218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626" y="1936254"/>
            <a:ext cx="2812682" cy="306331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C37E2683-2D41-4D9A-B7F3-68762A1BA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269" y="2524813"/>
            <a:ext cx="4613396" cy="36082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B030D6E-4748-4971-BFD2-E56418B9A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626" y="3473582"/>
            <a:ext cx="3727025" cy="30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0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4EE53-0180-403D-837E-73A77AEA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advanced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330D70-72A3-4A79-93EE-871A97F9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F228E3-892B-4FE6-81C3-7F02329A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4DE8B9-178C-4542-823C-3F997D76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39</a:t>
            </a:fld>
            <a:endParaRPr lang="en-US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B905A039-CE43-4515-AC46-507FF6CF1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803"/>
            <a:ext cx="10515600" cy="4071673"/>
          </a:xfrm>
        </p:spPr>
        <p:txBody>
          <a:bodyPr>
            <a:normAutofit/>
          </a:bodyPr>
          <a:lstStyle/>
          <a:p>
            <a:r>
              <a:rPr lang="fr-FR" b="1" dirty="0" err="1"/>
              <a:t>Difference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one </a:t>
            </a:r>
            <a:r>
              <a:rPr lang="fr-FR" dirty="0" err="1"/>
              <a:t>step</a:t>
            </a:r>
            <a:r>
              <a:rPr lang="fr-FR" dirty="0"/>
              <a:t> to </a:t>
            </a:r>
            <a:r>
              <a:rPr lang="fr-FR" dirty="0" err="1"/>
              <a:t>another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Cumulative</a:t>
            </a:r>
            <a:r>
              <a:rPr lang="fr-FR" dirty="0"/>
              <a:t> </a:t>
            </a:r>
            <a:r>
              <a:rPr lang="fr-FR" dirty="0" err="1"/>
              <a:t>sum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Gradient</a:t>
            </a:r>
            <a:r>
              <a:rPr lang="fr-FR" dirty="0"/>
              <a:t>, </a:t>
            </a:r>
            <a:r>
              <a:rPr lang="fr-FR" b="1" dirty="0" err="1"/>
              <a:t>integral</a:t>
            </a:r>
            <a:endParaRPr lang="fr-FR" b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1777AC1-E110-48CB-BE88-F414BD337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604" y="2108876"/>
            <a:ext cx="1998792" cy="30284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85A4894-A58A-4AA4-A30F-85DCD0CB7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652" y="4346893"/>
            <a:ext cx="3480695" cy="59900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67BE7B6-78FB-4BFD-8562-B478E0A1E0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971" b="-1"/>
          <a:stretch/>
        </p:blipFill>
        <p:spPr>
          <a:xfrm>
            <a:off x="4634652" y="3067893"/>
            <a:ext cx="2543784" cy="34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59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23FAEA-B738-48C3-9C74-844EF13D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Weighted</a:t>
            </a:r>
            <a:r>
              <a:rPr lang="fr-FR" dirty="0"/>
              <a:t> </a:t>
            </a:r>
            <a:r>
              <a:rPr lang="fr-FR" dirty="0" err="1"/>
              <a:t>operations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0E5E10-3767-47A2-B236-8CF60391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86AA19-F450-4D78-92C0-75FEA9C07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441D61-9D99-4640-8590-41FCFE18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40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FED5204-3966-430E-84A6-ED88361D3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66" y="1556180"/>
            <a:ext cx="1147966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Weighted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are possible !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The </a:t>
            </a:r>
            <a:r>
              <a:rPr lang="fr-FR" dirty="0" err="1"/>
              <a:t>weights</a:t>
            </a:r>
            <a:r>
              <a:rPr lang="fr-FR" dirty="0"/>
              <a:t> are a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similar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dimensions/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coordinates</a:t>
            </a:r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fr-FR" dirty="0"/>
              <a:t>Example: Global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weighted</a:t>
            </a:r>
            <a:r>
              <a:rPr lang="fr-FR" dirty="0"/>
              <a:t> by </a:t>
            </a:r>
            <a:r>
              <a:rPr lang="fr-FR" dirty="0" err="1"/>
              <a:t>cell</a:t>
            </a:r>
            <a:r>
              <a:rPr lang="fr-FR" dirty="0"/>
              <a:t> area of a </a:t>
            </a:r>
            <a:r>
              <a:rPr lang="fr-FR" dirty="0" err="1"/>
              <a:t>climate</a:t>
            </a:r>
            <a:r>
              <a:rPr lang="fr-FR" dirty="0"/>
              <a:t> model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F021946-A6A6-4367-997A-6AB7B9A1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4882662"/>
            <a:ext cx="6401693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42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146D35-4007-450A-BC7C-761FF130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Fitting</a:t>
            </a:r>
            <a:r>
              <a:rPr lang="fr-FR" dirty="0"/>
              <a:t> a </a:t>
            </a:r>
            <a:r>
              <a:rPr lang="fr-FR" dirty="0" err="1"/>
              <a:t>DataArray</a:t>
            </a:r>
            <a:r>
              <a:rPr lang="fr-FR" dirty="0"/>
              <a:t> or a </a:t>
            </a:r>
            <a:r>
              <a:rPr lang="fr-FR" dirty="0" err="1"/>
              <a:t>dataset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800BE9-872B-4B26-9DD0-ACE60CC8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5BDDD0-F2F8-4FF4-98B3-EF483EDE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7ED48B-C3C0-4B2F-BEEC-5622E0E7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41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9BEFCCD-33A7-407A-B31F-B14248C7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828737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Polynomial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fits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dirty="0"/>
              <a:t>or </a:t>
            </a:r>
            <a:r>
              <a:rPr lang="fr-FR" dirty="0" err="1"/>
              <a:t>general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curve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fits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dirty="0"/>
              <a:t>as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scipy</a:t>
            </a:r>
            <a:r>
              <a:rPr lang="fr-FR" dirty="0"/>
              <a:t>/</a:t>
            </a:r>
            <a:r>
              <a:rPr lang="fr-FR" dirty="0" err="1"/>
              <a:t>numpy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9FBFB2D-66D4-49AF-ACF6-B728F186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91" y="2154088"/>
            <a:ext cx="6237302" cy="29005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F65C4C0-8F87-4486-B162-DE1D26938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949" y="2459322"/>
            <a:ext cx="4397758" cy="359179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EFCA075-5ACD-49C8-9A79-CA91D0EF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91" y="2131267"/>
            <a:ext cx="4885544" cy="27885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6C11C41-C8C6-4008-959A-4E492A4D9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91" y="5359885"/>
            <a:ext cx="5338433" cy="69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1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2EA252-3C17-4722-89BE-4891CA26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299B82-A8C4-42B1-8B04-2EE77E63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3E48A5-4CCD-4648-A146-D0371068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42</a:t>
            </a:fld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C173A4BF-B839-44E7-B669-8062FAE64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>
            <a:noAutofit/>
          </a:bodyPr>
          <a:lstStyle/>
          <a:p>
            <a:r>
              <a:rPr lang="fr-FR" sz="4800" dirty="0">
                <a:solidFill>
                  <a:srgbClr val="FF0000"/>
                </a:solidFill>
              </a:rPr>
              <a:t>Big warning: no </a:t>
            </a:r>
            <a:r>
              <a:rPr lang="fr-FR" sz="4800" dirty="0" err="1">
                <a:solidFill>
                  <a:srgbClr val="FF0000"/>
                </a:solidFill>
              </a:rPr>
              <a:t>loops</a:t>
            </a:r>
            <a:r>
              <a:rPr lang="fr-FR" sz="4800" dirty="0">
                <a:solidFill>
                  <a:srgbClr val="FF0000"/>
                </a:solidFill>
              </a:rPr>
              <a:t> !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2FF065-DB2C-47C9-8D07-E8489A5D90D4}"/>
              </a:ext>
            </a:extLst>
          </p:cNvPr>
          <p:cNvSpPr/>
          <p:nvPr/>
        </p:nvSpPr>
        <p:spPr>
          <a:xfrm>
            <a:off x="1341336" y="2228671"/>
            <a:ext cx="950933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/>
              <a:t>There </a:t>
            </a:r>
            <a:r>
              <a:rPr lang="fr-FR" sz="3600" b="1" dirty="0" err="1"/>
              <a:t>is</a:t>
            </a:r>
            <a:r>
              <a:rPr lang="fr-FR" sz="3600" b="1" dirty="0"/>
              <a:t> </a:t>
            </a:r>
            <a:r>
              <a:rPr lang="fr-FR" sz="3200" b="1" dirty="0"/>
              <a:t>(</a:t>
            </a:r>
            <a:r>
              <a:rPr lang="fr-FR" sz="3200" b="1" dirty="0" err="1"/>
              <a:t>almost</a:t>
            </a:r>
            <a:r>
              <a:rPr lang="fr-FR" sz="3200" b="1" dirty="0"/>
              <a:t>) </a:t>
            </a:r>
            <a:r>
              <a:rPr lang="fr-FR" sz="3600" b="1" dirty="0" err="1"/>
              <a:t>always</a:t>
            </a:r>
            <a:r>
              <a:rPr lang="fr-FR" sz="3600" b="1" dirty="0"/>
              <a:t> a </a:t>
            </a:r>
            <a:r>
              <a:rPr lang="fr-FR" sz="3600" b="1" dirty="0" err="1"/>
              <a:t>way</a:t>
            </a:r>
            <a:r>
              <a:rPr lang="fr-FR" sz="3600" b="1" dirty="0"/>
              <a:t> to replace a </a:t>
            </a:r>
            <a:br>
              <a:rPr lang="fr-FR" sz="3600" b="1" dirty="0"/>
            </a:br>
            <a:r>
              <a:rPr lang="fr-FR" sz="3600" b="1" dirty="0">
                <a:solidFill>
                  <a:srgbClr val="FF0000"/>
                </a:solidFill>
              </a:rPr>
              <a:t>slow</a:t>
            </a:r>
            <a:r>
              <a:rPr lang="fr-FR" sz="3600" b="1" dirty="0"/>
              <a:t> </a:t>
            </a:r>
            <a:r>
              <a:rPr lang="fr-FR" sz="3600" b="1" dirty="0" err="1"/>
              <a:t>loop</a:t>
            </a:r>
            <a:r>
              <a:rPr lang="fr-FR" sz="3600" b="1" dirty="0"/>
              <a:t> by a </a:t>
            </a:r>
            <a:r>
              <a:rPr lang="fr-FR" sz="3600" b="1" dirty="0">
                <a:solidFill>
                  <a:schemeClr val="accent3">
                    <a:lumMod val="75000"/>
                  </a:schemeClr>
                </a:solidFill>
              </a:rPr>
              <a:t>fast</a:t>
            </a:r>
            <a:r>
              <a:rPr lang="fr-FR" sz="3600" b="1" dirty="0"/>
              <a:t> </a:t>
            </a:r>
            <a:r>
              <a:rPr lang="fr-FR" sz="3600" b="1" dirty="0" err="1"/>
              <a:t>xarray</a:t>
            </a:r>
            <a:r>
              <a:rPr lang="fr-FR" sz="3600" b="1" dirty="0"/>
              <a:t> </a:t>
            </a:r>
            <a:r>
              <a:rPr lang="fr-FR" sz="3600" b="1" dirty="0" err="1"/>
              <a:t>function</a:t>
            </a:r>
            <a:endParaRPr lang="fr-FR" sz="36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E7BAEB-090C-42B3-949C-3A9D439038D7}"/>
              </a:ext>
            </a:extLst>
          </p:cNvPr>
          <p:cNvSpPr/>
          <p:nvPr/>
        </p:nvSpPr>
        <p:spPr>
          <a:xfrm>
            <a:off x="925364" y="4550323"/>
            <a:ext cx="103412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dirty="0"/>
              <a:t>Example : </a:t>
            </a:r>
            <a:r>
              <a:rPr lang="fr-FR" sz="3600" dirty="0" err="1"/>
              <a:t>create</a:t>
            </a:r>
            <a:r>
              <a:rPr lang="fr-FR" sz="3600" dirty="0"/>
              <a:t> </a:t>
            </a:r>
            <a:r>
              <a:rPr lang="fr-FR" sz="3600" b="1" dirty="0">
                <a:solidFill>
                  <a:schemeClr val="accent2">
                    <a:lumMod val="75000"/>
                  </a:schemeClr>
                </a:solidFill>
              </a:rPr>
              <a:t>new dimension</a:t>
            </a:r>
            <a:r>
              <a:rPr lang="fr-FR" sz="3600" dirty="0"/>
              <a:t> </a:t>
            </a:r>
            <a:r>
              <a:rPr lang="fr-FR" sz="3600" dirty="0" err="1"/>
              <a:t>instead</a:t>
            </a:r>
            <a:r>
              <a:rPr lang="fr-FR" sz="3600" dirty="0"/>
              <a:t> of </a:t>
            </a:r>
            <a:r>
              <a:rPr lang="fr-FR" sz="3600" dirty="0" err="1"/>
              <a:t>loop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45223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11143-C062-49D5-9434-CC27F505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265568" cy="742222"/>
          </a:xfrm>
        </p:spPr>
        <p:txBody>
          <a:bodyPr>
            <a:normAutofit/>
          </a:bodyPr>
          <a:lstStyle/>
          <a:p>
            <a:r>
              <a:rPr lang="fr-FR" dirty="0"/>
              <a:t>BONUS: </a:t>
            </a:r>
            <a:r>
              <a:rPr lang="fr-FR" dirty="0" err="1"/>
              <a:t>Applying</a:t>
            </a:r>
            <a:r>
              <a:rPr lang="fr-FR" dirty="0"/>
              <a:t> custom </a:t>
            </a:r>
            <a:r>
              <a:rPr lang="fr-FR" dirty="0" err="1"/>
              <a:t>function</a:t>
            </a:r>
            <a:r>
              <a:rPr lang="fr-FR" dirty="0"/>
              <a:t> to </a:t>
            </a:r>
            <a:r>
              <a:rPr lang="fr-FR" dirty="0" err="1"/>
              <a:t>some</a:t>
            </a:r>
            <a:r>
              <a:rPr lang="fr-FR" dirty="0"/>
              <a:t> dimension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D66FDC-82D0-4EB0-B502-60644CBE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57D903-0ED3-4116-947C-DF307391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2CA235-3974-4F09-ABE2-399D963D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8A89E8-DFEF-4129-859E-57BE53133D95}"/>
              </a:ext>
            </a:extLst>
          </p:cNvPr>
          <p:cNvSpPr/>
          <p:nvPr/>
        </p:nvSpPr>
        <p:spPr>
          <a:xfrm>
            <a:off x="2382538" y="1315088"/>
            <a:ext cx="2787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Define</a:t>
            </a:r>
            <a:r>
              <a:rPr lang="fr-FR" dirty="0"/>
              <a:t> </a:t>
            </a:r>
            <a:r>
              <a:rPr lang="fr-FR" b="1" dirty="0"/>
              <a:t>custom </a:t>
            </a:r>
            <a:r>
              <a:rPr lang="fr-FR" b="1" dirty="0" err="1"/>
              <a:t>function</a:t>
            </a:r>
            <a:r>
              <a:rPr lang="fr-FR" b="1" dirty="0"/>
              <a:t>: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B40246-6A62-4837-9FBA-F90E2C0988A7}"/>
              </a:ext>
            </a:extLst>
          </p:cNvPr>
          <p:cNvSpPr/>
          <p:nvPr/>
        </p:nvSpPr>
        <p:spPr>
          <a:xfrm>
            <a:off x="2382537" y="3466387"/>
            <a:ext cx="6296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/>
              <a:t>Apply </a:t>
            </a:r>
            <a:r>
              <a:rPr lang="fr-FR" sz="2000" dirty="0" err="1"/>
              <a:t>it</a:t>
            </a:r>
            <a:r>
              <a:rPr lang="fr-FR" sz="2000" dirty="0"/>
              <a:t> to certain dimensions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xr.apply_ufunc</a:t>
            </a:r>
            <a:r>
              <a:rPr lang="fr-FR" sz="2000" dirty="0"/>
              <a:t>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F5DB06F-B7E8-4357-9A67-25DBFFA1B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049" y="1735585"/>
            <a:ext cx="4847807" cy="126411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0227F10-E63C-413B-9069-58277912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049" y="4000615"/>
            <a:ext cx="5907932" cy="202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11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III: First analyses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Data </a:t>
            </a:r>
            <a:r>
              <a:rPr lang="fr-FR" dirty="0" err="1"/>
              <a:t>selection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Statistical</a:t>
            </a:r>
            <a:r>
              <a:rPr lang="fr-FR" dirty="0"/>
              <a:t> </a:t>
            </a:r>
            <a:r>
              <a:rPr lang="fr-FR" dirty="0" err="1"/>
              <a:t>operations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Aggregations</a:t>
            </a:r>
            <a:r>
              <a:rPr lang="fr-FR" dirty="0"/>
              <a:t>, …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695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C73F3C-AAB5-4CCE-8CC7-D466C917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Resampling</a:t>
            </a:r>
            <a:r>
              <a:rPr lang="fr-FR" dirty="0"/>
              <a:t> and </a:t>
            </a:r>
            <a:r>
              <a:rPr lang="fr-FR" dirty="0" err="1"/>
              <a:t>rolling</a:t>
            </a:r>
            <a:r>
              <a:rPr lang="fr-FR" dirty="0"/>
              <a:t> </a:t>
            </a:r>
            <a:r>
              <a:rPr lang="fr-FR" dirty="0" err="1"/>
              <a:t>windows</a:t>
            </a:r>
            <a:r>
              <a:rPr lang="fr-FR" dirty="0"/>
              <a:t>: </a:t>
            </a:r>
            <a:r>
              <a:rPr lang="fr-FR" sz="2400" dirty="0"/>
              <a:t>in time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4AC3AE-C72A-456C-A859-4104D31C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8F9EBB-5427-48A1-90ED-D9964A75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AC7966-F83D-4FBB-9C79-67B4CCD4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45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2B4F864-C1F6-4AB5-B26B-6AB160B94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024723"/>
            <a:ext cx="3632201" cy="19088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000" dirty="0"/>
              <a:t>In time: </a:t>
            </a:r>
            <a:r>
              <a:rPr lang="fr-FR" sz="2000" dirty="0" err="1"/>
              <a:t>similar</a:t>
            </a:r>
            <a:r>
              <a:rPr lang="fr-FR" sz="2000" dirty="0"/>
              <a:t> to </a:t>
            </a:r>
            <a:r>
              <a:rPr lang="fr-FR" sz="2000" b="1" dirty="0"/>
              <a:t>pandas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	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Resampling</a:t>
            </a:r>
            <a:r>
              <a:rPr lang="fr-FR" sz="2000" b="1" dirty="0"/>
              <a:t>:</a:t>
            </a:r>
          </a:p>
          <a:p>
            <a:pPr marL="0" indent="0">
              <a:buNone/>
            </a:pPr>
            <a:endParaRPr lang="fr-FR" sz="2000" b="1" dirty="0"/>
          </a:p>
          <a:p>
            <a:pPr marL="0" indent="0">
              <a:buNone/>
            </a:pP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Rolling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</a:rPr>
              <a:t>windows</a:t>
            </a:r>
            <a:r>
              <a:rPr lang="fr-FR" sz="2000" b="1" dirty="0"/>
              <a:t>:</a:t>
            </a:r>
          </a:p>
          <a:p>
            <a:pPr marL="0" indent="0">
              <a:buNone/>
            </a:pPr>
            <a:endParaRPr lang="fr-FR" sz="2000" b="1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19153A9-A5E8-40D8-93F8-63EBF55CA554}"/>
              </a:ext>
            </a:extLst>
          </p:cNvPr>
          <p:cNvSpPr txBox="1">
            <a:spLocks/>
          </p:cNvSpPr>
          <p:nvPr/>
        </p:nvSpPr>
        <p:spPr>
          <a:xfrm>
            <a:off x="5545668" y="1362060"/>
            <a:ext cx="6646332" cy="1458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FR" sz="20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ds.resample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(time="2H").</a:t>
            </a: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  <a:b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lang="fr-FR" sz="20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ds.rolling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(time=120).</a:t>
            </a:r>
            <a:r>
              <a:rPr lang="fr-FR" sz="20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median</a:t>
            </a:r>
            <a:r>
              <a:rPr lang="fr-FR" sz="20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A670242-2CD2-451F-9021-BD5D8B20C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914" y="3143232"/>
            <a:ext cx="7837752" cy="300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66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5CAC7-C764-4C86-8C1B-87F301D1B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Resampling</a:t>
            </a:r>
            <a:r>
              <a:rPr lang="fr-FR" dirty="0"/>
              <a:t> and </a:t>
            </a:r>
            <a:r>
              <a:rPr lang="fr-FR" dirty="0" err="1"/>
              <a:t>rolling</a:t>
            </a:r>
            <a:r>
              <a:rPr lang="fr-FR" dirty="0"/>
              <a:t> </a:t>
            </a:r>
            <a:r>
              <a:rPr lang="fr-FR" dirty="0" err="1"/>
              <a:t>windows</a:t>
            </a:r>
            <a:r>
              <a:rPr lang="fr-FR" dirty="0"/>
              <a:t>: </a:t>
            </a:r>
            <a:r>
              <a:rPr lang="fr-FR" sz="2400" dirty="0"/>
              <a:t>in </a:t>
            </a:r>
            <a:r>
              <a:rPr lang="fr-FR" sz="2400" dirty="0" err="1"/>
              <a:t>other</a:t>
            </a:r>
            <a:r>
              <a:rPr lang="fr-FR" sz="2400" dirty="0"/>
              <a:t> dimensions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49DE8-5B14-4E78-87E4-BC9D005B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BC6911-8ABD-4DDB-ABFE-9C13A699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340CCC-B6D8-4365-A8EE-A1F44E21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46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D3F0422-6569-41A0-88C7-3AFA2B0CE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3315" y="1532467"/>
            <a:ext cx="3738847" cy="784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chemeClr val="accent2">
                    <a:lumMod val="75000"/>
                  </a:schemeClr>
                </a:solidFill>
              </a:rPr>
              <a:t>Resampling</a:t>
            </a:r>
            <a:r>
              <a:rPr lang="fr-FR" sz="1800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fr-FR" sz="1800" b="1" dirty="0">
                <a:solidFill>
                  <a:schemeClr val="accent2">
                    <a:lumMod val="75000"/>
                  </a:schemeClr>
                </a:solidFill>
              </a:rPr>
              <a:t>Rolling </a:t>
            </a:r>
            <a:r>
              <a:rPr lang="fr-FR" sz="1800" b="1" dirty="0" err="1">
                <a:solidFill>
                  <a:schemeClr val="accent2">
                    <a:lumMod val="75000"/>
                  </a:schemeClr>
                </a:solidFill>
              </a:rPr>
              <a:t>windows</a:t>
            </a:r>
            <a:r>
              <a:rPr lang="fr-FR" sz="1800" b="1" dirty="0"/>
              <a:t>:</a:t>
            </a:r>
            <a:endParaRPr lang="en-US" sz="1800" b="1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CFCA44F9-F8C7-4B92-8709-ECE60ED91294}"/>
              </a:ext>
            </a:extLst>
          </p:cNvPr>
          <p:cNvSpPr txBox="1">
            <a:spLocks/>
          </p:cNvSpPr>
          <p:nvPr/>
        </p:nvSpPr>
        <p:spPr>
          <a:xfrm>
            <a:off x="3456036" y="1532467"/>
            <a:ext cx="8193505" cy="116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ds.coarsen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(longitude=20, latitude=20, </a:t>
            </a: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boundary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='pad’).</a:t>
            </a: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ds.rolling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(longitude=20, latitude=20, center=</a:t>
            </a: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True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).max()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9DAA1DB-A9FA-40DA-8E36-E5AF1E947B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56"/>
          <a:stretch/>
        </p:blipFill>
        <p:spPr>
          <a:xfrm>
            <a:off x="161097" y="2997275"/>
            <a:ext cx="11869806" cy="28161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59A0D86-91AC-4453-B288-0B6CA1B3BC6F}"/>
              </a:ext>
            </a:extLst>
          </p:cNvPr>
          <p:cNvSpPr/>
          <p:nvPr/>
        </p:nvSpPr>
        <p:spPr>
          <a:xfrm>
            <a:off x="1242227" y="2556953"/>
            <a:ext cx="1935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Raw </a:t>
            </a:r>
            <a:r>
              <a:rPr lang="fr-FR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endParaRPr lang="fr-FR" b="1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3B7E88-0C22-4DDE-8E18-840928DAAB20}"/>
              </a:ext>
            </a:extLst>
          </p:cNvPr>
          <p:cNvSpPr/>
          <p:nvPr/>
        </p:nvSpPr>
        <p:spPr>
          <a:xfrm>
            <a:off x="4387516" y="2587731"/>
            <a:ext cx="36760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DataArray.rolling</a:t>
            </a:r>
            <a:r>
              <a:rPr lang="fr-FR" sz="1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1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lon</a:t>
            </a:r>
            <a:r>
              <a:rPr lang="fr-FR" sz="1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=20, </a:t>
            </a:r>
            <a:r>
              <a:rPr lang="fr-FR" sz="1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lat</a:t>
            </a:r>
            <a:r>
              <a:rPr lang="fr-FR" sz="1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=20)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E64FE9-0A7E-411B-8FE8-F7D8245BD02B}"/>
              </a:ext>
            </a:extLst>
          </p:cNvPr>
          <p:cNvSpPr/>
          <p:nvPr/>
        </p:nvSpPr>
        <p:spPr>
          <a:xfrm>
            <a:off x="8306769" y="2587731"/>
            <a:ext cx="36760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DataArray.coarsen</a:t>
            </a:r>
            <a:r>
              <a:rPr lang="fr-FR" sz="1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1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lon</a:t>
            </a:r>
            <a:r>
              <a:rPr lang="fr-FR" sz="1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=20, </a:t>
            </a:r>
            <a:r>
              <a:rPr lang="fr-FR" sz="1400" b="1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lat</a:t>
            </a:r>
            <a:r>
              <a:rPr lang="fr-FR" sz="14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=20)</a:t>
            </a:r>
          </a:p>
        </p:txBody>
      </p:sp>
    </p:spTree>
    <p:extLst>
      <p:ext uri="{BB962C8B-B14F-4D97-AF65-F5344CB8AC3E}">
        <p14:creationId xmlns:p14="http://schemas.microsoft.com/office/powerpoint/2010/main" val="666752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D73B3-112B-4195-8E8F-24CCA030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Bonus: </a:t>
            </a:r>
            <a:r>
              <a:rPr lang="fr-FR" dirty="0" err="1"/>
              <a:t>regridding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xesmf</a:t>
            </a: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317503-682E-42A1-AE65-60C6D5AE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11A85A-1A3E-4509-8266-06F058DE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BAD90B-01B6-433C-A365-D08D2E12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47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CC8D9C8D-5B82-42F7-838B-456FA1E9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3617319"/>
            <a:ext cx="5502614" cy="2004548"/>
          </a:xfrm>
        </p:spPr>
        <p:txBody>
          <a:bodyPr>
            <a:normAutofit/>
          </a:bodyPr>
          <a:lstStyle/>
          <a:p>
            <a:r>
              <a:rPr lang="fr-FR" sz="2400" b="1" dirty="0" err="1">
                <a:solidFill>
                  <a:schemeClr val="accent3">
                    <a:lumMod val="75000"/>
                  </a:schemeClr>
                </a:solidFill>
              </a:rPr>
              <a:t>Curvilinear</a:t>
            </a:r>
            <a:r>
              <a:rPr lang="fr-FR" sz="2400" b="1" dirty="0"/>
              <a:t> </a:t>
            </a:r>
            <a:r>
              <a:rPr lang="fr-FR" sz="2400" b="1" dirty="0" err="1"/>
              <a:t>grid</a:t>
            </a:r>
            <a:r>
              <a:rPr lang="fr-FR" sz="2400" b="1" dirty="0"/>
              <a:t> </a:t>
            </a:r>
            <a:r>
              <a:rPr lang="fr-FR" sz="2400" dirty="0"/>
              <a:t>(e.g. NEMO, global </a:t>
            </a:r>
            <a:r>
              <a:rPr lang="fr-FR" sz="2400" dirty="0" err="1"/>
              <a:t>ocean</a:t>
            </a:r>
            <a:r>
              <a:rPr lang="fr-FR" sz="2400" dirty="0"/>
              <a:t> model)</a:t>
            </a:r>
          </a:p>
          <a:p>
            <a:r>
              <a:rPr lang="fr-FR" sz="2400" b="1" dirty="0" err="1">
                <a:solidFill>
                  <a:schemeClr val="accent3">
                    <a:lumMod val="75000"/>
                  </a:schemeClr>
                </a:solidFill>
              </a:rPr>
              <a:t>Rectilinear</a:t>
            </a:r>
            <a:r>
              <a:rPr lang="fr-FR" sz="2400" b="1" dirty="0"/>
              <a:t> </a:t>
            </a:r>
            <a:r>
              <a:rPr lang="fr-FR" sz="2400" b="1" dirty="0" err="1"/>
              <a:t>grid</a:t>
            </a:r>
            <a:r>
              <a:rPr lang="fr-FR" sz="2400" b="1" dirty="0"/>
              <a:t> </a:t>
            </a:r>
            <a:r>
              <a:rPr lang="fr-FR" sz="2400" dirty="0"/>
              <a:t>(</a:t>
            </a:r>
            <a:r>
              <a:rPr lang="fr-FR" sz="2400" dirty="0" err="1"/>
              <a:t>regular</a:t>
            </a:r>
            <a:r>
              <a:rPr lang="fr-FR" sz="2400" dirty="0"/>
              <a:t> </a:t>
            </a:r>
            <a:r>
              <a:rPr lang="fr-FR" sz="2400" dirty="0" err="1"/>
              <a:t>lon</a:t>
            </a:r>
            <a:r>
              <a:rPr lang="fr-FR" sz="2400" dirty="0"/>
              <a:t>/</a:t>
            </a:r>
            <a:r>
              <a:rPr lang="fr-FR" sz="2400" dirty="0" err="1"/>
              <a:t>lat</a:t>
            </a:r>
            <a:r>
              <a:rPr lang="fr-FR" sz="2400" dirty="0"/>
              <a:t> </a:t>
            </a:r>
            <a:r>
              <a:rPr lang="fr-FR" sz="2400" dirty="0" err="1"/>
              <a:t>grid</a:t>
            </a:r>
            <a:r>
              <a:rPr lang="fr-FR" sz="2400" dirty="0"/>
              <a:t>)</a:t>
            </a:r>
            <a:endParaRPr lang="en-US" sz="24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AFB56FD-6BE4-41FE-985C-0A681D892C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48" r="51735"/>
          <a:stretch/>
        </p:blipFill>
        <p:spPr>
          <a:xfrm>
            <a:off x="457920" y="3186113"/>
            <a:ext cx="2344907" cy="262215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7E1863C-AF57-418F-A721-C45BC4EF52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735" t="8249"/>
          <a:stretch/>
        </p:blipFill>
        <p:spPr>
          <a:xfrm>
            <a:off x="3657599" y="3186113"/>
            <a:ext cx="2344907" cy="2622155"/>
          </a:xfrm>
          <a:prstGeom prst="rect">
            <a:avLst/>
          </a:prstGeom>
        </p:spPr>
      </p:pic>
      <p:sp>
        <p:nvSpPr>
          <p:cNvPr id="10" name="Flèche : double flèche horizontale 9">
            <a:extLst>
              <a:ext uri="{FF2B5EF4-FFF2-40B4-BE49-F238E27FC236}">
                <a16:creationId xmlns:a16="http://schemas.microsoft.com/office/drawing/2014/main" id="{D11588CB-7E2C-45B4-A5BF-59D90CCCED41}"/>
              </a:ext>
            </a:extLst>
          </p:cNvPr>
          <p:cNvSpPr/>
          <p:nvPr/>
        </p:nvSpPr>
        <p:spPr>
          <a:xfrm>
            <a:off x="2870559" y="4293494"/>
            <a:ext cx="668867" cy="17164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9FF65C9-5BCB-407B-9BD9-8F15159E3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026" y="1426445"/>
            <a:ext cx="5681133" cy="93119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BDF414-9A32-4CB6-A42F-6FF0469266E8}"/>
              </a:ext>
            </a:extLst>
          </p:cNvPr>
          <p:cNvSpPr/>
          <p:nvPr/>
        </p:nvSpPr>
        <p:spPr>
          <a:xfrm>
            <a:off x="4404294" y="2816781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Grid</a:t>
            </a:r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2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0396FE-DD6D-4D5F-88A8-371528CA62CE}"/>
              </a:ext>
            </a:extLst>
          </p:cNvPr>
          <p:cNvSpPr/>
          <p:nvPr/>
        </p:nvSpPr>
        <p:spPr>
          <a:xfrm>
            <a:off x="1204615" y="2817853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Grid</a:t>
            </a:r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1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986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D6FC9-6C2B-4191-897F-A8212BC7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Interpolation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805C70-DC12-46DA-B128-8154F0EA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D239F6-B0A5-4441-A557-D4110059A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678A69-FFB7-472D-8248-CFF667CC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48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6EC558E-C951-4158-B8CF-1E61A8AC9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519"/>
            <a:ext cx="10515600" cy="4351338"/>
          </a:xfrm>
        </p:spPr>
        <p:txBody>
          <a:bodyPr/>
          <a:lstStyle/>
          <a:p>
            <a:r>
              <a:rPr lang="fr-FR" dirty="0" err="1"/>
              <a:t>Interpolate</a:t>
            </a:r>
            <a:r>
              <a:rPr lang="fr-FR" dirty="0"/>
              <a:t> on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new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coordinate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values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Fill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missing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values</a:t>
            </a:r>
            <a:r>
              <a:rPr lang="fr-FR" dirty="0"/>
              <a:t>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AEB9EB1-8BD2-487C-8D98-D1236F4D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237" y="4300405"/>
            <a:ext cx="8274434" cy="4501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E3F787D-379A-4561-BE04-C63FC6DE1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962" y="2107429"/>
            <a:ext cx="9747011" cy="45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8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3AFA3D-0C04-464C-96CE-69A69C18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Operations on groups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6EECA7-28E0-4CF3-9EA5-4DB543E1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9BB9D5-871A-42F1-87F2-10DAA00E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5C96A6-12B1-4119-A961-C5FB705E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49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A4A7CC4-A91A-4994-BAE5-FF82FAABA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180"/>
            <a:ext cx="10515600" cy="4351338"/>
          </a:xfrm>
        </p:spPr>
        <p:txBody>
          <a:bodyPr/>
          <a:lstStyle/>
          <a:p>
            <a:r>
              <a:rPr lang="fr-FR" dirty="0"/>
              <a:t>Use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Dataset.groupby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 </a:t>
            </a:r>
            <a:r>
              <a:rPr lang="fr-FR" dirty="0"/>
              <a:t>to </a:t>
            </a:r>
            <a:r>
              <a:rPr lang="fr-FR" dirty="0" err="1"/>
              <a:t>compute</a:t>
            </a:r>
            <a:r>
              <a:rPr lang="fr-FR" dirty="0"/>
              <a:t> on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separate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groups</a:t>
            </a:r>
            <a:r>
              <a:rPr lang="fr-FR" dirty="0"/>
              <a:t> of data (as in pandas)</a:t>
            </a:r>
          </a:p>
          <a:p>
            <a:pPr lvl="1"/>
            <a:r>
              <a:rPr lang="fr-FR" dirty="0"/>
              <a:t>Apply </a:t>
            </a:r>
            <a:r>
              <a:rPr lang="fr-FR" dirty="0" err="1"/>
              <a:t>operation</a:t>
            </a:r>
            <a:r>
              <a:rPr lang="fr-FR" dirty="0"/>
              <a:t> on </a:t>
            </a:r>
            <a:r>
              <a:rPr lang="fr-FR" dirty="0" err="1"/>
              <a:t>each</a:t>
            </a:r>
            <a:r>
              <a:rPr lang="fr-FR" dirty="0"/>
              <a:t> group</a:t>
            </a:r>
          </a:p>
          <a:p>
            <a:endParaRPr lang="fr-FR" dirty="0"/>
          </a:p>
          <a:p>
            <a:endParaRPr lang="fr-FR" dirty="0"/>
          </a:p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Temporal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groupby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Dataset.groupby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(‘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time.XXX</a:t>
            </a:r>
            <a:r>
              <a:rPr lang="fr-FR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’)</a:t>
            </a:r>
            <a:r>
              <a:rPr lang="fr-FR" dirty="0"/>
              <a:t>:</a:t>
            </a:r>
          </a:p>
          <a:p>
            <a:pPr lvl="1"/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85D3127-D4CB-4810-9C57-261A2A23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707" y="4619414"/>
            <a:ext cx="4662585" cy="52707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A2D4671-FE3C-4128-8C46-3B1566C20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116" y="2926322"/>
            <a:ext cx="5363768" cy="3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075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86C8F9-9237-4352-8FD7-463841B2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Bonus: </a:t>
            </a:r>
            <a:r>
              <a:rPr lang="fr-FR" dirty="0" err="1"/>
              <a:t>faster</a:t>
            </a:r>
            <a:r>
              <a:rPr lang="fr-FR" dirty="0"/>
              <a:t> </a:t>
            </a:r>
            <a:r>
              <a:rPr lang="fr-FR" dirty="0" err="1"/>
              <a:t>groupby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flox</a:t>
            </a:r>
            <a:endParaRPr lang="en-US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5287B5D-8CC2-4D20-93AB-0F6468A5A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704" y="1377278"/>
            <a:ext cx="9760592" cy="2507848"/>
          </a:xfrm>
          <a:prstGeom prst="rect">
            <a:avLst/>
          </a:prstGeo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11072D-1C07-43D9-A39C-B6AB5357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41BDBD-4834-4EB2-A1F2-22E7D99D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2BCAA2-0834-49D0-B0E1-477E894E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50</a:t>
            </a:fld>
            <a:endParaRPr lang="en-US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313DB47-E8CE-410F-A00E-699B2BD1D04E}"/>
              </a:ext>
            </a:extLst>
          </p:cNvPr>
          <p:cNvSpPr txBox="1">
            <a:spLocks/>
          </p:cNvSpPr>
          <p:nvPr/>
        </p:nvSpPr>
        <p:spPr>
          <a:xfrm>
            <a:off x="2154055" y="4571999"/>
            <a:ext cx="8739475" cy="1202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Better</a:t>
            </a:r>
            <a:r>
              <a:rPr lang="fr-FR" sz="2000" dirty="0"/>
              <a:t> and </a:t>
            </a:r>
            <a:r>
              <a:rPr lang="fr-FR" sz="2000" dirty="0" err="1"/>
              <a:t>faster</a:t>
            </a:r>
            <a:r>
              <a:rPr lang="fr-FR" sz="2000" dirty="0"/>
              <a:t> </a:t>
            </a:r>
            <a:r>
              <a:rPr lang="fr-FR" sz="2000" dirty="0" err="1"/>
              <a:t>algorithms</a:t>
            </a:r>
            <a:endParaRPr lang="fr-FR" sz="2000" dirty="0"/>
          </a:p>
          <a:p>
            <a:r>
              <a:rPr lang="fr-FR" sz="2000" dirty="0" err="1"/>
              <a:t>Optimized</a:t>
            </a:r>
            <a:r>
              <a:rPr lang="fr-FR" sz="2000" dirty="0"/>
              <a:t> for </a:t>
            </a:r>
            <a:r>
              <a:rPr lang="fr-FR" sz="2000" dirty="0" err="1"/>
              <a:t>parallel</a:t>
            </a:r>
            <a:r>
              <a:rPr lang="fr-FR" sz="2000" dirty="0"/>
              <a:t> </a:t>
            </a:r>
            <a:r>
              <a:rPr lang="fr-FR" sz="2000" dirty="0" err="1"/>
              <a:t>computing</a:t>
            </a:r>
            <a:endParaRPr lang="fr-FR" sz="2000" dirty="0"/>
          </a:p>
          <a:p>
            <a:r>
              <a:rPr lang="fr-FR" sz="2000" dirty="0"/>
              <a:t>Works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dask</a:t>
            </a:r>
            <a:r>
              <a:rPr lang="fr-FR" sz="2000" dirty="0"/>
              <a:t> (</a:t>
            </a:r>
            <a:r>
              <a:rPr lang="fr-FR" sz="2000" dirty="0" err="1"/>
              <a:t>see</a:t>
            </a:r>
            <a:r>
              <a:rPr lang="fr-FR" sz="2000" dirty="0"/>
              <a:t> end of the </a:t>
            </a:r>
            <a:r>
              <a:rPr lang="fr-FR" sz="2000" dirty="0" err="1"/>
              <a:t>day</a:t>
            </a:r>
            <a:r>
              <a:rPr lang="fr-FR" sz="2000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191909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2273DF-9889-4EBE-A8E5-23B9C2AB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r>
              <a:rPr lang="fr-FR" dirty="0"/>
              <a:t>: first analyses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E444D3-7A93-49E3-94F1-C8830FC2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46F850-E2FC-4DE4-A257-7D1CCCA9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F756C5-B8F5-481A-9004-AB145FE6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51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A1A01D0-A3D5-4F7B-BAB7-8AFD502389F0}"/>
              </a:ext>
            </a:extLst>
          </p:cNvPr>
          <p:cNvSpPr txBox="1">
            <a:spLocks/>
          </p:cNvSpPr>
          <p:nvPr/>
        </p:nvSpPr>
        <p:spPr>
          <a:xfrm>
            <a:off x="619849" y="1280447"/>
            <a:ext cx="4072467" cy="827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700" b="1" dirty="0"/>
              <a:t>Select data </a:t>
            </a:r>
            <a:r>
              <a:rPr lang="fr-FR" sz="1700" b="1" dirty="0" err="1"/>
              <a:t>with</a:t>
            </a:r>
            <a:r>
              <a:rPr lang="fr-FR" sz="1700" b="1" dirty="0"/>
              <a:t> </a:t>
            </a:r>
            <a:r>
              <a:rPr lang="fr-FR" sz="1700" b="1" dirty="0" err="1">
                <a:solidFill>
                  <a:schemeClr val="accent3">
                    <a:lumMod val="75000"/>
                  </a:schemeClr>
                </a:solidFill>
              </a:rPr>
              <a:t>coordinates</a:t>
            </a:r>
            <a:br>
              <a:rPr lang="fr-FR" sz="1700" b="1" dirty="0"/>
            </a:br>
            <a:r>
              <a:rPr lang="fr-FR" sz="1700" b="1" dirty="0"/>
              <a:t>Mask data </a:t>
            </a:r>
            <a:r>
              <a:rPr lang="fr-FR" sz="1700" b="1" dirty="0" err="1"/>
              <a:t>with</a:t>
            </a:r>
            <a:r>
              <a:rPr lang="fr-FR" sz="1700" b="1" dirty="0"/>
              <a:t> </a:t>
            </a:r>
            <a:r>
              <a:rPr lang="fr-FR" sz="1700" b="1" dirty="0">
                <a:solidFill>
                  <a:schemeClr val="accent3">
                    <a:lumMod val="75000"/>
                  </a:schemeClr>
                </a:solidFill>
              </a:rPr>
              <a:t>conditions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B61DBD9-85A2-4450-9048-24505F2D8E9D}"/>
              </a:ext>
            </a:extLst>
          </p:cNvPr>
          <p:cNvSpPr txBox="1">
            <a:spLocks/>
          </p:cNvSpPr>
          <p:nvPr/>
        </p:nvSpPr>
        <p:spPr>
          <a:xfrm>
            <a:off x="4442740" y="1338575"/>
            <a:ext cx="6931558" cy="1028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ds.sel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(longitude=12, latitude=slice(0,40), time="2012")</a:t>
            </a:r>
            <a:b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ds.where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ds.temperature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&gt; 18)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0E598EB-CFE4-4C70-883E-6A4287633082}"/>
              </a:ext>
            </a:extLst>
          </p:cNvPr>
          <p:cNvSpPr txBox="1">
            <a:spLocks/>
          </p:cNvSpPr>
          <p:nvPr/>
        </p:nvSpPr>
        <p:spPr>
          <a:xfrm>
            <a:off x="619849" y="3988840"/>
            <a:ext cx="4072467" cy="1907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700" b="1" dirty="0" err="1">
                <a:solidFill>
                  <a:schemeClr val="accent3">
                    <a:lumMod val="75000"/>
                  </a:schemeClr>
                </a:solidFill>
              </a:rPr>
              <a:t>Resampling</a:t>
            </a:r>
            <a:r>
              <a:rPr lang="fr-FR" sz="1700" b="1" dirty="0"/>
              <a:t> in time</a:t>
            </a:r>
            <a:br>
              <a:rPr lang="fr-FR" sz="1700" b="1" dirty="0"/>
            </a:br>
            <a:r>
              <a:rPr lang="fr-FR" sz="1700" b="1" dirty="0" err="1"/>
              <a:t>Other</a:t>
            </a:r>
            <a:r>
              <a:rPr lang="fr-FR" sz="1700" b="1" dirty="0"/>
              <a:t> </a:t>
            </a:r>
            <a:r>
              <a:rPr lang="fr-FR" sz="1700" b="1" dirty="0" err="1">
                <a:solidFill>
                  <a:schemeClr val="accent3">
                    <a:lumMod val="75000"/>
                  </a:schemeClr>
                </a:solidFill>
              </a:rPr>
              <a:t>resampling</a:t>
            </a:r>
            <a:br>
              <a:rPr lang="fr-FR" sz="1700" b="1" dirty="0"/>
            </a:br>
            <a:r>
              <a:rPr lang="fr-FR" sz="1700" b="1" dirty="0">
                <a:solidFill>
                  <a:schemeClr val="accent3">
                    <a:lumMod val="75000"/>
                  </a:schemeClr>
                </a:solidFill>
              </a:rPr>
              <a:t>Rolling </a:t>
            </a:r>
            <a:r>
              <a:rPr lang="fr-FR" sz="1700" b="1" dirty="0" err="1">
                <a:solidFill>
                  <a:schemeClr val="accent3">
                    <a:lumMod val="75000"/>
                  </a:schemeClr>
                </a:solidFill>
              </a:rPr>
              <a:t>windows</a:t>
            </a:r>
            <a:br>
              <a:rPr lang="fr-FR" sz="1700" b="1" dirty="0"/>
            </a:br>
            <a:r>
              <a:rPr lang="fr-FR" sz="1700" b="1" dirty="0" err="1">
                <a:solidFill>
                  <a:schemeClr val="accent3">
                    <a:lumMod val="75000"/>
                  </a:schemeClr>
                </a:solidFill>
              </a:rPr>
              <a:t>Interpolating</a:t>
            </a:r>
            <a:r>
              <a:rPr lang="fr-FR" sz="1700" b="1" dirty="0"/>
              <a:t> on new </a:t>
            </a:r>
            <a:r>
              <a:rPr lang="fr-FR" sz="1700" b="1" dirty="0" err="1"/>
              <a:t>coordinates</a:t>
            </a:r>
            <a:endParaRPr lang="fr-FR" sz="1700" b="1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D4A8B3C-00A1-430A-8CD6-723B891DDF2D}"/>
              </a:ext>
            </a:extLst>
          </p:cNvPr>
          <p:cNvSpPr txBox="1">
            <a:spLocks/>
          </p:cNvSpPr>
          <p:nvPr/>
        </p:nvSpPr>
        <p:spPr>
          <a:xfrm>
            <a:off x="4396460" y="3988840"/>
            <a:ext cx="7795540" cy="1907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ds.resample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(time="2H").min()</a:t>
            </a:r>
            <a:b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ds.coarsen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(longitude=10, latitude=5, </a:t>
            </a: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boundary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="trim").max()</a:t>
            </a:r>
            <a:b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ds.rolling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depth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=5, center=</a:t>
            </a: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True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b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8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ds.interp</a:t>
            </a:r>
            <a:r>
              <a:rPr lang="fr-FR" sz="1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(longitude = [10, 20, 30], latitude=18)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184AA6B8-CA3C-4005-8AE3-58DB075A6DBF}"/>
              </a:ext>
            </a:extLst>
          </p:cNvPr>
          <p:cNvSpPr txBox="1">
            <a:spLocks/>
          </p:cNvSpPr>
          <p:nvPr/>
        </p:nvSpPr>
        <p:spPr>
          <a:xfrm>
            <a:off x="619849" y="2575780"/>
            <a:ext cx="4072467" cy="1453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700" b="1" dirty="0" err="1"/>
              <a:t>Operation</a:t>
            </a:r>
            <a:r>
              <a:rPr lang="fr-FR" sz="1700" b="1" dirty="0"/>
              <a:t> </a:t>
            </a:r>
            <a:r>
              <a:rPr lang="fr-FR" sz="1700" b="1" dirty="0" err="1"/>
              <a:t>along</a:t>
            </a:r>
            <a:r>
              <a:rPr lang="fr-FR" sz="1700" b="1" dirty="0"/>
              <a:t> </a:t>
            </a:r>
            <a:r>
              <a:rPr lang="fr-FR" sz="1700" b="1" dirty="0">
                <a:solidFill>
                  <a:schemeClr val="accent3">
                    <a:lumMod val="75000"/>
                  </a:schemeClr>
                </a:solidFill>
              </a:rPr>
              <a:t>dimension</a:t>
            </a:r>
            <a:br>
              <a:rPr lang="fr-FR" sz="1700" b="1" dirty="0"/>
            </a:br>
            <a:r>
              <a:rPr lang="fr-FR" sz="1700" b="1" dirty="0" err="1">
                <a:solidFill>
                  <a:schemeClr val="accent3">
                    <a:lumMod val="75000"/>
                  </a:schemeClr>
                </a:solidFill>
              </a:rPr>
              <a:t>Weighted</a:t>
            </a:r>
            <a:r>
              <a:rPr lang="fr-FR" sz="17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FR" sz="1700" b="1" dirty="0" err="1"/>
              <a:t>operations</a:t>
            </a:r>
            <a:endParaRPr lang="fr-FR" sz="1700" b="1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7E954958-A8C4-470D-B3D3-7CDFBE47B15C}"/>
              </a:ext>
            </a:extLst>
          </p:cNvPr>
          <p:cNvSpPr txBox="1">
            <a:spLocks/>
          </p:cNvSpPr>
          <p:nvPr/>
        </p:nvSpPr>
        <p:spPr>
          <a:xfrm>
            <a:off x="4442740" y="2676736"/>
            <a:ext cx="7640498" cy="1312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ds.max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("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depth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")</a:t>
            </a:r>
            <a:b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ds.weighted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cell_size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  <a:r>
              <a:rPr lang="fr-FR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mean</a:t>
            </a:r>
            <a:r>
              <a:rPr lang="fr-FR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(["longitude", "latitude"])</a:t>
            </a:r>
          </a:p>
        </p:txBody>
      </p:sp>
    </p:spTree>
    <p:extLst>
      <p:ext uri="{BB962C8B-B14F-4D97-AF65-F5344CB8AC3E}">
        <p14:creationId xmlns:p14="http://schemas.microsoft.com/office/powerpoint/2010/main" val="6794500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2C21DE-65E5-43B6-8046-E0856329B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One-liners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C18063-CB71-4D24-BD25-051DF6245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76EB4B-3C11-4660-829F-A88F7D56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485AF7-1469-4D07-9657-8C5BBA59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52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791656D-7C0D-4DCC-80DC-726A643CF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348"/>
            <a:ext cx="10515600" cy="4901566"/>
          </a:xfrm>
        </p:spPr>
        <p:txBody>
          <a:bodyPr>
            <a:normAutofit/>
          </a:bodyPr>
          <a:lstStyle/>
          <a:p>
            <a:r>
              <a:rPr lang="fr-FR" dirty="0"/>
              <a:t>As in </a:t>
            </a:r>
            <a:r>
              <a:rPr lang="fr-FR" b="1" dirty="0"/>
              <a:t>pandas</a:t>
            </a:r>
            <a:r>
              <a:rPr lang="fr-FR" dirty="0"/>
              <a:t>, </a:t>
            </a:r>
            <a:r>
              <a:rPr lang="fr-FR" dirty="0" err="1"/>
              <a:t>methods</a:t>
            </a:r>
            <a:r>
              <a:rPr lang="fr-FR" dirty="0"/>
              <a:t>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return</a:t>
            </a:r>
            <a:r>
              <a:rPr lang="fr-FR" dirty="0"/>
              <a:t> an </a:t>
            </a:r>
            <a:r>
              <a:rPr lang="fr-FR" dirty="0" err="1"/>
              <a:t>xarray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 (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Dataset</a:t>
            </a:r>
            <a:r>
              <a:rPr lang="fr-FR" dirty="0"/>
              <a:t>, </a:t>
            </a:r>
            <a:r>
              <a:rPr lang="fr-FR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DataArray</a:t>
            </a:r>
            <a:r>
              <a:rPr lang="fr-FR" dirty="0"/>
              <a:t>)</a:t>
            </a:r>
          </a:p>
          <a:p>
            <a:r>
              <a:rPr lang="fr-FR" dirty="0"/>
              <a:t>Methods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chained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one line: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b="1" dirty="0">
                <a:solidFill>
                  <a:schemeClr val="accent3">
                    <a:lumMod val="75000"/>
                  </a:schemeClr>
                </a:solidFill>
              </a:rPr>
              <a:t>ATTENTION</a:t>
            </a:r>
            <a:r>
              <a:rPr lang="fr-FR" b="1" dirty="0"/>
              <a:t>: </a:t>
            </a:r>
            <a:r>
              <a:rPr lang="fr-FR" b="1" dirty="0" err="1"/>
              <a:t>it</a:t>
            </a:r>
            <a:r>
              <a:rPr lang="fr-FR" b="1" dirty="0"/>
              <a:t> can </a:t>
            </a:r>
            <a:r>
              <a:rPr lang="fr-FR" b="1" dirty="0" err="1"/>
              <a:t>be</a:t>
            </a:r>
            <a:r>
              <a:rPr lang="fr-FR" b="1" dirty="0"/>
              <a:t> </a:t>
            </a:r>
            <a:r>
              <a:rPr lang="fr-FR" b="1" dirty="0" err="1"/>
              <a:t>better</a:t>
            </a:r>
            <a:r>
              <a:rPr lang="fr-FR" b="1" dirty="0"/>
              <a:t> to split for </a:t>
            </a:r>
            <a:r>
              <a:rPr lang="fr-FR" b="1" dirty="0" err="1"/>
              <a:t>development</a:t>
            </a:r>
            <a:r>
              <a:rPr lang="fr-FR" b="1" dirty="0"/>
              <a:t>…</a:t>
            </a:r>
            <a:endParaRPr lang="fr-FR" dirty="0"/>
          </a:p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E2F0EB1-2AB2-4965-A955-FB1427F38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569" y="2824829"/>
            <a:ext cx="4836861" cy="152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582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75B41D-4B3C-453C-B5B9-C9F4A549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Easy</a:t>
            </a:r>
            <a:r>
              <a:rPr lang="fr-FR" dirty="0"/>
              <a:t> conversion to pandas </a:t>
            </a:r>
            <a:r>
              <a:rPr lang="fr-FR" dirty="0" err="1"/>
              <a:t>objects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3D799B-1A7F-42D4-877F-98E4F3E1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F1F2D4-D0BE-4903-A171-D43F2BF67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A9588A-5489-4C4A-B312-8B70DBBD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53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D566FAD-F6B8-44F0-8CAA-26D7143F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fr-FR" dirty="0" err="1"/>
              <a:t>xarray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directly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accent2">
                    <a:lumMod val="75000"/>
                  </a:schemeClr>
                </a:solidFill>
              </a:rPr>
              <a:t>converted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dirty="0"/>
              <a:t>to </a:t>
            </a:r>
            <a:r>
              <a:rPr lang="fr-FR" b="1" dirty="0"/>
              <a:t>pandas </a:t>
            </a:r>
            <a:r>
              <a:rPr lang="fr-FR" b="1" dirty="0" err="1"/>
              <a:t>object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5DB673D-5EBC-4704-BF39-4B63B7D02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755" y="3429000"/>
            <a:ext cx="3015028" cy="28786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98596E3-DEF4-4AF9-8AD0-A9021C13E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862" y="3896253"/>
            <a:ext cx="2499896" cy="28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493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EAA23-8FAF-464A-BD24-B0D824A4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III: </a:t>
            </a:r>
            <a:r>
              <a:rPr lang="fr-FR" dirty="0" err="1"/>
              <a:t>Practicals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ECCBA89-5EAB-46BE-B4C1-11FAEEB8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Go to the jupyter notebook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E46FC8-F97D-4FC3-B5C2-97E518CE0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BA270A-B6D4-4016-A15B-D199084B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9ACDE-3862-4B83-B484-7583F443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54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C8EBC2-9478-4733-90A1-8B6F9257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004" y="1560391"/>
            <a:ext cx="3679181" cy="42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646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AD71FCF-E0B8-41C5-9385-E74F0413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 IV: </a:t>
            </a:r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dask</a:t>
            </a:r>
            <a:endParaRPr lang="en-US" dirty="0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8E1E3114-CD12-46E8-822F-E9443D58F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Handling out of memory </a:t>
            </a:r>
            <a:r>
              <a:rPr lang="fr-FR" dirty="0" err="1"/>
              <a:t>datasets</a:t>
            </a:r>
            <a:r>
              <a:rPr lang="fr-FR" dirty="0"/>
              <a:t> &amp; </a:t>
            </a:r>
            <a:r>
              <a:rPr lang="fr-FR" dirty="0" err="1"/>
              <a:t>parallel</a:t>
            </a:r>
            <a:r>
              <a:rPr lang="fr-FR" dirty="0"/>
              <a:t> </a:t>
            </a:r>
            <a:r>
              <a:rPr lang="fr-FR" dirty="0" err="1"/>
              <a:t>computing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E22A4E-DF78-4BCD-8A71-7426C570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503AF-CEBF-4D80-82C0-EA3A584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C7CE6-EEAA-4B97-80E2-EB5644FC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826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D72B7EA-ED46-4A37-993D-B5A30769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Scaling</a:t>
            </a:r>
            <a:r>
              <a:rPr lang="fr-FR" dirty="0"/>
              <a:t> issues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45F749-BF29-4C66-8B2A-A63DD565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E5241D-B901-4833-8453-B88EB36F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A1E769-F9B7-4D4E-81DC-BC45D8EA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56</a:t>
            </a:fld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9BBA254-0E7E-4098-8178-ACAF2EADB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8880"/>
            <a:ext cx="10515600" cy="2887663"/>
          </a:xfrm>
        </p:spPr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handle</a:t>
            </a:r>
            <a:r>
              <a:rPr lang="fr-FR" dirty="0"/>
              <a:t> </a:t>
            </a:r>
            <a:r>
              <a:rPr lang="fr-FR" b="1" dirty="0">
                <a:solidFill>
                  <a:srgbClr val="0070C0"/>
                </a:solidFill>
              </a:rPr>
              <a:t>large </a:t>
            </a:r>
            <a:r>
              <a:rPr lang="fr-FR" b="1" dirty="0" err="1">
                <a:solidFill>
                  <a:srgbClr val="0070C0"/>
                </a:solidFill>
              </a:rPr>
              <a:t>amount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dirty="0"/>
              <a:t>of data (</a:t>
            </a:r>
            <a:r>
              <a:rPr lang="fr-FR" dirty="0" err="1"/>
              <a:t>Here</a:t>
            </a:r>
            <a:r>
              <a:rPr lang="fr-FR" dirty="0"/>
              <a:t> 63 GB)?</a:t>
            </a:r>
          </a:p>
          <a:p>
            <a:pPr lvl="1"/>
            <a:r>
              <a:rPr lang="fr-FR" dirty="0"/>
              <a:t>Need </a:t>
            </a:r>
            <a:r>
              <a:rPr lang="fr-FR" b="1" dirty="0"/>
              <a:t>large computers ?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  <a:p>
            <a:pPr lvl="1"/>
            <a:endParaRPr lang="fr-FR" dirty="0"/>
          </a:p>
          <a:p>
            <a:r>
              <a:rPr lang="fr-FR" dirty="0"/>
              <a:t>Limited by </a:t>
            </a:r>
            <a:r>
              <a:rPr lang="fr-FR" b="1" dirty="0">
                <a:solidFill>
                  <a:srgbClr val="0070C0"/>
                </a:solidFill>
              </a:rPr>
              <a:t>memory size </a:t>
            </a:r>
            <a:r>
              <a:rPr lang="fr-FR" dirty="0"/>
              <a:t>: </a:t>
            </a:r>
            <a:r>
              <a:rPr lang="fr-FR" dirty="0" err="1"/>
              <a:t>can’t</a:t>
            </a:r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</a:t>
            </a:r>
            <a:r>
              <a:rPr lang="fr-FR" b="1" dirty="0"/>
              <a:t>more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memory size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EB4B204-2C85-4949-B55E-D55F576F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92" y="1464695"/>
            <a:ext cx="9526329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766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9133B22D-E294-4FC8-BF51-E1099D152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2066647"/>
            <a:ext cx="10907647" cy="398200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487294E-6237-4EB3-9D4F-CF3D23B9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Introducing</a:t>
            </a:r>
            <a:r>
              <a:rPr lang="fr-FR" dirty="0"/>
              <a:t> </a:t>
            </a:r>
            <a:r>
              <a:rPr lang="fr-FR" dirty="0" err="1"/>
              <a:t>chunks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9660DA-BD69-4C1A-9C75-06C261BC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52CBAE-AE47-46AF-989D-C45DD5BA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2A2D7B-C81D-49D8-B70A-EE9AD918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57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BA151AA-2CDB-4C49-926A-8818089FD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615"/>
            <a:ext cx="10515600" cy="4351338"/>
          </a:xfrm>
        </p:spPr>
        <p:txBody>
          <a:bodyPr/>
          <a:lstStyle/>
          <a:p>
            <a:r>
              <a:rPr lang="fr-FR" dirty="0"/>
              <a:t>Split data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b="1" dirty="0">
                <a:solidFill>
                  <a:srgbClr val="0070C0"/>
                </a:solidFill>
              </a:rPr>
              <a:t>unit boxes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CE44C8-C28C-433A-8F94-0A48E769236C}"/>
              </a:ext>
            </a:extLst>
          </p:cNvPr>
          <p:cNvSpPr/>
          <p:nvPr/>
        </p:nvSpPr>
        <p:spPr>
          <a:xfrm>
            <a:off x="2366866" y="3461657"/>
            <a:ext cx="1445039" cy="13226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22C5C-FD40-4040-8F0A-EEEE32052485}"/>
              </a:ext>
            </a:extLst>
          </p:cNvPr>
          <p:cNvSpPr/>
          <p:nvPr/>
        </p:nvSpPr>
        <p:spPr>
          <a:xfrm>
            <a:off x="4007929" y="3461657"/>
            <a:ext cx="1703533" cy="13226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197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8C7AB8-6FAC-4BA1-A671-AA08A66C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Lazy</a:t>
            </a:r>
            <a:r>
              <a:rPr lang="fr-FR" dirty="0"/>
              <a:t> </a:t>
            </a:r>
            <a:r>
              <a:rPr lang="fr-FR" dirty="0" err="1"/>
              <a:t>computing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82D22D-1806-4E6C-974E-19660512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09197-2782-43B0-B27A-642D8C86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BC7336-417D-4C58-9D98-D565BB7B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58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E9DBC45B-D797-4984-9821-5892A6A4F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18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opening</a:t>
            </a:r>
            <a:r>
              <a:rPr lang="fr-FR" dirty="0"/>
              <a:t> a file,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b="1" dirty="0" err="1">
                <a:solidFill>
                  <a:srgbClr val="0070C0"/>
                </a:solidFill>
              </a:rPr>
              <a:t>metadata</a:t>
            </a:r>
            <a:r>
              <a:rPr lang="fr-FR" dirty="0"/>
              <a:t>, </a:t>
            </a:r>
            <a:r>
              <a:rPr lang="fr-FR" b="1" dirty="0" err="1">
                <a:solidFill>
                  <a:srgbClr val="0070C0"/>
                </a:solidFill>
              </a:rPr>
              <a:t>coordinates</a:t>
            </a:r>
            <a:r>
              <a:rPr lang="fr-FR" dirty="0"/>
              <a:t> and </a:t>
            </a:r>
            <a:r>
              <a:rPr lang="fr-FR" b="1" dirty="0">
                <a:solidFill>
                  <a:srgbClr val="0070C0"/>
                </a:solidFill>
              </a:rPr>
              <a:t>dimensions</a:t>
            </a:r>
            <a:r>
              <a:rPr lang="fr-FR" dirty="0"/>
              <a:t> are </a:t>
            </a:r>
            <a:r>
              <a:rPr lang="fr-FR" dirty="0" err="1"/>
              <a:t>loaded</a:t>
            </a:r>
            <a:endParaRPr lang="fr-FR" dirty="0"/>
          </a:p>
          <a:p>
            <a:pPr>
              <a:lnSpc>
                <a:spcPct val="200000"/>
              </a:lnSpc>
            </a:pP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stuff</a:t>
            </a:r>
            <a:r>
              <a:rPr lang="fr-FR" dirty="0"/>
              <a:t> ... </a:t>
            </a:r>
          </a:p>
          <a:p>
            <a:pPr>
              <a:lnSpc>
                <a:spcPct val="150000"/>
              </a:lnSpc>
            </a:pPr>
            <a:r>
              <a:rPr lang="fr-FR" dirty="0"/>
              <a:t>The data are </a:t>
            </a:r>
            <a:r>
              <a:rPr lang="fr-FR" dirty="0" err="1"/>
              <a:t>loaded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memory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b="1" dirty="0" err="1">
                <a:solidFill>
                  <a:srgbClr val="0070C0"/>
                </a:solidFill>
              </a:rPr>
              <a:t>really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b="1" dirty="0" err="1">
                <a:solidFill>
                  <a:srgbClr val="0070C0"/>
                </a:solidFill>
              </a:rPr>
              <a:t>needed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dirty="0"/>
              <a:t>(</a:t>
            </a:r>
            <a:r>
              <a:rPr lang="fr-FR" dirty="0" err="1"/>
              <a:t>plotting</a:t>
            </a:r>
            <a:r>
              <a:rPr lang="fr-FR" dirty="0"/>
              <a:t>, </a:t>
            </a:r>
            <a:r>
              <a:rPr lang="fr-FR" dirty="0" err="1"/>
              <a:t>saving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, printing values)</a:t>
            </a:r>
          </a:p>
        </p:txBody>
      </p:sp>
    </p:spTree>
    <p:extLst>
      <p:ext uri="{BB962C8B-B14F-4D97-AF65-F5344CB8AC3E}">
        <p14:creationId xmlns:p14="http://schemas.microsoft.com/office/powerpoint/2010/main" val="31106979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0A0CA7-C082-4E08-B3AB-D19C1BCC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Parallel</a:t>
            </a:r>
            <a:r>
              <a:rPr lang="fr-FR" dirty="0"/>
              <a:t> </a:t>
            </a:r>
            <a:r>
              <a:rPr lang="fr-FR" dirty="0" err="1"/>
              <a:t>computing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EAB420-E929-4164-B782-A64CA4A3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13CE48-A7C5-4139-8963-A397202A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DA7E7D-0D7A-4357-9853-DFF2E261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59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2342837D-1AB3-4C19-BF98-040169193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615" y="1130186"/>
            <a:ext cx="4114800" cy="4351338"/>
          </a:xfrm>
        </p:spPr>
        <p:txBody>
          <a:bodyPr/>
          <a:lstStyle/>
          <a:p>
            <a:r>
              <a:rPr lang="fr-FR" dirty="0"/>
              <a:t>Operations on </a:t>
            </a:r>
            <a:r>
              <a:rPr lang="fr-FR" b="1" dirty="0" err="1"/>
              <a:t>individual</a:t>
            </a:r>
            <a:r>
              <a:rPr lang="fr-FR" b="1" dirty="0"/>
              <a:t> </a:t>
            </a:r>
            <a:r>
              <a:rPr lang="fr-FR" b="1" dirty="0" err="1"/>
              <a:t>chunks</a:t>
            </a:r>
            <a:endParaRPr lang="fr-FR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61DC2-A760-446D-B689-4728C7699934}"/>
              </a:ext>
            </a:extLst>
          </p:cNvPr>
          <p:cNvSpPr/>
          <p:nvPr/>
        </p:nvSpPr>
        <p:spPr>
          <a:xfrm>
            <a:off x="895399" y="2140809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35A523-42D9-4791-8F67-D3A6D775C83A}"/>
              </a:ext>
            </a:extLst>
          </p:cNvPr>
          <p:cNvSpPr/>
          <p:nvPr/>
        </p:nvSpPr>
        <p:spPr>
          <a:xfrm>
            <a:off x="895400" y="2885959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6117A-3D42-483F-B8B9-7ADC5A3C5CF3}"/>
              </a:ext>
            </a:extLst>
          </p:cNvPr>
          <p:cNvSpPr/>
          <p:nvPr/>
        </p:nvSpPr>
        <p:spPr>
          <a:xfrm>
            <a:off x="895399" y="3633293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E51667-E376-48E3-B386-5D4CC101082B}"/>
              </a:ext>
            </a:extLst>
          </p:cNvPr>
          <p:cNvSpPr/>
          <p:nvPr/>
        </p:nvSpPr>
        <p:spPr>
          <a:xfrm>
            <a:off x="895398" y="4378443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5A95E9-F71B-41B5-8E88-E0CFB27D38FE}"/>
              </a:ext>
            </a:extLst>
          </p:cNvPr>
          <p:cNvSpPr/>
          <p:nvPr/>
        </p:nvSpPr>
        <p:spPr>
          <a:xfrm>
            <a:off x="1517583" y="2140809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3B69EF-47EA-4013-98CA-F7525420AA48}"/>
              </a:ext>
            </a:extLst>
          </p:cNvPr>
          <p:cNvSpPr/>
          <p:nvPr/>
        </p:nvSpPr>
        <p:spPr>
          <a:xfrm>
            <a:off x="1517584" y="2885959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612BD2-C5FC-4FE5-A533-D15E54073A4E}"/>
              </a:ext>
            </a:extLst>
          </p:cNvPr>
          <p:cNvSpPr/>
          <p:nvPr/>
        </p:nvSpPr>
        <p:spPr>
          <a:xfrm>
            <a:off x="1517583" y="3633293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45190F-3DD1-4C2B-81CF-A78318B8BD23}"/>
              </a:ext>
            </a:extLst>
          </p:cNvPr>
          <p:cNvSpPr/>
          <p:nvPr/>
        </p:nvSpPr>
        <p:spPr>
          <a:xfrm>
            <a:off x="1517582" y="4378443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2DF665-5758-49A2-82E9-C8FDD6AF1D50}"/>
              </a:ext>
            </a:extLst>
          </p:cNvPr>
          <p:cNvSpPr/>
          <p:nvPr/>
        </p:nvSpPr>
        <p:spPr>
          <a:xfrm>
            <a:off x="2139766" y="2140809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28C8E3-FC21-4415-89A1-9AEC53CA589C}"/>
              </a:ext>
            </a:extLst>
          </p:cNvPr>
          <p:cNvSpPr/>
          <p:nvPr/>
        </p:nvSpPr>
        <p:spPr>
          <a:xfrm>
            <a:off x="2139767" y="2885959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C3C322-E8C6-4A93-9BEE-AB804426EFC8}"/>
              </a:ext>
            </a:extLst>
          </p:cNvPr>
          <p:cNvSpPr/>
          <p:nvPr/>
        </p:nvSpPr>
        <p:spPr>
          <a:xfrm>
            <a:off x="2139766" y="3633293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29C040-DF79-4F37-B619-5CA5556ED5AF}"/>
              </a:ext>
            </a:extLst>
          </p:cNvPr>
          <p:cNvSpPr/>
          <p:nvPr/>
        </p:nvSpPr>
        <p:spPr>
          <a:xfrm>
            <a:off x="2139765" y="4378443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A032F8-E6EF-4E8E-8CED-DB1E23581A31}"/>
              </a:ext>
            </a:extLst>
          </p:cNvPr>
          <p:cNvSpPr/>
          <p:nvPr/>
        </p:nvSpPr>
        <p:spPr>
          <a:xfrm>
            <a:off x="2754257" y="2140809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6004E-1242-4147-AEC0-47C041CAD76C}"/>
              </a:ext>
            </a:extLst>
          </p:cNvPr>
          <p:cNvSpPr/>
          <p:nvPr/>
        </p:nvSpPr>
        <p:spPr>
          <a:xfrm>
            <a:off x="2754258" y="2885959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5056EA-4E79-4479-9900-1013331AA1AB}"/>
              </a:ext>
            </a:extLst>
          </p:cNvPr>
          <p:cNvSpPr/>
          <p:nvPr/>
        </p:nvSpPr>
        <p:spPr>
          <a:xfrm>
            <a:off x="2754257" y="3633293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7087DC-26EC-4DB9-936C-9E85536ADECB}"/>
              </a:ext>
            </a:extLst>
          </p:cNvPr>
          <p:cNvSpPr/>
          <p:nvPr/>
        </p:nvSpPr>
        <p:spPr>
          <a:xfrm>
            <a:off x="2754256" y="4378443"/>
            <a:ext cx="469783" cy="61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1935DA8D-0144-4242-A763-A83FC567FE74}"/>
              </a:ext>
            </a:extLst>
          </p:cNvPr>
          <p:cNvSpPr txBox="1">
            <a:spLocks/>
          </p:cNvSpPr>
          <p:nvPr/>
        </p:nvSpPr>
        <p:spPr>
          <a:xfrm>
            <a:off x="8764403" y="1107348"/>
            <a:ext cx="3092386" cy="3453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Computing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individually</a:t>
            </a:r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F6127C-3F10-45E6-A442-05FCA4827AE1}"/>
              </a:ext>
            </a:extLst>
          </p:cNvPr>
          <p:cNvSpPr/>
          <p:nvPr/>
        </p:nvSpPr>
        <p:spPr>
          <a:xfrm>
            <a:off x="9252359" y="2579760"/>
            <a:ext cx="2125212" cy="6123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70A9FA-30F6-46C6-B175-C11BFD39115A}"/>
              </a:ext>
            </a:extLst>
          </p:cNvPr>
          <p:cNvSpPr/>
          <p:nvPr/>
        </p:nvSpPr>
        <p:spPr>
          <a:xfrm>
            <a:off x="9252359" y="3459847"/>
            <a:ext cx="2125212" cy="6123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85E6DB-9386-48C7-B362-8AD98B5DCC15}"/>
              </a:ext>
            </a:extLst>
          </p:cNvPr>
          <p:cNvSpPr/>
          <p:nvPr/>
        </p:nvSpPr>
        <p:spPr>
          <a:xfrm>
            <a:off x="5063103" y="4182264"/>
            <a:ext cx="2125212" cy="9934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DASK</a:t>
            </a:r>
            <a:endParaRPr lang="fr-F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A456CD-4774-48BF-9513-09F622D5AA12}"/>
              </a:ext>
            </a:extLst>
          </p:cNvPr>
          <p:cNvSpPr/>
          <p:nvPr/>
        </p:nvSpPr>
        <p:spPr>
          <a:xfrm>
            <a:off x="5188614" y="2667169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B727AB-E95D-4B63-A749-F6DF5F4CBF3C}"/>
              </a:ext>
            </a:extLst>
          </p:cNvPr>
          <p:cNvSpPr/>
          <p:nvPr/>
        </p:nvSpPr>
        <p:spPr>
          <a:xfrm>
            <a:off x="5407139" y="2667169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A97F6F-4465-4034-8927-55E7117CB209}"/>
              </a:ext>
            </a:extLst>
          </p:cNvPr>
          <p:cNvSpPr/>
          <p:nvPr/>
        </p:nvSpPr>
        <p:spPr>
          <a:xfrm>
            <a:off x="5636558" y="2667169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99E3E1-FFCA-45DA-AFE1-024216E8DF1B}"/>
              </a:ext>
            </a:extLst>
          </p:cNvPr>
          <p:cNvSpPr/>
          <p:nvPr/>
        </p:nvSpPr>
        <p:spPr>
          <a:xfrm>
            <a:off x="5855083" y="2667169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0BC381-189C-4C30-866C-BC585B841453}"/>
              </a:ext>
            </a:extLst>
          </p:cNvPr>
          <p:cNvSpPr/>
          <p:nvPr/>
        </p:nvSpPr>
        <p:spPr>
          <a:xfrm>
            <a:off x="6104007" y="2667169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22CC5C-C516-43C6-85B6-9A4728C3929B}"/>
              </a:ext>
            </a:extLst>
          </p:cNvPr>
          <p:cNvSpPr/>
          <p:nvPr/>
        </p:nvSpPr>
        <p:spPr>
          <a:xfrm>
            <a:off x="6322532" y="2667169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45FA15-C03E-4DB4-9999-6663FC8393EF}"/>
              </a:ext>
            </a:extLst>
          </p:cNvPr>
          <p:cNvSpPr/>
          <p:nvPr/>
        </p:nvSpPr>
        <p:spPr>
          <a:xfrm>
            <a:off x="6551951" y="2667169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909A01-DFF6-4D24-A51A-FD58CCEB3E73}"/>
              </a:ext>
            </a:extLst>
          </p:cNvPr>
          <p:cNvSpPr/>
          <p:nvPr/>
        </p:nvSpPr>
        <p:spPr>
          <a:xfrm>
            <a:off x="6770476" y="2667169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D2EFCB-22AB-4ED7-8BBE-4DCE19A12359}"/>
              </a:ext>
            </a:extLst>
          </p:cNvPr>
          <p:cNvSpPr/>
          <p:nvPr/>
        </p:nvSpPr>
        <p:spPr>
          <a:xfrm>
            <a:off x="5199926" y="3301784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471914-16BE-445D-B4FF-F967C7485A92}"/>
              </a:ext>
            </a:extLst>
          </p:cNvPr>
          <p:cNvSpPr/>
          <p:nvPr/>
        </p:nvSpPr>
        <p:spPr>
          <a:xfrm>
            <a:off x="5418451" y="3301784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838BDB9-2CAA-4BB4-8CA4-06E424065783}"/>
              </a:ext>
            </a:extLst>
          </p:cNvPr>
          <p:cNvSpPr/>
          <p:nvPr/>
        </p:nvSpPr>
        <p:spPr>
          <a:xfrm>
            <a:off x="5647870" y="3301784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849BFD-576D-485E-A320-BD002840DF4F}"/>
              </a:ext>
            </a:extLst>
          </p:cNvPr>
          <p:cNvSpPr/>
          <p:nvPr/>
        </p:nvSpPr>
        <p:spPr>
          <a:xfrm>
            <a:off x="5866395" y="3301784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FF8C36-EAED-4557-8EF2-DAF05F7F3BB5}"/>
              </a:ext>
            </a:extLst>
          </p:cNvPr>
          <p:cNvSpPr/>
          <p:nvPr/>
        </p:nvSpPr>
        <p:spPr>
          <a:xfrm>
            <a:off x="6115319" y="3301784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1562226-1099-4574-BDF9-FBBB727E64EA}"/>
              </a:ext>
            </a:extLst>
          </p:cNvPr>
          <p:cNvSpPr/>
          <p:nvPr/>
        </p:nvSpPr>
        <p:spPr>
          <a:xfrm>
            <a:off x="6333844" y="3301784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FA77A2F-E08C-4674-ACCC-11C48BDDC23F}"/>
              </a:ext>
            </a:extLst>
          </p:cNvPr>
          <p:cNvSpPr/>
          <p:nvPr/>
        </p:nvSpPr>
        <p:spPr>
          <a:xfrm>
            <a:off x="6563263" y="3301784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C97119-C67A-4CCA-BF84-752531AE2565}"/>
              </a:ext>
            </a:extLst>
          </p:cNvPr>
          <p:cNvSpPr/>
          <p:nvPr/>
        </p:nvSpPr>
        <p:spPr>
          <a:xfrm>
            <a:off x="6781788" y="3301784"/>
            <a:ext cx="170916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Accolade fermante 43">
            <a:extLst>
              <a:ext uri="{FF2B5EF4-FFF2-40B4-BE49-F238E27FC236}">
                <a16:creationId xmlns:a16="http://schemas.microsoft.com/office/drawing/2014/main" id="{A55528F5-91A4-4E04-AF2B-BFC4DDF41CE8}"/>
              </a:ext>
            </a:extLst>
          </p:cNvPr>
          <p:cNvSpPr/>
          <p:nvPr/>
        </p:nvSpPr>
        <p:spPr>
          <a:xfrm>
            <a:off x="3224039" y="2140809"/>
            <a:ext cx="233253" cy="1357548"/>
          </a:xfrm>
          <a:prstGeom prst="rightBrac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Accolade fermante 44">
            <a:extLst>
              <a:ext uri="{FF2B5EF4-FFF2-40B4-BE49-F238E27FC236}">
                <a16:creationId xmlns:a16="http://schemas.microsoft.com/office/drawing/2014/main" id="{122D1BCF-BEB6-4F1C-A2E5-CE6132940BBA}"/>
              </a:ext>
            </a:extLst>
          </p:cNvPr>
          <p:cNvSpPr/>
          <p:nvPr/>
        </p:nvSpPr>
        <p:spPr>
          <a:xfrm>
            <a:off x="3230561" y="3633293"/>
            <a:ext cx="233253" cy="1357547"/>
          </a:xfrm>
          <a:prstGeom prst="rightBrac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1B2CBB6D-0368-47AE-9A29-9EC9C52A2715}"/>
              </a:ext>
            </a:extLst>
          </p:cNvPr>
          <p:cNvCxnSpPr>
            <a:cxnSpLocks/>
          </p:cNvCxnSpPr>
          <p:nvPr/>
        </p:nvCxnSpPr>
        <p:spPr>
          <a:xfrm>
            <a:off x="3594047" y="2819583"/>
            <a:ext cx="1453003" cy="663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3EB9D25E-278C-4F92-B736-D3EF0B88A0B7}"/>
              </a:ext>
            </a:extLst>
          </p:cNvPr>
          <p:cNvCxnSpPr>
            <a:cxnSpLocks/>
          </p:cNvCxnSpPr>
          <p:nvPr/>
        </p:nvCxnSpPr>
        <p:spPr>
          <a:xfrm flipV="1">
            <a:off x="3607259" y="3544763"/>
            <a:ext cx="1480457" cy="7886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74A2FA25-8338-4029-B73D-C435B5BB0EB8}"/>
              </a:ext>
            </a:extLst>
          </p:cNvPr>
          <p:cNvCxnSpPr>
            <a:cxnSpLocks/>
          </p:cNvCxnSpPr>
          <p:nvPr/>
        </p:nvCxnSpPr>
        <p:spPr>
          <a:xfrm>
            <a:off x="7143182" y="2849610"/>
            <a:ext cx="1993198" cy="3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F082440D-F3E4-4E7C-AA8A-BB95AD1F61B9}"/>
              </a:ext>
            </a:extLst>
          </p:cNvPr>
          <p:cNvCxnSpPr>
            <a:cxnSpLocks/>
          </p:cNvCxnSpPr>
          <p:nvPr/>
        </p:nvCxnSpPr>
        <p:spPr>
          <a:xfrm>
            <a:off x="7182541" y="3480274"/>
            <a:ext cx="1953839" cy="190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Espace réservé du contenu 2">
            <a:extLst>
              <a:ext uri="{FF2B5EF4-FFF2-40B4-BE49-F238E27FC236}">
                <a16:creationId xmlns:a16="http://schemas.microsoft.com/office/drawing/2014/main" id="{1073C0DF-1E4F-4163-91AF-A4B91F570D2B}"/>
              </a:ext>
            </a:extLst>
          </p:cNvPr>
          <p:cNvSpPr txBox="1">
            <a:spLocks/>
          </p:cNvSpPr>
          <p:nvPr/>
        </p:nvSpPr>
        <p:spPr>
          <a:xfrm>
            <a:off x="4495800" y="1130186"/>
            <a:ext cx="4114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Sort </a:t>
            </a:r>
            <a:r>
              <a:rPr lang="fr-FR" dirty="0" err="1"/>
              <a:t>operations</a:t>
            </a:r>
            <a:r>
              <a:rPr lang="fr-FR" dirty="0"/>
              <a:t> 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92652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0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5F8FE6-7F42-45F9-8253-C2E77EBF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Quick setup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905B2B-E021-4BF5-BDC5-257FAB8D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CADEF4-4798-4D29-A4B9-E97603FB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45FD66-F4DA-4985-8DE7-26DD6975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60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D756390-4B63-4DD9-9A9B-83D8139B8A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53" b="28620"/>
          <a:stretch/>
        </p:blipFill>
        <p:spPr>
          <a:xfrm>
            <a:off x="838200" y="1622605"/>
            <a:ext cx="4324954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012BCF-E741-4AD7-8659-ED648324B4D4}"/>
              </a:ext>
            </a:extLst>
          </p:cNvPr>
          <p:cNvSpPr/>
          <p:nvPr/>
        </p:nvSpPr>
        <p:spPr>
          <a:xfrm>
            <a:off x="838200" y="1180310"/>
            <a:ext cx="3454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Providing</a:t>
            </a:r>
            <a:r>
              <a:rPr lang="fr-FR" dirty="0"/>
              <a:t> </a:t>
            </a:r>
            <a:r>
              <a:rPr lang="fr-FR" b="1" dirty="0" err="1">
                <a:solidFill>
                  <a:srgbClr val="0070C0"/>
                </a:solidFill>
              </a:rPr>
              <a:t>resource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dirty="0"/>
              <a:t>information:</a:t>
            </a:r>
            <a:endParaRPr lang="en-US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2F9BDF9-DFB7-4F21-8CE4-F2AA5CC17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31029"/>
            <a:ext cx="8449854" cy="7811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1ECB376-F944-49C5-B174-F3A5366D0F0F}"/>
              </a:ext>
            </a:extLst>
          </p:cNvPr>
          <p:cNvSpPr/>
          <p:nvPr/>
        </p:nvSpPr>
        <p:spPr>
          <a:xfrm>
            <a:off x="838200" y="2924121"/>
            <a:ext cx="2646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Specify</a:t>
            </a:r>
            <a:r>
              <a:rPr lang="fr-FR" dirty="0"/>
              <a:t> explicit </a:t>
            </a:r>
            <a:r>
              <a:rPr lang="fr-FR" b="1" dirty="0" err="1">
                <a:solidFill>
                  <a:srgbClr val="0070C0"/>
                </a:solidFill>
              </a:rPr>
              <a:t>chunks</a:t>
            </a:r>
            <a:r>
              <a:rPr lang="fr-FR" dirty="0"/>
              <a:t>:</a:t>
            </a:r>
            <a:endParaRPr lang="en-US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E4E2D5B-CDDA-4508-B98F-BE893B9CE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81167"/>
            <a:ext cx="5401429" cy="4667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EB2EBA6-3E21-49F5-BBDB-768B04B16CB0}"/>
              </a:ext>
            </a:extLst>
          </p:cNvPr>
          <p:cNvSpPr/>
          <p:nvPr/>
        </p:nvSpPr>
        <p:spPr>
          <a:xfrm>
            <a:off x="838200" y="4411835"/>
            <a:ext cx="41729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Open </a:t>
            </a:r>
            <a:r>
              <a:rPr lang="fr-FR" b="1" dirty="0">
                <a:solidFill>
                  <a:srgbClr val="0070C0"/>
                </a:solidFill>
              </a:rPr>
              <a:t>multiple files</a:t>
            </a:r>
            <a:r>
              <a:rPr lang="fr-FR" dirty="0"/>
              <a:t>: one </a:t>
            </a:r>
            <a:r>
              <a:rPr lang="fr-FR" dirty="0" err="1"/>
              <a:t>chunk</a:t>
            </a:r>
            <a:r>
              <a:rPr lang="fr-FR" dirty="0"/>
              <a:t> per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006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64737-88F9-4C04-97D0-F742EC0D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r>
              <a:rPr lang="fr-FR" dirty="0"/>
              <a:t>: </a:t>
            </a:r>
            <a:r>
              <a:rPr lang="fr-FR" dirty="0" err="1"/>
              <a:t>why</a:t>
            </a:r>
            <a:r>
              <a:rPr lang="fr-FR" dirty="0"/>
              <a:t> use </a:t>
            </a:r>
            <a:r>
              <a:rPr lang="fr-FR" dirty="0" err="1"/>
              <a:t>dask</a:t>
            </a:r>
            <a:r>
              <a:rPr lang="fr-FR" dirty="0"/>
              <a:t>?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E03EE9-B279-4C1B-AE63-349FCEDE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C5D366-3EA6-476A-93B8-2EED5E01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95105F-6D33-4B47-8045-CA945416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61</a:t>
            </a:fld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92BCA6F-206E-4F42-9813-C6D620C9A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b="1" dirty="0" err="1">
                <a:solidFill>
                  <a:srgbClr val="0070C0"/>
                </a:solidFill>
              </a:rPr>
              <a:t>Transparently</a:t>
            </a:r>
            <a:r>
              <a:rPr lang="fr-FR" dirty="0"/>
              <a:t> </a:t>
            </a:r>
            <a:r>
              <a:rPr lang="fr-FR" dirty="0" err="1"/>
              <a:t>integrated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xarray</a:t>
            </a:r>
            <a:endParaRPr lang="fr-FR" dirty="0"/>
          </a:p>
          <a:p>
            <a:pPr>
              <a:lnSpc>
                <a:spcPct val="200000"/>
              </a:lnSpc>
            </a:pPr>
            <a:r>
              <a:rPr lang="fr-FR" dirty="0" err="1"/>
              <a:t>Prevents</a:t>
            </a:r>
            <a:r>
              <a:rPr lang="fr-FR" dirty="0"/>
              <a:t> </a:t>
            </a:r>
            <a:r>
              <a:rPr lang="fr-FR" b="1" dirty="0">
                <a:solidFill>
                  <a:srgbClr val="0070C0"/>
                </a:solidFill>
              </a:rPr>
              <a:t>memory</a:t>
            </a:r>
            <a:r>
              <a:rPr lang="fr-FR" dirty="0"/>
              <a:t> issues</a:t>
            </a:r>
          </a:p>
          <a:p>
            <a:pPr>
              <a:lnSpc>
                <a:spcPct val="200000"/>
              </a:lnSpc>
            </a:pPr>
            <a:r>
              <a:rPr lang="fr-FR" dirty="0"/>
              <a:t>Speeds up </a:t>
            </a:r>
            <a:r>
              <a:rPr lang="fr-FR" dirty="0" err="1"/>
              <a:t>operations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solidFill>
                  <a:srgbClr val="0070C0"/>
                </a:solidFill>
              </a:rPr>
              <a:t>parallel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b="1" dirty="0" err="1">
                <a:solidFill>
                  <a:srgbClr val="0070C0"/>
                </a:solidFill>
              </a:rPr>
              <a:t>computing</a:t>
            </a:r>
            <a:endParaRPr lang="fr-FR" b="1" dirty="0">
              <a:solidFill>
                <a:srgbClr val="0070C0"/>
              </a:solidFill>
            </a:endParaRPr>
          </a:p>
          <a:p>
            <a:pPr>
              <a:lnSpc>
                <a:spcPct val="200000"/>
              </a:lnSpc>
            </a:pPr>
            <a:r>
              <a:rPr lang="fr-FR" b="1" dirty="0" err="1">
                <a:solidFill>
                  <a:srgbClr val="FF0000"/>
                </a:solidFill>
              </a:rPr>
              <a:t>Optimized</a:t>
            </a:r>
            <a:r>
              <a:rPr lang="fr-FR" b="1" dirty="0">
                <a:solidFill>
                  <a:srgbClr val="FF0000"/>
                </a:solidFill>
              </a:rPr>
              <a:t> for HPC and cloud</a:t>
            </a:r>
          </a:p>
        </p:txBody>
      </p:sp>
    </p:spTree>
    <p:extLst>
      <p:ext uri="{BB962C8B-B14F-4D97-AF65-F5344CB8AC3E}">
        <p14:creationId xmlns:p14="http://schemas.microsoft.com/office/powerpoint/2010/main" val="18677684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C58189-B23C-44AD-B1D8-2BDE01A0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Live </a:t>
            </a:r>
            <a:r>
              <a:rPr lang="fr-FR" dirty="0" err="1"/>
              <a:t>example</a:t>
            </a:r>
            <a:r>
              <a:rPr lang="fr-FR" dirty="0"/>
              <a:t> …</a:t>
            </a: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2D898AF-DC14-4701-AD96-92AD8E79D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7BAEA0-BBE9-4BC2-B80E-40F90CB49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Atelier Numérique de l'OMP 2024            2 Octobre 2024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CAD8BF-606E-48BB-8335-AD707E28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for data analysis in geosciences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524EF7-5A58-478F-9E2A-F8C632A4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978D-9615-424F-9A3D-E3659B09CE5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614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2706</Words>
  <Application>Microsoft Macintosh PowerPoint</Application>
  <PresentationFormat>Widescreen</PresentationFormat>
  <Paragraphs>552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Cascadia Code SemiBold</vt:lpstr>
      <vt:lpstr>Thème Office</vt:lpstr>
      <vt:lpstr>Introduction to xarray</vt:lpstr>
      <vt:lpstr>Programme: four blocks</vt:lpstr>
      <vt:lpstr>Part I: xarray objects</vt:lpstr>
      <vt:lpstr>Comparison with pandas</vt:lpstr>
      <vt:lpstr>xr.DataArray: presentation</vt:lpstr>
      <vt:lpstr>xr.DataArray: presentation</vt:lpstr>
      <vt:lpstr>xr.DataArray: creating an object</vt:lpstr>
      <vt:lpstr>xr.DataArray: adding attributes</vt:lpstr>
      <vt:lpstr>xr.DataArray: accessing the data</vt:lpstr>
      <vt:lpstr>xr.DataArray: accessing the data</vt:lpstr>
      <vt:lpstr>xr.Dataset: presentation</vt:lpstr>
      <vt:lpstr>xr.Dataset: creating an object</vt:lpstr>
      <vt:lpstr>xr.Dataset: access the data</vt:lpstr>
      <vt:lpstr>xr.Dataset: append data</vt:lpstr>
      <vt:lpstr>Operations on coordinates</vt:lpstr>
      <vt:lpstr>Combine dataarrays or datasets</vt:lpstr>
      <vt:lpstr>Combine dataarrays or datasets</vt:lpstr>
      <vt:lpstr>Reading/writing files: supported formats</vt:lpstr>
      <vt:lpstr>Reading/writing files: reading a file</vt:lpstr>
      <vt:lpstr>Reading/writing files: writing a file</vt:lpstr>
      <vt:lpstr>Part I: Summary of xarray objects</vt:lpstr>
      <vt:lpstr>Part I: Practicals</vt:lpstr>
      <vt:lpstr>Part II: plotting capacities</vt:lpstr>
      <vt:lpstr>Plotting DataArrays</vt:lpstr>
      <vt:lpstr>Plotting DataArrays: default behaviour</vt:lpstr>
      <vt:lpstr>Plotting DataArrays: possible 2D plots</vt:lpstr>
      <vt:lpstr>Plotting DataArrays: reduce plot dimension</vt:lpstr>
      <vt:lpstr>Plotting DataArrays: reduce plot dimension</vt:lpstr>
      <vt:lpstr>Plotting datasets</vt:lpstr>
      <vt:lpstr>Bonus: integration with cartopy</vt:lpstr>
      <vt:lpstr>Part II: Practicals</vt:lpstr>
      <vt:lpstr>Part III: First analyses</vt:lpstr>
      <vt:lpstr>Part III: First analyses</vt:lpstr>
      <vt:lpstr>Selecting data</vt:lpstr>
      <vt:lpstr>Selecting data</vt:lpstr>
      <vt:lpstr>Selecting data</vt:lpstr>
      <vt:lpstr>Part III: First analyses</vt:lpstr>
      <vt:lpstr>Numpy-like operations</vt:lpstr>
      <vt:lpstr>Some advanced methods</vt:lpstr>
      <vt:lpstr>Weighted operations</vt:lpstr>
      <vt:lpstr>Fitting a DataArray or a dataset</vt:lpstr>
      <vt:lpstr>Big warning: no loops !</vt:lpstr>
      <vt:lpstr>BONUS: Applying custom function to some dimension</vt:lpstr>
      <vt:lpstr>Part III: First analyses</vt:lpstr>
      <vt:lpstr>Resampling and rolling windows: in time</vt:lpstr>
      <vt:lpstr>Resampling and rolling windows: in other dimensions</vt:lpstr>
      <vt:lpstr>Bonus: regridding with xesmf</vt:lpstr>
      <vt:lpstr>Interpolation</vt:lpstr>
      <vt:lpstr>Operations on groups</vt:lpstr>
      <vt:lpstr>Bonus: faster groupby with flox</vt:lpstr>
      <vt:lpstr>Summary: first analyses</vt:lpstr>
      <vt:lpstr>One-liners</vt:lpstr>
      <vt:lpstr>Easy conversion to pandas objects</vt:lpstr>
      <vt:lpstr>Part III: Practicals</vt:lpstr>
      <vt:lpstr>Part IV: Scaling with dask</vt:lpstr>
      <vt:lpstr>Scaling issues</vt:lpstr>
      <vt:lpstr>Introducing chunks</vt:lpstr>
      <vt:lpstr>Lazy computing</vt:lpstr>
      <vt:lpstr>Parallel computing</vt:lpstr>
      <vt:lpstr>Quick setup</vt:lpstr>
      <vt:lpstr>Summary: why use dask?</vt:lpstr>
      <vt:lpstr>Live example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Robin Guillaume-Castel</dc:creator>
  <cp:lastModifiedBy>Robin Guillaume-Castel</cp:lastModifiedBy>
  <cp:revision>304</cp:revision>
  <dcterms:created xsi:type="dcterms:W3CDTF">2024-04-20T09:36:02Z</dcterms:created>
  <dcterms:modified xsi:type="dcterms:W3CDTF">2025-11-20T08:35:58Z</dcterms:modified>
</cp:coreProperties>
</file>